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1d4b1c83d04200" /><Relationship Type="http://schemas.openxmlformats.org/officeDocument/2006/relationships/extended-properties" Target="/docProps/app.xml" Id="Rd3d86a6b3acd4c69" /><Relationship Type="http://schemas.openxmlformats.org/officeDocument/2006/relationships/officeDocument" Target="/ppt/presentation.xml" Id="R35572a1cf9184a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8c9098f71e401c"/>
  </p:sldMasterIdLst>
  <p:notesMasterIdLst>
    <p:notesMasterId xmlns:r="http://schemas.openxmlformats.org/officeDocument/2006/relationships" r:id="Rfd45316da9ba48ed"/>
  </p:notesMasterIdLst>
  <p:sldIdLst>
    <p:sldId xmlns:r="http://schemas.openxmlformats.org/officeDocument/2006/relationships" id="256" r:id="R94076c8c177c4e26"/>
    <p:sldId xmlns:r="http://schemas.openxmlformats.org/officeDocument/2006/relationships" id="257" r:id="R1923841adf454f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a98d87d8f8490f" /><Relationship Type="http://schemas.openxmlformats.org/officeDocument/2006/relationships/slideMaster" Target="/ppt/slideMasters/slideMaster1.xml" Id="R608c9098f71e401c" /><Relationship Type="http://schemas.openxmlformats.org/officeDocument/2006/relationships/notesMaster" Target="/ppt/notesMasters/notesMaster1.xml" Id="Rfd45316da9ba48ed" /><Relationship Type="http://schemas.openxmlformats.org/officeDocument/2006/relationships/presProps" Target="/ppt/presProps.xml" Id="Rc193a9a9f64c4c11" /><Relationship Type="http://schemas.openxmlformats.org/officeDocument/2006/relationships/tableStyles" Target="/ppt/tableStyles.xml" Id="Rce47b056ff2a4eba" /><Relationship Type="http://schemas.openxmlformats.org/officeDocument/2006/relationships/slide" Target="/ppt/slides/slide1.xml" Id="R94076c8c177c4e26" /><Relationship Type="http://schemas.openxmlformats.org/officeDocument/2006/relationships/slide" Target="/ppt/slides/slide2.xml" Id="R1923841adf454f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e2e8ecdb1d44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48d49162334727" /><Relationship Type="http://schemas.openxmlformats.org/officeDocument/2006/relationships/notesMaster" Target="/ppt/notesMasters/notesMaster1.xml" Id="Rf86a483e4bf646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0aa1048ca84386" /><Relationship Type="http://schemas.openxmlformats.org/officeDocument/2006/relationships/notesMaster" Target="/ppt/notesMasters/notesMaster1.xml" Id="R7c54a81a80de4b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依据用户提供的图 1 重建。教学示例，非实测数据。客户端 token 到达边界，N=5，一块一个 token。TTFT=500 ms，ITL=50/100/50/100 ms，TPOT=75 ms/token，E2E=820 ms。模型 Decode 可与首包传输重叠，流程按客户端观测简化展开。来源：https://docs.vllm.ai/en/latest/benchmarking/cli/#understanding-the-latency-metrics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依据用户提供的图 2 重建。教学示例，非实测数据。W=[0,10) 秒，4 个请求，14 个输出 token。QPS=0.4 请求/秒，输出 TPS=1.4 token/秒。t=3.5 秒时在途并发为 3，Decode 请求数为 2。来源：https://developer.nvidia.com/blog/llm-benchmarking-fundamental-concepts/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27b4691cab4c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2fbacef7504c11" /><Relationship Type="http://schemas.openxmlformats.org/officeDocument/2006/relationships/slideLayout" Target="/ppt/slideLayouts/slideLayout1.xml" Id="Ra412418d41f949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12418d41f949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eb9c94c724b6f" /><Relationship Type="http://schemas.openxmlformats.org/officeDocument/2006/relationships/notesSlide" Target="/ppt/notesSlides/notesSlide1.xml" Id="Rfcbfd48176ad41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c81c0e2944016" /><Relationship Type="http://schemas.openxmlformats.org/officeDocument/2006/relationships/notesSlide" Target="/ppt/notesSlides/notesSlide2.xml" Id="R70f0664a151446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s1-text-1">
            <a:extLst xmlns:a="http://schemas.openxmlformats.org/drawingml/2006/main">
              <a:ext uri="{FF2B5EF4-FFF2-40B4-BE49-F238E27FC236}">
                <a16:creationId xmlns:a16="http://schemas.microsoft.com/office/drawing/2014/main" id="{DD93C690-ACC3-41B2-A350-8CAB5614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5095875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rPr>
              <a:t>一条请求：先等首 token，再看后续输出节奏</a:t>
            </a:r>
          </a:p>
        </p:txBody>
      </p:sp>
      <p:sp>
        <p:nvSpPr>
          <p:cNvPr id="2" name="s1-text-2">
            <a:extLst xmlns:a="http://schemas.openxmlformats.org/drawingml/2006/main">
              <a:ext uri="{FF2B5EF4-FFF2-40B4-BE49-F238E27FC236}">
                <a16:creationId xmlns:a16="http://schemas.microsoft.com/office/drawing/2014/main" id="{D3032DCE-B4FB-4207-9710-896F5913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7033"/>
            <a:ext cx="555498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示例：客户端时间戳，单位 ms；N = 5。每次流式输出恰好含 1 个 token。</a:t>
            </a:r>
          </a:p>
        </p:txBody>
      </p:sp>
      <p:sp>
        <p:nvSpPr>
          <p:cNvPr id="3" name="s1-text-3">
            <a:extLst xmlns:a="http://schemas.openxmlformats.org/drawingml/2006/main">
              <a:ext uri="{FF2B5EF4-FFF2-40B4-BE49-F238E27FC236}">
                <a16:creationId xmlns:a16="http://schemas.microsoft.com/office/drawing/2014/main" id="{645820C8-36A8-4868-9F32-13C89532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96821"/>
            <a:ext cx="857250" cy="275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4" name="s1-rect-4">
            <a:extLst xmlns:a="http://schemas.openxmlformats.org/drawingml/2006/main">
              <a:ext uri="{FF2B5EF4-FFF2-40B4-BE49-F238E27FC236}">
                <a16:creationId xmlns:a16="http://schemas.microsoft.com/office/drawing/2014/main" id="{59F8AB88-E999-451E-8A56-58AEFBDA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0225"/>
            <a:ext cx="952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5" name="s1-text-5">
            <a:extLst xmlns:a="http://schemas.openxmlformats.org/drawingml/2006/main">
              <a:ext uri="{FF2B5EF4-FFF2-40B4-BE49-F238E27FC236}">
                <a16:creationId xmlns:a16="http://schemas.microsoft.com/office/drawing/2014/main" id="{DC5FA16C-F7D1-4D0D-B343-CD3F0C20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035" y="1922907"/>
            <a:ext cx="96393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rPr>
              <a:t>接入 / 排队</a:t>
            </a:r>
          </a:p>
        </p:txBody>
      </p:sp>
      <p:sp>
        <p:nvSpPr>
          <p:cNvPr id="6" name="s1-text-6">
            <a:extLst xmlns:a="http://schemas.openxmlformats.org/drawingml/2006/main">
              <a:ext uri="{FF2B5EF4-FFF2-40B4-BE49-F238E27FC236}">
                <a16:creationId xmlns:a16="http://schemas.microsoft.com/office/drawing/2014/main" id="{5D144A7F-DE10-47C1-91E5-461E292C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152269"/>
            <a:ext cx="857250" cy="210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0–100</a:t>
            </a:r>
          </a:p>
        </p:txBody>
      </p:sp>
      <p:sp>
        <p:nvSpPr>
          <p:cNvPr id="7" name="s1-rect-7">
            <a:extLst xmlns:a="http://schemas.openxmlformats.org/drawingml/2006/main">
              <a:ext uri="{FF2B5EF4-FFF2-40B4-BE49-F238E27FC236}">
                <a16:creationId xmlns:a16="http://schemas.microsoft.com/office/drawing/2014/main" id="{7A050444-1AC1-4955-BFD6-28659C24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00225"/>
            <a:ext cx="2857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8" name="s1-text-8">
            <a:extLst xmlns:a="http://schemas.openxmlformats.org/drawingml/2006/main">
              <a:ext uri="{FF2B5EF4-FFF2-40B4-BE49-F238E27FC236}">
                <a16:creationId xmlns:a16="http://schemas.microsoft.com/office/drawing/2014/main" id="{30D00A8C-A82E-4E23-BF1D-87ADF1B7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922907"/>
            <a:ext cx="19240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Prefill：读输入，建立 KV</a:t>
            </a:r>
          </a:p>
        </p:txBody>
      </p:sp>
      <p:sp>
        <p:nvSpPr>
          <p:cNvPr id="9" name="s1-text-9">
            <a:extLst xmlns:a="http://schemas.openxmlformats.org/drawingml/2006/main">
              <a:ext uri="{FF2B5EF4-FFF2-40B4-BE49-F238E27FC236}">
                <a16:creationId xmlns:a16="http://schemas.microsoft.com/office/drawing/2014/main" id="{71F3960E-EE48-458B-B23D-E44E9116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52269"/>
            <a:ext cx="857250" cy="210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100–400</a:t>
            </a:r>
          </a:p>
        </p:txBody>
      </p:sp>
      <p:sp>
        <p:nvSpPr>
          <p:cNvPr id="10" name="s1-rect-10">
            <a:extLst xmlns:a="http://schemas.openxmlformats.org/drawingml/2006/main">
              <a:ext uri="{FF2B5EF4-FFF2-40B4-BE49-F238E27FC236}">
                <a16:creationId xmlns:a16="http://schemas.microsoft.com/office/drawing/2014/main" id="{48CF5537-AAEC-4DCB-A653-C3BC5FD4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0225"/>
            <a:ext cx="952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11" name="s1-text-11">
            <a:extLst xmlns:a="http://schemas.openxmlformats.org/drawingml/2006/main">
              <a:ext uri="{FF2B5EF4-FFF2-40B4-BE49-F238E27FC236}">
                <a16:creationId xmlns:a16="http://schemas.microsoft.com/office/drawing/2014/main" id="{5992F007-38F5-4F68-9074-13C6A55F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922907"/>
            <a:ext cx="8572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rPr>
              <a:t>首包返回</a:t>
            </a:r>
          </a:p>
        </p:txBody>
      </p:sp>
      <p:sp>
        <p:nvSpPr>
          <p:cNvPr id="12" name="s1-text-12">
            <a:extLst xmlns:a="http://schemas.openxmlformats.org/drawingml/2006/main">
              <a:ext uri="{FF2B5EF4-FFF2-40B4-BE49-F238E27FC236}">
                <a16:creationId xmlns:a16="http://schemas.microsoft.com/office/drawing/2014/main" id="{3BB2AFA4-721D-4549-A8FB-F01517DC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152269"/>
            <a:ext cx="857250" cy="210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400–500</a:t>
            </a:r>
          </a:p>
        </p:txBody>
      </p:sp>
      <p:sp>
        <p:nvSpPr>
          <p:cNvPr id="13" name="s1-rect-13">
            <a:extLst xmlns:a="http://schemas.openxmlformats.org/drawingml/2006/main">
              <a:ext uri="{FF2B5EF4-FFF2-40B4-BE49-F238E27FC236}">
                <a16:creationId xmlns:a16="http://schemas.microsoft.com/office/drawing/2014/main" id="{A731BB00-D86F-4E10-8BD1-31B16EF5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0225"/>
            <a:ext cx="2857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7352BD"/>
          </a:solidFill>
          <a:ln xmlns:a="http://schemas.openxmlformats.org/drawingml/2006/main" w="0">
            <a:noFill/>
          </a:ln>
        </p:spPr>
      </p:sp>
      <p:sp>
        <p:nvSpPr>
          <p:cNvPr id="14" name="s1-text-14">
            <a:extLst xmlns:a="http://schemas.openxmlformats.org/drawingml/2006/main">
              <a:ext uri="{FF2B5EF4-FFF2-40B4-BE49-F238E27FC236}">
                <a16:creationId xmlns:a16="http://schemas.microsoft.com/office/drawing/2014/main" id="{8E6575CA-AD1F-4E7E-9F88-E57AB3F0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635" y="1922907"/>
            <a:ext cx="203073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后续 Decode / 调度 / 返回</a:t>
            </a:r>
          </a:p>
        </p:txBody>
      </p:sp>
      <p:sp>
        <p:nvSpPr>
          <p:cNvPr id="15" name="s1-text-15">
            <a:extLst xmlns:a="http://schemas.openxmlformats.org/drawingml/2006/main">
              <a:ext uri="{FF2B5EF4-FFF2-40B4-BE49-F238E27FC236}">
                <a16:creationId xmlns:a16="http://schemas.microsoft.com/office/drawing/2014/main" id="{63436FC9-3126-40F6-9DCC-5ECBFE02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2152269"/>
            <a:ext cx="1082040" cy="210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首 token 之后</a:t>
            </a:r>
          </a:p>
        </p:txBody>
      </p:sp>
      <p:sp>
        <p:nvSpPr>
          <p:cNvPr id="16" name="s1-text-16">
            <a:extLst xmlns:a="http://schemas.openxmlformats.org/drawingml/2006/main">
              <a:ext uri="{FF2B5EF4-FFF2-40B4-BE49-F238E27FC236}">
                <a16:creationId xmlns:a16="http://schemas.microsoft.com/office/drawing/2014/main" id="{102B89BA-B254-47B4-BFBF-4AE25CAA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41195"/>
            <a:ext cx="85725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17" name="s1-text-17">
            <a:extLst xmlns:a="http://schemas.openxmlformats.org/drawingml/2006/main">
              <a:ext uri="{FF2B5EF4-FFF2-40B4-BE49-F238E27FC236}">
                <a16:creationId xmlns:a16="http://schemas.microsoft.com/office/drawing/2014/main" id="{F2C92436-15F6-4D0E-97DD-5D20FDDA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80082"/>
            <a:ext cx="8572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20 ms</a:t>
            </a:r>
          </a:p>
        </p:txBody>
      </p:sp>
      <p:sp>
        <p:nvSpPr>
          <p:cNvPr id="18" name="s1-line-18">
            <a:extLst xmlns:a="http://schemas.openxmlformats.org/drawingml/2006/main">
              <a:ext uri="{FF2B5EF4-FFF2-40B4-BE49-F238E27FC236}">
                <a16:creationId xmlns:a16="http://schemas.microsoft.com/office/drawing/2014/main" id="{00250716-B370-49B4-9ADE-347A9821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28925"/>
            <a:ext cx="86677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045"/>
            </a:solidFill>
            <a:prstDash val="solid"/>
          </a:ln>
        </p:spPr>
      </p:sp>
      <p:sp>
        <p:nvSpPr>
          <p:cNvPr id="19" name="s1-line-19">
            <a:extLst xmlns:a="http://schemas.openxmlformats.org/drawingml/2006/main">
              <a:ext uri="{FF2B5EF4-FFF2-40B4-BE49-F238E27FC236}">
                <a16:creationId xmlns:a16="http://schemas.microsoft.com/office/drawing/2014/main" id="{5CC20CF4-BAAF-4838-8C52-243F250F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66975"/>
            <a:ext cx="95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B"/>
            </a:solidFill>
            <a:prstDash val="dash"/>
          </a:ln>
        </p:spPr>
      </p:sp>
      <p:sp>
        <p:nvSpPr>
          <p:cNvPr id="20" name="s1-circle-20">
            <a:extLst xmlns:a="http://schemas.openxmlformats.org/drawingml/2006/main">
              <a:ext uri="{FF2B5EF4-FFF2-40B4-BE49-F238E27FC236}">
                <a16:creationId xmlns:a16="http://schemas.microsoft.com/office/drawing/2014/main" id="{A334666B-E6DC-4516-999C-9586AFB9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71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045"/>
          </a:solidFill>
          <a:ln xmlns:a="http://schemas.openxmlformats.org/drawingml/2006/main" w="0">
            <a:noFill/>
          </a:ln>
        </p:spPr>
      </p:sp>
      <p:sp>
        <p:nvSpPr>
          <p:cNvPr id="21" name="s1-text-21">
            <a:extLst xmlns:a="http://schemas.openxmlformats.org/drawingml/2006/main">
              <a:ext uri="{FF2B5EF4-FFF2-40B4-BE49-F238E27FC236}">
                <a16:creationId xmlns:a16="http://schemas.microsoft.com/office/drawing/2014/main" id="{EB582AD3-D7B9-4111-A671-98908D36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97708"/>
            <a:ext cx="857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rPr>
              <a:t>t₀</a:t>
            </a:r>
          </a:p>
        </p:txBody>
      </p:sp>
      <p:sp>
        <p:nvSpPr>
          <p:cNvPr id="22" name="s1-text-22">
            <a:extLst xmlns:a="http://schemas.openxmlformats.org/drawingml/2006/main">
              <a:ext uri="{FF2B5EF4-FFF2-40B4-BE49-F238E27FC236}">
                <a16:creationId xmlns:a16="http://schemas.microsoft.com/office/drawing/2014/main" id="{5F9B00C4-DEDC-4B76-A894-C7C207A1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98495"/>
            <a:ext cx="85725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3" name="s1-line-23">
            <a:extLst xmlns:a="http://schemas.openxmlformats.org/drawingml/2006/main">
              <a:ext uri="{FF2B5EF4-FFF2-40B4-BE49-F238E27FC236}">
                <a16:creationId xmlns:a16="http://schemas.microsoft.com/office/drawing/2014/main" id="{644DBA8D-90C8-43C5-A764-91DD8993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66975"/>
            <a:ext cx="95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B"/>
            </a:solidFill>
            <a:prstDash val="dash"/>
          </a:ln>
        </p:spPr>
      </p:sp>
      <p:sp>
        <p:nvSpPr>
          <p:cNvPr id="24" name="s1-circle-24">
            <a:extLst xmlns:a="http://schemas.openxmlformats.org/drawingml/2006/main">
              <a:ext uri="{FF2B5EF4-FFF2-40B4-BE49-F238E27FC236}">
                <a16:creationId xmlns:a16="http://schemas.microsoft.com/office/drawing/2014/main" id="{C4E8F986-8FEC-4CCF-8416-D01F2E5D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71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045"/>
          </a:solidFill>
          <a:ln xmlns:a="http://schemas.openxmlformats.org/drawingml/2006/main" w="0">
            <a:noFill/>
          </a:ln>
        </p:spPr>
      </p:sp>
      <p:sp>
        <p:nvSpPr>
          <p:cNvPr id="25" name="s1-text-25">
            <a:extLst xmlns:a="http://schemas.openxmlformats.org/drawingml/2006/main">
              <a:ext uri="{FF2B5EF4-FFF2-40B4-BE49-F238E27FC236}">
                <a16:creationId xmlns:a16="http://schemas.microsoft.com/office/drawing/2014/main" id="{0D8534E9-4F78-4DC6-B097-65FE3F9C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97708"/>
            <a:ext cx="857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rPr>
              <a:t>t₁</a:t>
            </a:r>
          </a:p>
        </p:txBody>
      </p:sp>
      <p:sp>
        <p:nvSpPr>
          <p:cNvPr id="26" name="s1-text-26">
            <a:extLst xmlns:a="http://schemas.openxmlformats.org/drawingml/2006/main">
              <a:ext uri="{FF2B5EF4-FFF2-40B4-BE49-F238E27FC236}">
                <a16:creationId xmlns:a16="http://schemas.microsoft.com/office/drawing/2014/main" id="{DB02045B-A8F1-4A76-8902-6AFA055C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98495"/>
            <a:ext cx="85725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500</a:t>
            </a:r>
          </a:p>
        </p:txBody>
      </p:sp>
      <p:sp>
        <p:nvSpPr>
          <p:cNvPr id="27" name="s1-line-27">
            <a:extLst xmlns:a="http://schemas.openxmlformats.org/drawingml/2006/main">
              <a:ext uri="{FF2B5EF4-FFF2-40B4-BE49-F238E27FC236}">
                <a16:creationId xmlns:a16="http://schemas.microsoft.com/office/drawing/2014/main" id="{B7C262EA-489B-45E2-BBB5-6CA2E528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66975"/>
            <a:ext cx="95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B"/>
            </a:solidFill>
            <a:prstDash val="dash"/>
          </a:ln>
        </p:spPr>
      </p:sp>
      <p:sp>
        <p:nvSpPr>
          <p:cNvPr id="28" name="s1-circle-28">
            <a:extLst xmlns:a="http://schemas.openxmlformats.org/drawingml/2006/main">
              <a:ext uri="{FF2B5EF4-FFF2-40B4-BE49-F238E27FC236}">
                <a16:creationId xmlns:a16="http://schemas.microsoft.com/office/drawing/2014/main" id="{1AA107AC-541C-4713-86D1-2DC100DE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71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045"/>
          </a:solidFill>
          <a:ln xmlns:a="http://schemas.openxmlformats.org/drawingml/2006/main" w="0">
            <a:noFill/>
          </a:ln>
        </p:spPr>
      </p:sp>
      <p:sp>
        <p:nvSpPr>
          <p:cNvPr id="29" name="s1-text-29">
            <a:extLst xmlns:a="http://schemas.openxmlformats.org/drawingml/2006/main">
              <a:ext uri="{FF2B5EF4-FFF2-40B4-BE49-F238E27FC236}">
                <a16:creationId xmlns:a16="http://schemas.microsoft.com/office/drawing/2014/main" id="{4D0A1B17-2D91-42A9-904C-86A3FB0D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07283"/>
            <a:ext cx="857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rPr>
              <a:t>t₂</a:t>
            </a:r>
          </a:p>
        </p:txBody>
      </p:sp>
      <p:sp>
        <p:nvSpPr>
          <p:cNvPr id="30" name="s1-text-30">
            <a:extLst xmlns:a="http://schemas.openxmlformats.org/drawingml/2006/main">
              <a:ext uri="{FF2B5EF4-FFF2-40B4-BE49-F238E27FC236}">
                <a16:creationId xmlns:a16="http://schemas.microsoft.com/office/drawing/2014/main" id="{93841402-9030-4293-9573-5A9F18CA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608070"/>
            <a:ext cx="85725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550</a:t>
            </a:r>
          </a:p>
        </p:txBody>
      </p:sp>
      <p:sp>
        <p:nvSpPr>
          <p:cNvPr id="31" name="s1-line-31">
            <a:extLst xmlns:a="http://schemas.openxmlformats.org/drawingml/2006/main">
              <a:ext uri="{FF2B5EF4-FFF2-40B4-BE49-F238E27FC236}">
                <a16:creationId xmlns:a16="http://schemas.microsoft.com/office/drawing/2014/main" id="{7EFDC24E-EA56-4B8C-8CD1-50B8630F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66975"/>
            <a:ext cx="95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B"/>
            </a:solidFill>
            <a:prstDash val="dash"/>
          </a:ln>
        </p:spPr>
      </p:sp>
      <p:sp>
        <p:nvSpPr>
          <p:cNvPr id="32" name="s1-circle-32">
            <a:extLst xmlns:a="http://schemas.openxmlformats.org/drawingml/2006/main">
              <a:ext uri="{FF2B5EF4-FFF2-40B4-BE49-F238E27FC236}">
                <a16:creationId xmlns:a16="http://schemas.microsoft.com/office/drawing/2014/main" id="{B5EEBA8D-BEAC-47C5-B6FD-47406B2B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71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045"/>
          </a:solidFill>
          <a:ln xmlns:a="http://schemas.openxmlformats.org/drawingml/2006/main" w="0">
            <a:noFill/>
          </a:ln>
        </p:spPr>
      </p:sp>
      <p:sp>
        <p:nvSpPr>
          <p:cNvPr id="33" name="s1-text-33">
            <a:extLst xmlns:a="http://schemas.openxmlformats.org/drawingml/2006/main">
              <a:ext uri="{FF2B5EF4-FFF2-40B4-BE49-F238E27FC236}">
                <a16:creationId xmlns:a16="http://schemas.microsoft.com/office/drawing/2014/main" id="{DF2D0EBC-87DE-48C3-84BA-DBFB3B76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97708"/>
            <a:ext cx="857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rPr>
              <a:t>t₃</a:t>
            </a:r>
          </a:p>
        </p:txBody>
      </p:sp>
      <p:sp>
        <p:nvSpPr>
          <p:cNvPr id="34" name="s1-text-34">
            <a:extLst xmlns:a="http://schemas.openxmlformats.org/drawingml/2006/main">
              <a:ext uri="{FF2B5EF4-FFF2-40B4-BE49-F238E27FC236}">
                <a16:creationId xmlns:a16="http://schemas.microsoft.com/office/drawing/2014/main" id="{397F0551-73C1-49B1-96C3-078596A8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98495"/>
            <a:ext cx="85725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650</a:t>
            </a:r>
          </a:p>
        </p:txBody>
      </p:sp>
      <p:sp>
        <p:nvSpPr>
          <p:cNvPr id="35" name="s1-line-35">
            <a:extLst xmlns:a="http://schemas.openxmlformats.org/drawingml/2006/main">
              <a:ext uri="{FF2B5EF4-FFF2-40B4-BE49-F238E27FC236}">
                <a16:creationId xmlns:a16="http://schemas.microsoft.com/office/drawing/2014/main" id="{8CDC0E54-FD72-4B4E-8515-92D3CC66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66975"/>
            <a:ext cx="95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B"/>
            </a:solidFill>
            <a:prstDash val="dash"/>
          </a:ln>
        </p:spPr>
      </p:sp>
      <p:sp>
        <p:nvSpPr>
          <p:cNvPr id="36" name="s1-circle-36">
            <a:extLst xmlns:a="http://schemas.openxmlformats.org/drawingml/2006/main">
              <a:ext uri="{FF2B5EF4-FFF2-40B4-BE49-F238E27FC236}">
                <a16:creationId xmlns:a16="http://schemas.microsoft.com/office/drawing/2014/main" id="{0294A289-53A6-4F37-8B0E-0353BBB0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71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045"/>
          </a:solidFill>
          <a:ln xmlns:a="http://schemas.openxmlformats.org/drawingml/2006/main" w="0">
            <a:noFill/>
          </a:ln>
        </p:spPr>
      </p:sp>
      <p:sp>
        <p:nvSpPr>
          <p:cNvPr id="37" name="s1-text-37">
            <a:extLst xmlns:a="http://schemas.openxmlformats.org/drawingml/2006/main">
              <a:ext uri="{FF2B5EF4-FFF2-40B4-BE49-F238E27FC236}">
                <a16:creationId xmlns:a16="http://schemas.microsoft.com/office/drawing/2014/main" id="{4F135F76-780F-43D7-84B3-D6E32D70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07283"/>
            <a:ext cx="857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rPr>
              <a:t>t₄</a:t>
            </a:r>
          </a:p>
        </p:txBody>
      </p:sp>
      <p:sp>
        <p:nvSpPr>
          <p:cNvPr id="38" name="s1-text-38">
            <a:extLst xmlns:a="http://schemas.openxmlformats.org/drawingml/2006/main">
              <a:ext uri="{FF2B5EF4-FFF2-40B4-BE49-F238E27FC236}">
                <a16:creationId xmlns:a16="http://schemas.microsoft.com/office/drawing/2014/main" id="{1A3E4433-B178-4D75-A9BE-896C2D6D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08070"/>
            <a:ext cx="85725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700</a:t>
            </a:r>
          </a:p>
        </p:txBody>
      </p:sp>
      <p:sp>
        <p:nvSpPr>
          <p:cNvPr id="39" name="s1-line-39">
            <a:extLst xmlns:a="http://schemas.openxmlformats.org/drawingml/2006/main">
              <a:ext uri="{FF2B5EF4-FFF2-40B4-BE49-F238E27FC236}">
                <a16:creationId xmlns:a16="http://schemas.microsoft.com/office/drawing/2014/main" id="{F1145E2B-B31E-47F1-94D2-48554A47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66975"/>
            <a:ext cx="95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B"/>
            </a:solidFill>
            <a:prstDash val="dash"/>
          </a:ln>
        </p:spPr>
      </p:sp>
      <p:sp>
        <p:nvSpPr>
          <p:cNvPr id="40" name="s1-circle-40">
            <a:extLst xmlns:a="http://schemas.openxmlformats.org/drawingml/2006/main">
              <a:ext uri="{FF2B5EF4-FFF2-40B4-BE49-F238E27FC236}">
                <a16:creationId xmlns:a16="http://schemas.microsoft.com/office/drawing/2014/main" id="{7672C9C3-0DD5-4F5C-86BA-C4647F90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71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045"/>
          </a:solidFill>
          <a:ln xmlns:a="http://schemas.openxmlformats.org/drawingml/2006/main" w="0">
            <a:noFill/>
          </a:ln>
        </p:spPr>
      </p:sp>
      <p:sp>
        <p:nvSpPr>
          <p:cNvPr id="41" name="s1-text-41">
            <a:extLst xmlns:a="http://schemas.openxmlformats.org/drawingml/2006/main">
              <a:ext uri="{FF2B5EF4-FFF2-40B4-BE49-F238E27FC236}">
                <a16:creationId xmlns:a16="http://schemas.microsoft.com/office/drawing/2014/main" id="{52DB568E-E166-4987-910C-A20AA3A9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97708"/>
            <a:ext cx="857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rPr>
              <a:t>t₅</a:t>
            </a:r>
          </a:p>
        </p:txBody>
      </p:sp>
      <p:sp>
        <p:nvSpPr>
          <p:cNvPr id="42" name="s1-text-42">
            <a:extLst xmlns:a="http://schemas.openxmlformats.org/drawingml/2006/main">
              <a:ext uri="{FF2B5EF4-FFF2-40B4-BE49-F238E27FC236}">
                <a16:creationId xmlns:a16="http://schemas.microsoft.com/office/drawing/2014/main" id="{233FF1C3-5BDD-4EC0-A248-DCF3AAD4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98495"/>
            <a:ext cx="85725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800</a:t>
            </a:r>
          </a:p>
        </p:txBody>
      </p:sp>
      <p:sp>
        <p:nvSpPr>
          <p:cNvPr id="43" name="s1-line-43">
            <a:extLst xmlns:a="http://schemas.openxmlformats.org/drawingml/2006/main">
              <a:ext uri="{FF2B5EF4-FFF2-40B4-BE49-F238E27FC236}">
                <a16:creationId xmlns:a16="http://schemas.microsoft.com/office/drawing/2014/main" id="{D063D4EB-0025-40D9-AAE3-1764AC72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66975"/>
            <a:ext cx="95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B"/>
            </a:solidFill>
            <a:prstDash val="dash"/>
          </a:ln>
        </p:spPr>
      </p:sp>
      <p:sp>
        <p:nvSpPr>
          <p:cNvPr id="44" name="s1-circle-44">
            <a:extLst xmlns:a="http://schemas.openxmlformats.org/drawingml/2006/main">
              <a:ext uri="{FF2B5EF4-FFF2-40B4-BE49-F238E27FC236}">
                <a16:creationId xmlns:a16="http://schemas.microsoft.com/office/drawing/2014/main" id="{F1D05C6E-91B2-4A47-B9B8-D002C05C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71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045"/>
          </a:solidFill>
          <a:ln xmlns:a="http://schemas.openxmlformats.org/drawingml/2006/main" w="0">
            <a:noFill/>
          </a:ln>
        </p:spPr>
      </p:sp>
      <p:sp>
        <p:nvSpPr>
          <p:cNvPr id="45" name="s1-text-45">
            <a:extLst xmlns:a="http://schemas.openxmlformats.org/drawingml/2006/main">
              <a:ext uri="{FF2B5EF4-FFF2-40B4-BE49-F238E27FC236}">
                <a16:creationId xmlns:a16="http://schemas.microsoft.com/office/drawing/2014/main" id="{4E6085C5-2751-4508-8790-AE4CD7ED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07283"/>
            <a:ext cx="857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rPr>
              <a:t>t_end</a:t>
            </a:r>
          </a:p>
        </p:txBody>
      </p:sp>
      <p:sp>
        <p:nvSpPr>
          <p:cNvPr id="46" name="s1-text-46">
            <a:extLst xmlns:a="http://schemas.openxmlformats.org/drawingml/2006/main">
              <a:ext uri="{FF2B5EF4-FFF2-40B4-BE49-F238E27FC236}">
                <a16:creationId xmlns:a16="http://schemas.microsoft.com/office/drawing/2014/main" id="{71C75A53-F911-42DE-A223-80EEFC91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08070"/>
            <a:ext cx="85725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820</a:t>
            </a:r>
          </a:p>
        </p:txBody>
      </p:sp>
      <p:sp>
        <p:nvSpPr>
          <p:cNvPr id="47" name="s1-text-47">
            <a:extLst xmlns:a="http://schemas.openxmlformats.org/drawingml/2006/main">
              <a:ext uri="{FF2B5EF4-FFF2-40B4-BE49-F238E27FC236}">
                <a16:creationId xmlns:a16="http://schemas.microsoft.com/office/drawing/2014/main" id="{3DEDE527-822B-47E5-BDA0-5B35228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11958"/>
            <a:ext cx="857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时间 →</a:t>
            </a:r>
          </a:p>
        </p:txBody>
      </p:sp>
      <p:sp>
        <p:nvSpPr>
          <p:cNvPr id="48" name="s1-line-48">
            <a:extLst xmlns:a="http://schemas.openxmlformats.org/drawingml/2006/main">
              <a:ext uri="{FF2B5EF4-FFF2-40B4-BE49-F238E27FC236}">
                <a16:creationId xmlns:a16="http://schemas.microsoft.com/office/drawing/2014/main" id="{2357EA37-F674-40C2-A57D-384B1B3A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10025"/>
            <a:ext cx="4762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8C"/>
            </a:solidFill>
            <a:prstDash val="solid"/>
          </a:ln>
        </p:spPr>
      </p:sp>
      <p:sp>
        <p:nvSpPr>
          <p:cNvPr id="49" name="s1-line-49">
            <a:extLst xmlns:a="http://schemas.openxmlformats.org/drawingml/2006/main">
              <a:ext uri="{FF2B5EF4-FFF2-40B4-BE49-F238E27FC236}">
                <a16:creationId xmlns:a16="http://schemas.microsoft.com/office/drawing/2014/main" id="{D0E3122C-DADC-47B0-AF72-4B31C94D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43350"/>
            <a:ext cx="9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8C"/>
            </a:solidFill>
            <a:prstDash val="solid"/>
          </a:ln>
        </p:spPr>
      </p:sp>
      <p:sp>
        <p:nvSpPr>
          <p:cNvPr id="50" name="s1-line-50">
            <a:extLst xmlns:a="http://schemas.openxmlformats.org/drawingml/2006/main">
              <a:ext uri="{FF2B5EF4-FFF2-40B4-BE49-F238E27FC236}">
                <a16:creationId xmlns:a16="http://schemas.microsoft.com/office/drawing/2014/main" id="{3AA52AD7-61CA-435B-8A75-FA2B03D9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9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F8C"/>
            </a:solidFill>
            <a:prstDash val="solid"/>
          </a:ln>
        </p:spPr>
      </p:sp>
      <p:sp>
        <p:nvSpPr>
          <p:cNvPr id="51" name="s1-text-51">
            <a:extLst xmlns:a="http://schemas.openxmlformats.org/drawingml/2006/main">
              <a:ext uri="{FF2B5EF4-FFF2-40B4-BE49-F238E27FC236}">
                <a16:creationId xmlns:a16="http://schemas.microsoft.com/office/drawing/2014/main" id="{F5B38B5A-FBBF-45CF-A8EE-4AD09079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095" y="3710559"/>
            <a:ext cx="152781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TTFT = 500 ms</a:t>
            </a:r>
          </a:p>
        </p:txBody>
      </p:sp>
      <p:sp>
        <p:nvSpPr>
          <p:cNvPr id="52" name="s1-line-52">
            <a:extLst xmlns:a="http://schemas.openxmlformats.org/drawingml/2006/main">
              <a:ext uri="{FF2B5EF4-FFF2-40B4-BE49-F238E27FC236}">
                <a16:creationId xmlns:a16="http://schemas.microsoft.com/office/drawing/2014/main" id="{7C980C36-D448-40B1-B0C4-326AEB0B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10025"/>
            <a:ext cx="476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52BD"/>
            </a:solidFill>
            <a:prstDash val="solid"/>
          </a:ln>
        </p:spPr>
      </p:sp>
      <p:sp>
        <p:nvSpPr>
          <p:cNvPr id="53" name="s1-line-53">
            <a:extLst xmlns:a="http://schemas.openxmlformats.org/drawingml/2006/main">
              <a:ext uri="{FF2B5EF4-FFF2-40B4-BE49-F238E27FC236}">
                <a16:creationId xmlns:a16="http://schemas.microsoft.com/office/drawing/2014/main" id="{76FFF959-614C-4B57-B3A8-D9E55FE4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9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52BD"/>
            </a:solidFill>
            <a:prstDash val="solid"/>
          </a:ln>
        </p:spPr>
      </p:sp>
      <p:sp>
        <p:nvSpPr>
          <p:cNvPr id="54" name="s1-line-54">
            <a:extLst xmlns:a="http://schemas.openxmlformats.org/drawingml/2006/main">
              <a:ext uri="{FF2B5EF4-FFF2-40B4-BE49-F238E27FC236}">
                <a16:creationId xmlns:a16="http://schemas.microsoft.com/office/drawing/2014/main" id="{0452104B-CC02-4EC0-A908-31D45E5F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43350"/>
            <a:ext cx="9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52BD"/>
            </a:solidFill>
            <a:prstDash val="solid"/>
          </a:ln>
        </p:spPr>
      </p:sp>
      <p:sp>
        <p:nvSpPr>
          <p:cNvPr id="55" name="s1-text-55">
            <a:extLst xmlns:a="http://schemas.openxmlformats.org/drawingml/2006/main">
              <a:ext uri="{FF2B5EF4-FFF2-40B4-BE49-F238E27FC236}">
                <a16:creationId xmlns:a16="http://schemas.microsoft.com/office/drawing/2014/main" id="{0B0A5A7A-3D2C-4799-9E73-2474CB55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0559"/>
            <a:ext cx="8572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3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352BD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56" name="s1-line-56">
            <a:extLst xmlns:a="http://schemas.openxmlformats.org/drawingml/2006/main">
              <a:ext uri="{FF2B5EF4-FFF2-40B4-BE49-F238E27FC236}">
                <a16:creationId xmlns:a16="http://schemas.microsoft.com/office/drawing/2014/main" id="{6EF47FD4-80D5-49E7-92BE-FFAB736F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10025"/>
            <a:ext cx="952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52BD"/>
            </a:solidFill>
            <a:prstDash val="solid"/>
          </a:ln>
        </p:spPr>
      </p:sp>
      <p:sp>
        <p:nvSpPr>
          <p:cNvPr id="57" name="s1-line-57">
            <a:extLst xmlns:a="http://schemas.openxmlformats.org/drawingml/2006/main">
              <a:ext uri="{FF2B5EF4-FFF2-40B4-BE49-F238E27FC236}">
                <a16:creationId xmlns:a16="http://schemas.microsoft.com/office/drawing/2014/main" id="{16515D79-1AB3-456B-8E49-0428B1E4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43350"/>
            <a:ext cx="9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52BD"/>
            </a:solidFill>
            <a:prstDash val="solid"/>
          </a:ln>
        </p:spPr>
      </p:sp>
      <p:sp>
        <p:nvSpPr>
          <p:cNvPr id="58" name="s1-line-58">
            <a:extLst xmlns:a="http://schemas.openxmlformats.org/drawingml/2006/main">
              <a:ext uri="{FF2B5EF4-FFF2-40B4-BE49-F238E27FC236}">
                <a16:creationId xmlns:a16="http://schemas.microsoft.com/office/drawing/2014/main" id="{19C0EDE7-C092-4749-B579-2E02D06F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43350"/>
            <a:ext cx="9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52BD"/>
            </a:solidFill>
            <a:prstDash val="solid"/>
          </a:ln>
        </p:spPr>
      </p:sp>
      <p:sp>
        <p:nvSpPr>
          <p:cNvPr id="59" name="s1-text-59">
            <a:extLst xmlns:a="http://schemas.openxmlformats.org/drawingml/2006/main">
              <a:ext uri="{FF2B5EF4-FFF2-40B4-BE49-F238E27FC236}">
                <a16:creationId xmlns:a16="http://schemas.microsoft.com/office/drawing/2014/main" id="{094DC202-F4D1-4F30-ABE9-66A865D8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10559"/>
            <a:ext cx="8572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3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352BD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60" name="s1-line-60">
            <a:extLst xmlns:a="http://schemas.openxmlformats.org/drawingml/2006/main">
              <a:ext uri="{FF2B5EF4-FFF2-40B4-BE49-F238E27FC236}">
                <a16:creationId xmlns:a16="http://schemas.microsoft.com/office/drawing/2014/main" id="{AA2C9997-FDF7-4355-AA2C-8A61EDD0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0025"/>
            <a:ext cx="476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52BD"/>
            </a:solidFill>
            <a:prstDash val="solid"/>
          </a:ln>
        </p:spPr>
      </p:sp>
      <p:sp>
        <p:nvSpPr>
          <p:cNvPr id="61" name="s1-line-61">
            <a:extLst xmlns:a="http://schemas.openxmlformats.org/drawingml/2006/main">
              <a:ext uri="{FF2B5EF4-FFF2-40B4-BE49-F238E27FC236}">
                <a16:creationId xmlns:a16="http://schemas.microsoft.com/office/drawing/2014/main" id="{AC7E53B8-F6F2-487A-8611-635F0F4E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43350"/>
            <a:ext cx="9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52BD"/>
            </a:solidFill>
            <a:prstDash val="solid"/>
          </a:ln>
        </p:spPr>
      </p:sp>
      <p:sp>
        <p:nvSpPr>
          <p:cNvPr id="62" name="s1-line-62">
            <a:extLst xmlns:a="http://schemas.openxmlformats.org/drawingml/2006/main">
              <a:ext uri="{FF2B5EF4-FFF2-40B4-BE49-F238E27FC236}">
                <a16:creationId xmlns:a16="http://schemas.microsoft.com/office/drawing/2014/main" id="{570722A7-B00E-4746-830F-254CA3B5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43350"/>
            <a:ext cx="9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52BD"/>
            </a:solidFill>
            <a:prstDash val="solid"/>
          </a:ln>
        </p:spPr>
      </p:sp>
      <p:sp>
        <p:nvSpPr>
          <p:cNvPr id="63" name="s1-text-63">
            <a:extLst xmlns:a="http://schemas.openxmlformats.org/drawingml/2006/main">
              <a:ext uri="{FF2B5EF4-FFF2-40B4-BE49-F238E27FC236}">
                <a16:creationId xmlns:a16="http://schemas.microsoft.com/office/drawing/2014/main" id="{D5E740A2-894E-4D1C-B8D1-7D95F74D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0559"/>
            <a:ext cx="8572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3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352BD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64" name="s1-line-64">
            <a:extLst xmlns:a="http://schemas.openxmlformats.org/drawingml/2006/main">
              <a:ext uri="{FF2B5EF4-FFF2-40B4-BE49-F238E27FC236}">
                <a16:creationId xmlns:a16="http://schemas.microsoft.com/office/drawing/2014/main" id="{459F142B-0870-4B7F-841D-266BF891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10025"/>
            <a:ext cx="952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52BD"/>
            </a:solidFill>
            <a:prstDash val="solid"/>
          </a:ln>
        </p:spPr>
      </p:sp>
      <p:sp>
        <p:nvSpPr>
          <p:cNvPr id="65" name="s1-line-65">
            <a:extLst xmlns:a="http://schemas.openxmlformats.org/drawingml/2006/main">
              <a:ext uri="{FF2B5EF4-FFF2-40B4-BE49-F238E27FC236}">
                <a16:creationId xmlns:a16="http://schemas.microsoft.com/office/drawing/2014/main" id="{672E0F75-BEB8-4E36-A4D3-3771A4F1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43350"/>
            <a:ext cx="9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52BD"/>
            </a:solidFill>
            <a:prstDash val="solid"/>
          </a:ln>
        </p:spPr>
      </p:sp>
      <p:sp>
        <p:nvSpPr>
          <p:cNvPr id="66" name="s1-line-66">
            <a:extLst xmlns:a="http://schemas.openxmlformats.org/drawingml/2006/main">
              <a:ext uri="{FF2B5EF4-FFF2-40B4-BE49-F238E27FC236}">
                <a16:creationId xmlns:a16="http://schemas.microsoft.com/office/drawing/2014/main" id="{3E72B942-4E02-4751-915A-AC91A8DC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43350"/>
            <a:ext cx="9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52BD"/>
            </a:solidFill>
            <a:prstDash val="solid"/>
          </a:ln>
        </p:spPr>
      </p:sp>
      <p:sp>
        <p:nvSpPr>
          <p:cNvPr id="67" name="s1-text-67">
            <a:extLst xmlns:a="http://schemas.openxmlformats.org/drawingml/2006/main">
              <a:ext uri="{FF2B5EF4-FFF2-40B4-BE49-F238E27FC236}">
                <a16:creationId xmlns:a16="http://schemas.microsoft.com/office/drawing/2014/main" id="{E5A2D3AD-6398-4DB5-8F07-E86A676A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10559"/>
            <a:ext cx="8572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3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352BD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68" name="s1-text-68">
            <a:extLst xmlns:a="http://schemas.openxmlformats.org/drawingml/2006/main">
              <a:ext uri="{FF2B5EF4-FFF2-40B4-BE49-F238E27FC236}">
                <a16:creationId xmlns:a16="http://schemas.microsoft.com/office/drawing/2014/main" id="{A63785F9-338E-4FE8-96AA-E548DF74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93058"/>
            <a:ext cx="122682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3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352BD"/>
                </a:solidFill>
                <a:latin typeface="Microsoft YaHei"/>
                <a:ea typeface="Microsoft YaHei"/>
                <a:cs typeface="Microsoft YaHei"/>
              </a:rPr>
              <a:t>ITL：逐次间隔</a:t>
            </a:r>
          </a:p>
        </p:txBody>
      </p:sp>
      <p:sp>
        <p:nvSpPr>
          <p:cNvPr id="69" name="s1-line-69">
            <a:extLst xmlns:a="http://schemas.openxmlformats.org/drawingml/2006/main">
              <a:ext uri="{FF2B5EF4-FFF2-40B4-BE49-F238E27FC236}">
                <a16:creationId xmlns:a16="http://schemas.microsoft.com/office/drawing/2014/main" id="{C51576DF-726D-49FE-AB59-926EB7AD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24375"/>
            <a:ext cx="2857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52BD"/>
            </a:solidFill>
            <a:prstDash val="solid"/>
          </a:ln>
        </p:spPr>
      </p:sp>
      <p:sp>
        <p:nvSpPr>
          <p:cNvPr id="70" name="s1-line-70">
            <a:extLst xmlns:a="http://schemas.openxmlformats.org/drawingml/2006/main">
              <a:ext uri="{FF2B5EF4-FFF2-40B4-BE49-F238E27FC236}">
                <a16:creationId xmlns:a16="http://schemas.microsoft.com/office/drawing/2014/main" id="{2856AAE7-9D38-4F65-9623-BA6E0BCC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9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52BD"/>
            </a:solidFill>
            <a:prstDash val="solid"/>
          </a:ln>
        </p:spPr>
      </p:sp>
      <p:sp>
        <p:nvSpPr>
          <p:cNvPr id="71" name="s1-line-71">
            <a:extLst xmlns:a="http://schemas.openxmlformats.org/drawingml/2006/main">
              <a:ext uri="{FF2B5EF4-FFF2-40B4-BE49-F238E27FC236}">
                <a16:creationId xmlns:a16="http://schemas.microsoft.com/office/drawing/2014/main" id="{B4C674EA-4A99-42A0-86C8-732D3840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57700"/>
            <a:ext cx="9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352BD"/>
            </a:solidFill>
            <a:prstDash val="solid"/>
          </a:ln>
        </p:spPr>
      </p:sp>
      <p:sp>
        <p:nvSpPr>
          <p:cNvPr id="72" name="s1-text-72">
            <a:extLst xmlns:a="http://schemas.openxmlformats.org/drawingml/2006/main">
              <a:ext uri="{FF2B5EF4-FFF2-40B4-BE49-F238E27FC236}">
                <a16:creationId xmlns:a16="http://schemas.microsoft.com/office/drawing/2014/main" id="{F7A75325-322B-428E-A2DF-E9505048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570" y="4224909"/>
            <a:ext cx="307086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352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352BD"/>
                </a:solidFill>
                <a:latin typeface="Microsoft YaHei"/>
                <a:ea typeface="Microsoft YaHei"/>
                <a:cs typeface="Microsoft YaHei"/>
              </a:rPr>
              <a:t>TPOT = 300 ÷ 4 = 75 ms/token</a:t>
            </a:r>
          </a:p>
        </p:txBody>
      </p:sp>
      <p:sp>
        <p:nvSpPr>
          <p:cNvPr id="73" name="s1-line-73">
            <a:extLst xmlns:a="http://schemas.openxmlformats.org/drawingml/2006/main">
              <a:ext uri="{FF2B5EF4-FFF2-40B4-BE49-F238E27FC236}">
                <a16:creationId xmlns:a16="http://schemas.microsoft.com/office/drawing/2014/main" id="{4D90FA7D-9F7E-4FDF-9A55-18BC39CE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00625"/>
            <a:ext cx="7810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65B5"/>
            </a:solidFill>
            <a:prstDash val="solid"/>
          </a:ln>
        </p:spPr>
      </p:sp>
      <p:sp>
        <p:nvSpPr>
          <p:cNvPr id="74" name="s1-line-74">
            <a:extLst xmlns:a="http://schemas.openxmlformats.org/drawingml/2006/main">
              <a:ext uri="{FF2B5EF4-FFF2-40B4-BE49-F238E27FC236}">
                <a16:creationId xmlns:a16="http://schemas.microsoft.com/office/drawing/2014/main" id="{FE1F5E85-2D94-436D-833C-E9865A7B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33950"/>
            <a:ext cx="9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65B5"/>
            </a:solidFill>
            <a:prstDash val="solid"/>
          </a:ln>
        </p:spPr>
      </p:sp>
      <p:sp>
        <p:nvSpPr>
          <p:cNvPr id="75" name="s1-line-75">
            <a:extLst xmlns:a="http://schemas.openxmlformats.org/drawingml/2006/main">
              <a:ext uri="{FF2B5EF4-FFF2-40B4-BE49-F238E27FC236}">
                <a16:creationId xmlns:a16="http://schemas.microsoft.com/office/drawing/2014/main" id="{54D90F9C-2BFD-4A3B-AFA2-B0970D80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33950"/>
            <a:ext cx="9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65B5"/>
            </a:solidFill>
            <a:prstDash val="solid"/>
          </a:ln>
        </p:spPr>
      </p:sp>
      <p:sp>
        <p:nvSpPr>
          <p:cNvPr id="76" name="s1-text-76">
            <a:extLst xmlns:a="http://schemas.openxmlformats.org/drawingml/2006/main">
              <a:ext uri="{FF2B5EF4-FFF2-40B4-BE49-F238E27FC236}">
                <a16:creationId xmlns:a16="http://schemas.microsoft.com/office/drawing/2014/main" id="{07029C2A-A5AB-47F6-95D0-9321EDD1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3740" y="4701159"/>
            <a:ext cx="492252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6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865B5"/>
                </a:solidFill>
                <a:latin typeface="Microsoft YaHei"/>
                <a:ea typeface="Microsoft YaHei"/>
                <a:cs typeface="Microsoft YaHei"/>
              </a:rPr>
              <a:t>E2E = 820 ms = TTFT 500 + 后续输出 300 + 收尾 20</a:t>
            </a:r>
          </a:p>
        </p:txBody>
      </p:sp>
    </p:spTree>
    <p:extLst>
      <p:ext uri="{BB962C8B-B14F-4D97-AF65-F5344CB8AC3E}">
        <p14:creationId xmlns:p14="http://schemas.microsoft.com/office/powerpoint/2010/main" val="5166945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s2-text-77">
            <a:extLst xmlns:a="http://schemas.openxmlformats.org/drawingml/2006/main">
              <a:ext uri="{FF2B5EF4-FFF2-40B4-BE49-F238E27FC236}">
                <a16:creationId xmlns:a16="http://schemas.microsoft.com/office/drawing/2014/main" id="{9CA60BAE-DB1D-493B-AF5E-DB90B9C7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49530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rPr>
              <a:t>多条请求：吞吐看整段窗口，并发看某一时刻</a:t>
            </a:r>
          </a:p>
        </p:txBody>
      </p:sp>
      <p:sp>
        <p:nvSpPr>
          <p:cNvPr id="2" name="s2-text-78">
            <a:extLst xmlns:a="http://schemas.openxmlformats.org/drawingml/2006/main">
              <a:ext uri="{FF2B5EF4-FFF2-40B4-BE49-F238E27FC236}">
                <a16:creationId xmlns:a16="http://schemas.microsoft.com/office/drawing/2014/main" id="{7C0BC505-AD05-470F-AFA3-6513AE2F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6533"/>
            <a:ext cx="649986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演示窗口 W = [0, 10) 秒；4 个成功请求，14 个输出 token；无失败、无跨窗口请求。</a:t>
            </a:r>
          </a:p>
        </p:txBody>
      </p:sp>
      <p:sp>
        <p:nvSpPr>
          <p:cNvPr id="3" name="s2-line-79">
            <a:extLst xmlns:a="http://schemas.openxmlformats.org/drawingml/2006/main">
              <a:ext uri="{FF2B5EF4-FFF2-40B4-BE49-F238E27FC236}">
                <a16:creationId xmlns:a16="http://schemas.microsoft.com/office/drawing/2014/main" id="{9A735152-3A8F-46E2-93DB-11F9538D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71650"/>
            <a:ext cx="8572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65B5"/>
            </a:solidFill>
            <a:prstDash val="solid"/>
          </a:ln>
        </p:spPr>
      </p:sp>
      <p:sp>
        <p:nvSpPr>
          <p:cNvPr id="4" name="s2-line-80">
            <a:extLst xmlns:a="http://schemas.openxmlformats.org/drawingml/2006/main">
              <a:ext uri="{FF2B5EF4-FFF2-40B4-BE49-F238E27FC236}">
                <a16:creationId xmlns:a16="http://schemas.microsoft.com/office/drawing/2014/main" id="{63630FEB-5373-47AF-81E3-14F9CE2E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04975"/>
            <a:ext cx="9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65B5"/>
            </a:solidFill>
            <a:prstDash val="solid"/>
          </a:ln>
        </p:spPr>
      </p:sp>
      <p:sp>
        <p:nvSpPr>
          <p:cNvPr id="5" name="s2-line-81">
            <a:extLst xmlns:a="http://schemas.openxmlformats.org/drawingml/2006/main">
              <a:ext uri="{FF2B5EF4-FFF2-40B4-BE49-F238E27FC236}">
                <a16:creationId xmlns:a16="http://schemas.microsoft.com/office/drawing/2014/main" id="{9635D22A-F9A8-4584-8146-CF860E6C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704975"/>
            <a:ext cx="9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65B5"/>
            </a:solidFill>
            <a:prstDash val="solid"/>
          </a:ln>
        </p:spPr>
      </p:sp>
      <p:sp>
        <p:nvSpPr>
          <p:cNvPr id="6" name="s2-text-82">
            <a:extLst xmlns:a="http://schemas.openxmlformats.org/drawingml/2006/main">
              <a:ext uri="{FF2B5EF4-FFF2-40B4-BE49-F238E27FC236}">
                <a16:creationId xmlns:a16="http://schemas.microsoft.com/office/drawing/2014/main" id="{7BAD35BF-D243-46C2-9A22-49C13DB1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380" y="1472184"/>
            <a:ext cx="382524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6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865B5"/>
                </a:solidFill>
                <a:latin typeface="Microsoft YaHei"/>
                <a:ea typeface="Microsoft YaHei"/>
                <a:cs typeface="Microsoft YaHei"/>
              </a:rPr>
              <a:t>W = 10 s：QPS 与系统 TPS 共用的墙钟窗口</a:t>
            </a:r>
          </a:p>
        </p:txBody>
      </p:sp>
      <p:sp>
        <p:nvSpPr>
          <p:cNvPr id="7" name="s2-line-83">
            <a:extLst xmlns:a="http://schemas.openxmlformats.org/drawingml/2006/main">
              <a:ext uri="{FF2B5EF4-FFF2-40B4-BE49-F238E27FC236}">
                <a16:creationId xmlns:a16="http://schemas.microsoft.com/office/drawing/2014/main" id="{DC7F4333-AF35-4F09-B7C1-105AE9E0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47875"/>
            <a:ext cx="95" cy="2543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B"/>
            </a:solidFill>
            <a:prstDash val="dash"/>
          </a:ln>
        </p:spPr>
      </p:sp>
      <p:sp>
        <p:nvSpPr>
          <p:cNvPr id="8" name="s2-text-84">
            <a:extLst xmlns:a="http://schemas.openxmlformats.org/drawingml/2006/main">
              <a:ext uri="{FF2B5EF4-FFF2-40B4-BE49-F238E27FC236}">
                <a16:creationId xmlns:a16="http://schemas.microsoft.com/office/drawing/2014/main" id="{B8E89013-61DF-4118-9B64-9CE2D35F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03445"/>
            <a:ext cx="85725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0s</a:t>
            </a:r>
          </a:p>
        </p:txBody>
      </p:sp>
      <p:sp>
        <p:nvSpPr>
          <p:cNvPr id="9" name="s2-line-85">
            <a:extLst xmlns:a="http://schemas.openxmlformats.org/drawingml/2006/main">
              <a:ext uri="{FF2B5EF4-FFF2-40B4-BE49-F238E27FC236}">
                <a16:creationId xmlns:a16="http://schemas.microsoft.com/office/drawing/2014/main" id="{93C74875-B42B-4879-A8E6-C11A30E3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47875"/>
            <a:ext cx="95" cy="2543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B"/>
            </a:solidFill>
            <a:prstDash val="dash"/>
          </a:ln>
        </p:spPr>
      </p:sp>
      <p:sp>
        <p:nvSpPr>
          <p:cNvPr id="10" name="s2-text-86">
            <a:extLst xmlns:a="http://schemas.openxmlformats.org/drawingml/2006/main">
              <a:ext uri="{FF2B5EF4-FFF2-40B4-BE49-F238E27FC236}">
                <a16:creationId xmlns:a16="http://schemas.microsoft.com/office/drawing/2014/main" id="{080A23FD-03B3-4B4F-83AB-A6A88DD2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03445"/>
            <a:ext cx="85725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1s</a:t>
            </a:r>
          </a:p>
        </p:txBody>
      </p:sp>
      <p:sp>
        <p:nvSpPr>
          <p:cNvPr id="11" name="s2-line-87">
            <a:extLst xmlns:a="http://schemas.openxmlformats.org/drawingml/2006/main">
              <a:ext uri="{FF2B5EF4-FFF2-40B4-BE49-F238E27FC236}">
                <a16:creationId xmlns:a16="http://schemas.microsoft.com/office/drawing/2014/main" id="{585A342A-7B5A-43F9-AD27-55CC9372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47875"/>
            <a:ext cx="95" cy="2543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B"/>
            </a:solidFill>
            <a:prstDash val="dash"/>
          </a:ln>
        </p:spPr>
      </p:sp>
      <p:sp>
        <p:nvSpPr>
          <p:cNvPr id="12" name="s2-text-88">
            <a:extLst xmlns:a="http://schemas.openxmlformats.org/drawingml/2006/main">
              <a:ext uri="{FF2B5EF4-FFF2-40B4-BE49-F238E27FC236}">
                <a16:creationId xmlns:a16="http://schemas.microsoft.com/office/drawing/2014/main" id="{F8DCEEB4-7A64-4DA6-AAA1-30A4F772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03445"/>
            <a:ext cx="85725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2s</a:t>
            </a:r>
          </a:p>
        </p:txBody>
      </p:sp>
      <p:sp>
        <p:nvSpPr>
          <p:cNvPr id="13" name="s2-line-89">
            <a:extLst xmlns:a="http://schemas.openxmlformats.org/drawingml/2006/main">
              <a:ext uri="{FF2B5EF4-FFF2-40B4-BE49-F238E27FC236}">
                <a16:creationId xmlns:a16="http://schemas.microsoft.com/office/drawing/2014/main" id="{9214772D-282A-4A6A-B281-F3679EF0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95" cy="2543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B"/>
            </a:solidFill>
            <a:prstDash val="dash"/>
          </a:ln>
        </p:spPr>
      </p:sp>
      <p:sp>
        <p:nvSpPr>
          <p:cNvPr id="14" name="s2-text-90">
            <a:extLst xmlns:a="http://schemas.openxmlformats.org/drawingml/2006/main">
              <a:ext uri="{FF2B5EF4-FFF2-40B4-BE49-F238E27FC236}">
                <a16:creationId xmlns:a16="http://schemas.microsoft.com/office/drawing/2014/main" id="{9A7D4065-13CB-469D-B7AD-ECF4C1F1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703445"/>
            <a:ext cx="85725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3s</a:t>
            </a:r>
          </a:p>
        </p:txBody>
      </p:sp>
      <p:sp>
        <p:nvSpPr>
          <p:cNvPr id="15" name="s2-line-91">
            <a:extLst xmlns:a="http://schemas.openxmlformats.org/drawingml/2006/main">
              <a:ext uri="{FF2B5EF4-FFF2-40B4-BE49-F238E27FC236}">
                <a16:creationId xmlns:a16="http://schemas.microsoft.com/office/drawing/2014/main" id="{23C35261-D0F1-43A9-AF8C-6E4E32F8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47875"/>
            <a:ext cx="95" cy="2543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B"/>
            </a:solidFill>
            <a:prstDash val="dash"/>
          </a:ln>
        </p:spPr>
      </p:sp>
      <p:sp>
        <p:nvSpPr>
          <p:cNvPr id="16" name="s2-text-92">
            <a:extLst xmlns:a="http://schemas.openxmlformats.org/drawingml/2006/main">
              <a:ext uri="{FF2B5EF4-FFF2-40B4-BE49-F238E27FC236}">
                <a16:creationId xmlns:a16="http://schemas.microsoft.com/office/drawing/2014/main" id="{50E2543A-AFF0-4551-A880-757F5212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03445"/>
            <a:ext cx="85725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4s</a:t>
            </a:r>
          </a:p>
        </p:txBody>
      </p:sp>
      <p:sp>
        <p:nvSpPr>
          <p:cNvPr id="17" name="s2-line-93">
            <a:extLst xmlns:a="http://schemas.openxmlformats.org/drawingml/2006/main">
              <a:ext uri="{FF2B5EF4-FFF2-40B4-BE49-F238E27FC236}">
                <a16:creationId xmlns:a16="http://schemas.microsoft.com/office/drawing/2014/main" id="{681A3AAC-FD39-4097-87E8-9ACDD2F8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95" cy="2543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B"/>
            </a:solidFill>
            <a:prstDash val="dash"/>
          </a:ln>
        </p:spPr>
      </p:sp>
      <p:sp>
        <p:nvSpPr>
          <p:cNvPr id="18" name="s2-text-94">
            <a:extLst xmlns:a="http://schemas.openxmlformats.org/drawingml/2006/main">
              <a:ext uri="{FF2B5EF4-FFF2-40B4-BE49-F238E27FC236}">
                <a16:creationId xmlns:a16="http://schemas.microsoft.com/office/drawing/2014/main" id="{509FEDCD-5D9B-4A63-A340-ED3B521D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703445"/>
            <a:ext cx="85725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5s</a:t>
            </a:r>
          </a:p>
        </p:txBody>
      </p:sp>
      <p:sp>
        <p:nvSpPr>
          <p:cNvPr id="19" name="s2-line-95">
            <a:extLst xmlns:a="http://schemas.openxmlformats.org/drawingml/2006/main">
              <a:ext uri="{FF2B5EF4-FFF2-40B4-BE49-F238E27FC236}">
                <a16:creationId xmlns:a16="http://schemas.microsoft.com/office/drawing/2014/main" id="{346C020C-E5CF-4BEF-87AB-D4E2B2F1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47875"/>
            <a:ext cx="95" cy="2543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B"/>
            </a:solidFill>
            <a:prstDash val="dash"/>
          </a:ln>
        </p:spPr>
      </p:sp>
      <p:sp>
        <p:nvSpPr>
          <p:cNvPr id="20" name="s2-text-96">
            <a:extLst xmlns:a="http://schemas.openxmlformats.org/drawingml/2006/main">
              <a:ext uri="{FF2B5EF4-FFF2-40B4-BE49-F238E27FC236}">
                <a16:creationId xmlns:a16="http://schemas.microsoft.com/office/drawing/2014/main" id="{2EE4D887-B16A-4BF0-A699-85D23A2C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03445"/>
            <a:ext cx="85725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6s</a:t>
            </a:r>
          </a:p>
        </p:txBody>
      </p:sp>
      <p:sp>
        <p:nvSpPr>
          <p:cNvPr id="21" name="s2-line-97">
            <a:extLst xmlns:a="http://schemas.openxmlformats.org/drawingml/2006/main">
              <a:ext uri="{FF2B5EF4-FFF2-40B4-BE49-F238E27FC236}">
                <a16:creationId xmlns:a16="http://schemas.microsoft.com/office/drawing/2014/main" id="{A9689A90-7659-41C1-890E-9BABD1FD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95" cy="2543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B"/>
            </a:solidFill>
            <a:prstDash val="dash"/>
          </a:ln>
        </p:spPr>
      </p:sp>
      <p:sp>
        <p:nvSpPr>
          <p:cNvPr id="22" name="s2-text-98">
            <a:extLst xmlns:a="http://schemas.openxmlformats.org/drawingml/2006/main">
              <a:ext uri="{FF2B5EF4-FFF2-40B4-BE49-F238E27FC236}">
                <a16:creationId xmlns:a16="http://schemas.microsoft.com/office/drawing/2014/main" id="{6864A598-9A16-40CB-AFEC-B49546A7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703445"/>
            <a:ext cx="85725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7s</a:t>
            </a:r>
          </a:p>
        </p:txBody>
      </p:sp>
      <p:sp>
        <p:nvSpPr>
          <p:cNvPr id="23" name="s2-line-99">
            <a:extLst xmlns:a="http://schemas.openxmlformats.org/drawingml/2006/main">
              <a:ext uri="{FF2B5EF4-FFF2-40B4-BE49-F238E27FC236}">
                <a16:creationId xmlns:a16="http://schemas.microsoft.com/office/drawing/2014/main" id="{5BB8AC42-E53A-4DC4-8601-C8623825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47875"/>
            <a:ext cx="95" cy="2543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B"/>
            </a:solidFill>
            <a:prstDash val="dash"/>
          </a:ln>
        </p:spPr>
      </p:sp>
      <p:sp>
        <p:nvSpPr>
          <p:cNvPr id="24" name="s2-text-100">
            <a:extLst xmlns:a="http://schemas.openxmlformats.org/drawingml/2006/main">
              <a:ext uri="{FF2B5EF4-FFF2-40B4-BE49-F238E27FC236}">
                <a16:creationId xmlns:a16="http://schemas.microsoft.com/office/drawing/2014/main" id="{C149EDB2-0A7B-4D4E-BAAF-39660F86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03445"/>
            <a:ext cx="85725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8s</a:t>
            </a:r>
          </a:p>
        </p:txBody>
      </p:sp>
      <p:sp>
        <p:nvSpPr>
          <p:cNvPr id="25" name="s2-line-101">
            <a:extLst xmlns:a="http://schemas.openxmlformats.org/drawingml/2006/main">
              <a:ext uri="{FF2B5EF4-FFF2-40B4-BE49-F238E27FC236}">
                <a16:creationId xmlns:a16="http://schemas.microsoft.com/office/drawing/2014/main" id="{3A62B839-4E5E-4F95-B822-0542C30F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47875"/>
            <a:ext cx="95" cy="2543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B"/>
            </a:solidFill>
            <a:prstDash val="dash"/>
          </a:ln>
        </p:spPr>
      </p:sp>
      <p:sp>
        <p:nvSpPr>
          <p:cNvPr id="26" name="s2-text-102">
            <a:extLst xmlns:a="http://schemas.openxmlformats.org/drawingml/2006/main">
              <a:ext uri="{FF2B5EF4-FFF2-40B4-BE49-F238E27FC236}">
                <a16:creationId xmlns:a16="http://schemas.microsoft.com/office/drawing/2014/main" id="{9F178A9B-5C5C-4359-9F58-7E9AA723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703445"/>
            <a:ext cx="85725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9s</a:t>
            </a:r>
          </a:p>
        </p:txBody>
      </p:sp>
      <p:sp>
        <p:nvSpPr>
          <p:cNvPr id="27" name="s2-line-103">
            <a:extLst xmlns:a="http://schemas.openxmlformats.org/drawingml/2006/main">
              <a:ext uri="{FF2B5EF4-FFF2-40B4-BE49-F238E27FC236}">
                <a16:creationId xmlns:a16="http://schemas.microsoft.com/office/drawing/2014/main" id="{18C98F3B-4D92-4FA4-AA29-F420D813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47875"/>
            <a:ext cx="95" cy="2543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B"/>
            </a:solidFill>
            <a:prstDash val="dash"/>
          </a:ln>
        </p:spPr>
      </p:sp>
      <p:sp>
        <p:nvSpPr>
          <p:cNvPr id="28" name="s2-text-104">
            <a:extLst xmlns:a="http://schemas.openxmlformats.org/drawingml/2006/main">
              <a:ext uri="{FF2B5EF4-FFF2-40B4-BE49-F238E27FC236}">
                <a16:creationId xmlns:a16="http://schemas.microsoft.com/office/drawing/2014/main" id="{83CAEB1B-BEFD-4B56-AE63-51605816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703445"/>
            <a:ext cx="85725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10s</a:t>
            </a:r>
          </a:p>
        </p:txBody>
      </p:sp>
      <p:sp>
        <p:nvSpPr>
          <p:cNvPr id="29" name="s2-text-105">
            <a:extLst xmlns:a="http://schemas.openxmlformats.org/drawingml/2006/main">
              <a:ext uri="{FF2B5EF4-FFF2-40B4-BE49-F238E27FC236}">
                <a16:creationId xmlns:a16="http://schemas.microsoft.com/office/drawing/2014/main" id="{1E7F2C23-FA8F-45AD-A9B1-0980646A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4659"/>
            <a:ext cx="8572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rPr>
              <a:t>请求 A</a:t>
            </a:r>
          </a:p>
        </p:txBody>
      </p:sp>
      <p:sp>
        <p:nvSpPr>
          <p:cNvPr id="30" name="s2-rect-106">
            <a:extLst xmlns:a="http://schemas.openxmlformats.org/drawingml/2006/main">
              <a:ext uri="{FF2B5EF4-FFF2-40B4-BE49-F238E27FC236}">
                <a16:creationId xmlns:a16="http://schemas.microsoft.com/office/drawing/2014/main" id="{8DCF73D3-5D48-49CE-B950-0ECEFCB2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42862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31" name="s2-rect-107">
            <a:extLst xmlns:a="http://schemas.openxmlformats.org/drawingml/2006/main">
              <a:ext uri="{FF2B5EF4-FFF2-40B4-BE49-F238E27FC236}">
                <a16:creationId xmlns:a16="http://schemas.microsoft.com/office/drawing/2014/main" id="{0E5926D8-65B9-4377-B793-82D5278B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190750"/>
            <a:ext cx="12858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32" name="s2-rect-108">
            <a:extLst xmlns:a="http://schemas.openxmlformats.org/drawingml/2006/main">
              <a:ext uri="{FF2B5EF4-FFF2-40B4-BE49-F238E27FC236}">
                <a16:creationId xmlns:a16="http://schemas.microsoft.com/office/drawing/2014/main" id="{F510949B-EB95-45D3-B0E4-FF3E5FAA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17145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7352BD"/>
          </a:solidFill>
          <a:ln xmlns:a="http://schemas.openxmlformats.org/drawingml/2006/main" w="0">
            <a:noFill/>
          </a:ln>
        </p:spPr>
      </p:sp>
      <p:sp>
        <p:nvSpPr>
          <p:cNvPr id="33" name="s2-circle-109">
            <a:extLst xmlns:a="http://schemas.openxmlformats.org/drawingml/2006/main">
              <a:ext uri="{FF2B5EF4-FFF2-40B4-BE49-F238E27FC236}">
                <a16:creationId xmlns:a16="http://schemas.microsoft.com/office/drawing/2014/main" id="{86896522-4CA0-493B-991F-7CD75FF8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86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352BD"/>
            </a:solidFill>
          </a:ln>
        </p:spPr>
      </p:sp>
      <p:sp>
        <p:nvSpPr>
          <p:cNvPr id="34" name="s2-circle-110">
            <a:extLst xmlns:a="http://schemas.openxmlformats.org/drawingml/2006/main">
              <a:ext uri="{FF2B5EF4-FFF2-40B4-BE49-F238E27FC236}">
                <a16:creationId xmlns:a16="http://schemas.microsoft.com/office/drawing/2014/main" id="{6E9A6D59-694B-4621-8F69-AFF155BC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86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352BD"/>
            </a:solidFill>
          </a:ln>
        </p:spPr>
      </p:sp>
      <p:sp>
        <p:nvSpPr>
          <p:cNvPr id="35" name="s2-circle-111">
            <a:extLst xmlns:a="http://schemas.openxmlformats.org/drawingml/2006/main">
              <a:ext uri="{FF2B5EF4-FFF2-40B4-BE49-F238E27FC236}">
                <a16:creationId xmlns:a16="http://schemas.microsoft.com/office/drawing/2014/main" id="{492DE753-A2AF-4248-840A-FEF7B3ED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86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352BD"/>
            </a:solidFill>
          </a:ln>
        </p:spPr>
      </p:sp>
      <p:sp>
        <p:nvSpPr>
          <p:cNvPr id="36" name="s2-text-112">
            <a:extLst xmlns:a="http://schemas.openxmlformats.org/drawingml/2006/main">
              <a:ext uri="{FF2B5EF4-FFF2-40B4-BE49-F238E27FC236}">
                <a16:creationId xmlns:a16="http://schemas.microsoft.com/office/drawing/2014/main" id="{82ED51FF-CB07-4123-8D8D-2DCCF2DD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45995"/>
            <a:ext cx="104775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✓ 3 tokens</a:t>
            </a:r>
          </a:p>
        </p:txBody>
      </p:sp>
      <p:sp>
        <p:nvSpPr>
          <p:cNvPr id="37" name="s2-text-113">
            <a:extLst xmlns:a="http://schemas.openxmlformats.org/drawingml/2006/main">
              <a:ext uri="{FF2B5EF4-FFF2-40B4-BE49-F238E27FC236}">
                <a16:creationId xmlns:a16="http://schemas.microsoft.com/office/drawing/2014/main" id="{060135AF-9ABB-4833-9211-6492678D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4259"/>
            <a:ext cx="8572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rPr>
              <a:t>请求 B</a:t>
            </a:r>
          </a:p>
        </p:txBody>
      </p:sp>
      <p:sp>
        <p:nvSpPr>
          <p:cNvPr id="38" name="s2-rect-114">
            <a:extLst xmlns:a="http://schemas.openxmlformats.org/drawingml/2006/main">
              <a:ext uri="{FF2B5EF4-FFF2-40B4-BE49-F238E27FC236}">
                <a16:creationId xmlns:a16="http://schemas.microsoft.com/office/drawing/2014/main" id="{A15EB0A1-094D-4F6C-9970-DD3C9DA2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00350"/>
            <a:ext cx="42862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39" name="s2-rect-115">
            <a:extLst xmlns:a="http://schemas.openxmlformats.org/drawingml/2006/main">
              <a:ext uri="{FF2B5EF4-FFF2-40B4-BE49-F238E27FC236}">
                <a16:creationId xmlns:a16="http://schemas.microsoft.com/office/drawing/2014/main" id="{27A17FD0-157A-4FD4-865C-129AD5F8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00350"/>
            <a:ext cx="128587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40" name="s2-rect-116">
            <a:extLst xmlns:a="http://schemas.openxmlformats.org/drawingml/2006/main">
              <a:ext uri="{FF2B5EF4-FFF2-40B4-BE49-F238E27FC236}">
                <a16:creationId xmlns:a16="http://schemas.microsoft.com/office/drawing/2014/main" id="{93158356-97D4-4884-9D37-090702DD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0350"/>
            <a:ext cx="257175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7352BD"/>
          </a:solidFill>
          <a:ln xmlns:a="http://schemas.openxmlformats.org/drawingml/2006/main" w="0">
            <a:noFill/>
          </a:ln>
        </p:spPr>
      </p:sp>
      <p:sp>
        <p:nvSpPr>
          <p:cNvPr id="41" name="s2-circle-117">
            <a:extLst xmlns:a="http://schemas.openxmlformats.org/drawingml/2006/main">
              <a:ext uri="{FF2B5EF4-FFF2-40B4-BE49-F238E27FC236}">
                <a16:creationId xmlns:a16="http://schemas.microsoft.com/office/drawing/2014/main" id="{BAE83910-F5CE-4950-8892-45B598D7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95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352BD"/>
            </a:solidFill>
          </a:ln>
        </p:spPr>
      </p:sp>
      <p:sp>
        <p:nvSpPr>
          <p:cNvPr id="42" name="s2-circle-118">
            <a:extLst xmlns:a="http://schemas.openxmlformats.org/drawingml/2006/main">
              <a:ext uri="{FF2B5EF4-FFF2-40B4-BE49-F238E27FC236}">
                <a16:creationId xmlns:a16="http://schemas.microsoft.com/office/drawing/2014/main" id="{4AEDAF27-3B0B-4627-B652-4D3C38C8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95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352BD"/>
            </a:solidFill>
          </a:ln>
        </p:spPr>
      </p:sp>
      <p:sp>
        <p:nvSpPr>
          <p:cNvPr id="43" name="s2-circle-119">
            <a:extLst xmlns:a="http://schemas.openxmlformats.org/drawingml/2006/main">
              <a:ext uri="{FF2B5EF4-FFF2-40B4-BE49-F238E27FC236}">
                <a16:creationId xmlns:a16="http://schemas.microsoft.com/office/drawing/2014/main" id="{CF9C2149-3368-4B04-AC8F-566634A3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95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352BD"/>
            </a:solidFill>
          </a:ln>
        </p:spPr>
      </p:sp>
      <p:sp>
        <p:nvSpPr>
          <p:cNvPr id="44" name="s2-circle-120">
            <a:extLst xmlns:a="http://schemas.openxmlformats.org/drawingml/2006/main">
              <a:ext uri="{FF2B5EF4-FFF2-40B4-BE49-F238E27FC236}">
                <a16:creationId xmlns:a16="http://schemas.microsoft.com/office/drawing/2014/main" id="{F48C0F16-4628-4D20-B01C-E2D26608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95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352BD"/>
            </a:solidFill>
          </a:ln>
        </p:spPr>
      </p:sp>
      <p:sp>
        <p:nvSpPr>
          <p:cNvPr id="45" name="s2-text-121">
            <a:extLst xmlns:a="http://schemas.openxmlformats.org/drawingml/2006/main">
              <a:ext uri="{FF2B5EF4-FFF2-40B4-BE49-F238E27FC236}">
                <a16:creationId xmlns:a16="http://schemas.microsoft.com/office/drawing/2014/main" id="{2097671E-5C41-4F9B-BAE7-9EC8D257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55595"/>
            <a:ext cx="104775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✓ 4 tokens</a:t>
            </a:r>
          </a:p>
        </p:txBody>
      </p:sp>
      <p:sp>
        <p:nvSpPr>
          <p:cNvPr id="46" name="s2-text-122">
            <a:extLst xmlns:a="http://schemas.openxmlformats.org/drawingml/2006/main">
              <a:ext uri="{FF2B5EF4-FFF2-40B4-BE49-F238E27FC236}">
                <a16:creationId xmlns:a16="http://schemas.microsoft.com/office/drawing/2014/main" id="{20EB0E8B-AAA4-4E19-94CE-B104A91D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3859"/>
            <a:ext cx="8572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rPr>
              <a:t>请求 C</a:t>
            </a:r>
          </a:p>
        </p:txBody>
      </p:sp>
      <p:sp>
        <p:nvSpPr>
          <p:cNvPr id="47" name="s2-rect-123">
            <a:extLst xmlns:a="http://schemas.openxmlformats.org/drawingml/2006/main">
              <a:ext uri="{FF2B5EF4-FFF2-40B4-BE49-F238E27FC236}">
                <a16:creationId xmlns:a16="http://schemas.microsoft.com/office/drawing/2014/main" id="{E6AF9ABE-DD0A-4C0A-AD4B-27490F3A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09950"/>
            <a:ext cx="42862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48" name="s2-rect-124">
            <a:extLst xmlns:a="http://schemas.openxmlformats.org/drawingml/2006/main">
              <a:ext uri="{FF2B5EF4-FFF2-40B4-BE49-F238E27FC236}">
                <a16:creationId xmlns:a16="http://schemas.microsoft.com/office/drawing/2014/main" id="{03F15455-0A2B-4649-B312-AB9232D2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409950"/>
            <a:ext cx="214312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49" name="s2-rect-125">
            <a:extLst xmlns:a="http://schemas.openxmlformats.org/drawingml/2006/main">
              <a:ext uri="{FF2B5EF4-FFF2-40B4-BE49-F238E27FC236}">
                <a16:creationId xmlns:a16="http://schemas.microsoft.com/office/drawing/2014/main" id="{414CF2E7-A3B7-4294-BA13-90630CBB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9950"/>
            <a:ext cx="257175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7352BD"/>
          </a:solidFill>
          <a:ln xmlns:a="http://schemas.openxmlformats.org/drawingml/2006/main" w="0">
            <a:noFill/>
          </a:ln>
        </p:spPr>
      </p:sp>
      <p:sp>
        <p:nvSpPr>
          <p:cNvPr id="50" name="s2-circle-126">
            <a:extLst xmlns:a="http://schemas.openxmlformats.org/drawingml/2006/main">
              <a:ext uri="{FF2B5EF4-FFF2-40B4-BE49-F238E27FC236}">
                <a16:creationId xmlns:a16="http://schemas.microsoft.com/office/drawing/2014/main" id="{038640BD-B426-41B1-9720-E41CBBFD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05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352BD"/>
            </a:solidFill>
          </a:ln>
        </p:spPr>
      </p:sp>
      <p:sp>
        <p:nvSpPr>
          <p:cNvPr id="51" name="s2-circle-127">
            <a:extLst xmlns:a="http://schemas.openxmlformats.org/drawingml/2006/main">
              <a:ext uri="{FF2B5EF4-FFF2-40B4-BE49-F238E27FC236}">
                <a16:creationId xmlns:a16="http://schemas.microsoft.com/office/drawing/2014/main" id="{FC472212-78E1-4C1B-8D73-3729102F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05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352BD"/>
            </a:solidFill>
          </a:ln>
        </p:spPr>
      </p:sp>
      <p:sp>
        <p:nvSpPr>
          <p:cNvPr id="52" name="s2-circle-128">
            <a:extLst xmlns:a="http://schemas.openxmlformats.org/drawingml/2006/main">
              <a:ext uri="{FF2B5EF4-FFF2-40B4-BE49-F238E27FC236}">
                <a16:creationId xmlns:a16="http://schemas.microsoft.com/office/drawing/2014/main" id="{E5AF0247-4614-4AC0-BAAD-5533FD99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05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352BD"/>
            </a:solidFill>
          </a:ln>
        </p:spPr>
      </p:sp>
      <p:sp>
        <p:nvSpPr>
          <p:cNvPr id="53" name="s2-circle-129">
            <a:extLst xmlns:a="http://schemas.openxmlformats.org/drawingml/2006/main">
              <a:ext uri="{FF2B5EF4-FFF2-40B4-BE49-F238E27FC236}">
                <a16:creationId xmlns:a16="http://schemas.microsoft.com/office/drawing/2014/main" id="{29CDCAD7-3273-4567-A2C6-DAC09F44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05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352BD"/>
            </a:solidFill>
          </a:ln>
        </p:spPr>
      </p:sp>
      <p:sp>
        <p:nvSpPr>
          <p:cNvPr id="54" name="s2-text-130">
            <a:extLst xmlns:a="http://schemas.openxmlformats.org/drawingml/2006/main">
              <a:ext uri="{FF2B5EF4-FFF2-40B4-BE49-F238E27FC236}">
                <a16:creationId xmlns:a16="http://schemas.microsoft.com/office/drawing/2014/main" id="{BDB1CEAA-9D22-4317-94AD-DF3B26E5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65195"/>
            <a:ext cx="104775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✓ 4 tokens</a:t>
            </a:r>
          </a:p>
        </p:txBody>
      </p:sp>
      <p:sp>
        <p:nvSpPr>
          <p:cNvPr id="55" name="s2-text-131">
            <a:extLst xmlns:a="http://schemas.openxmlformats.org/drawingml/2006/main">
              <a:ext uri="{FF2B5EF4-FFF2-40B4-BE49-F238E27FC236}">
                <a16:creationId xmlns:a16="http://schemas.microsoft.com/office/drawing/2014/main" id="{31896184-8F47-49A0-9F01-28E5B907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3459"/>
            <a:ext cx="8572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3045"/>
                </a:solidFill>
                <a:latin typeface="Microsoft YaHei"/>
                <a:ea typeface="Microsoft YaHei"/>
                <a:cs typeface="Microsoft YaHei"/>
              </a:rPr>
              <a:t>请求 D</a:t>
            </a:r>
          </a:p>
        </p:txBody>
      </p:sp>
      <p:sp>
        <p:nvSpPr>
          <p:cNvPr id="56" name="s2-rect-132">
            <a:extLst xmlns:a="http://schemas.openxmlformats.org/drawingml/2006/main">
              <a:ext uri="{FF2B5EF4-FFF2-40B4-BE49-F238E27FC236}">
                <a16:creationId xmlns:a16="http://schemas.microsoft.com/office/drawing/2014/main" id="{65A804B4-672A-4222-B4C6-4A7C2051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19550"/>
            <a:ext cx="42862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57" name="s2-rect-133">
            <a:extLst xmlns:a="http://schemas.openxmlformats.org/drawingml/2006/main">
              <a:ext uri="{FF2B5EF4-FFF2-40B4-BE49-F238E27FC236}">
                <a16:creationId xmlns:a16="http://schemas.microsoft.com/office/drawing/2014/main" id="{7E678BA5-E2AA-41EC-B26D-12FA7618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19550"/>
            <a:ext cx="428625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58" name="s2-rect-134">
            <a:extLst xmlns:a="http://schemas.openxmlformats.org/drawingml/2006/main">
              <a:ext uri="{FF2B5EF4-FFF2-40B4-BE49-F238E27FC236}">
                <a16:creationId xmlns:a16="http://schemas.microsoft.com/office/drawing/2014/main" id="{7C02C308-CC8B-42B5-B6BF-96F0F8F8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9550"/>
            <a:ext cx="17145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7352BD"/>
          </a:solidFill>
          <a:ln xmlns:a="http://schemas.openxmlformats.org/drawingml/2006/main" w="0">
            <a:noFill/>
          </a:ln>
        </p:spPr>
      </p:sp>
      <p:sp>
        <p:nvSpPr>
          <p:cNvPr id="59" name="s2-circle-135">
            <a:extLst xmlns:a="http://schemas.openxmlformats.org/drawingml/2006/main">
              <a:ext uri="{FF2B5EF4-FFF2-40B4-BE49-F238E27FC236}">
                <a16:creationId xmlns:a16="http://schemas.microsoft.com/office/drawing/2014/main" id="{A258849F-08FC-41E6-A434-1E91F75D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352BD"/>
            </a:solidFill>
          </a:ln>
        </p:spPr>
      </p:sp>
      <p:sp>
        <p:nvSpPr>
          <p:cNvPr id="60" name="s2-circle-136">
            <a:extLst xmlns:a="http://schemas.openxmlformats.org/drawingml/2006/main">
              <a:ext uri="{FF2B5EF4-FFF2-40B4-BE49-F238E27FC236}">
                <a16:creationId xmlns:a16="http://schemas.microsoft.com/office/drawing/2014/main" id="{6FBAE809-89AB-4A6C-877E-AF0E9C0A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352BD"/>
            </a:solidFill>
          </a:ln>
        </p:spPr>
      </p:sp>
      <p:sp>
        <p:nvSpPr>
          <p:cNvPr id="61" name="s2-circle-137">
            <a:extLst xmlns:a="http://schemas.openxmlformats.org/drawingml/2006/main">
              <a:ext uri="{FF2B5EF4-FFF2-40B4-BE49-F238E27FC236}">
                <a16:creationId xmlns:a16="http://schemas.microsoft.com/office/drawing/2014/main" id="{A14FD590-69E8-43EB-9656-63BA3772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352BD"/>
            </a:solidFill>
          </a:ln>
        </p:spPr>
      </p:sp>
      <p:sp>
        <p:nvSpPr>
          <p:cNvPr id="62" name="s2-text-138">
            <a:extLst xmlns:a="http://schemas.openxmlformats.org/drawingml/2006/main">
              <a:ext uri="{FF2B5EF4-FFF2-40B4-BE49-F238E27FC236}">
                <a16:creationId xmlns:a16="http://schemas.microsoft.com/office/drawing/2014/main" id="{D8C4F1BF-1630-4453-A878-648579C1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74795"/>
            <a:ext cx="1047750" cy="24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✓ 3 tokens</a:t>
            </a:r>
          </a:p>
        </p:txBody>
      </p:sp>
      <p:sp>
        <p:nvSpPr>
          <p:cNvPr id="63" name="s2-line-139">
            <a:extLst xmlns:a="http://schemas.openxmlformats.org/drawingml/2006/main">
              <a:ext uri="{FF2B5EF4-FFF2-40B4-BE49-F238E27FC236}">
                <a16:creationId xmlns:a16="http://schemas.microsoft.com/office/drawing/2014/main" id="{9D728340-B723-4F00-BAE4-B3A0655E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81200"/>
            <a:ext cx="95" cy="2619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36A0C"/>
            </a:solidFill>
            <a:prstDash val="dash"/>
          </a:ln>
        </p:spPr>
      </p:sp>
      <p:sp>
        <p:nvSpPr>
          <p:cNvPr id="64" name="s2-text-140">
            <a:extLst xmlns:a="http://schemas.openxmlformats.org/drawingml/2006/main">
              <a:ext uri="{FF2B5EF4-FFF2-40B4-BE49-F238E27FC236}">
                <a16:creationId xmlns:a16="http://schemas.microsoft.com/office/drawing/2014/main" id="{76E828CC-164F-469E-9E51-9938DFFD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959483"/>
            <a:ext cx="101346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6A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36A0C"/>
                </a:solidFill>
                <a:latin typeface="Microsoft YaHei"/>
                <a:ea typeface="Microsoft YaHei"/>
                <a:cs typeface="Microsoft YaHei"/>
              </a:rPr>
              <a:t>t = 3.5 s</a:t>
            </a:r>
          </a:p>
        </p:txBody>
      </p:sp>
      <p:sp>
        <p:nvSpPr>
          <p:cNvPr id="65" name="s2-text-141">
            <a:extLst xmlns:a="http://schemas.openxmlformats.org/drawingml/2006/main">
              <a:ext uri="{FF2B5EF4-FFF2-40B4-BE49-F238E27FC236}">
                <a16:creationId xmlns:a16="http://schemas.microsoft.com/office/drawing/2014/main" id="{F85A6B15-A385-4027-BCDB-CDD45074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3208"/>
            <a:ext cx="957834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68A"/>
                </a:solidFill>
                <a:latin typeface="Microsoft YaHei"/>
                <a:ea typeface="Microsoft YaHei"/>
                <a:cs typeface="Microsoft YaHei"/>
              </a:rPr>
              <a:t>● 白点 = 输出 token（含首 token）    ✓ = 请求完成    灰 = 接入/排队    青 = Prefill 至首 token    紫 = 后续输出</a:t>
            </a:r>
          </a:p>
        </p:txBody>
      </p:sp>
    </p:spTree>
    <p:extLst>
      <p:ext uri="{BB962C8B-B14F-4D97-AF65-F5344CB8AC3E}">
        <p14:creationId xmlns:p14="http://schemas.microsoft.com/office/powerpoint/2010/main" val="13298392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2026-09-12T04:18:39.5390000Z</dcterms:created>
  <dcterms:modified xsi:type="dcterms:W3CDTF">2026-09-12T04:18:39.5390000Z</dcterms:modified>
</coreProperties>
</file>