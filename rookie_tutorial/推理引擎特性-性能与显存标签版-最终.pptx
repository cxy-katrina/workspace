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e93342235e40c0" /><Relationship Type="http://schemas.openxmlformats.org/officeDocument/2006/relationships/extended-properties" Target="/docProps/app.xml" Id="Rb08cc52762b64eb4" /><Relationship Type="http://schemas.openxmlformats.org/officeDocument/2006/relationships/officeDocument" Target="/ppt/presentation.xml" Id="R1a0154ac213e4b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0467fd358a4335"/>
  </p:sldMasterIdLst>
  <p:notesMasterIdLst>
    <p:notesMasterId xmlns:r="http://schemas.openxmlformats.org/officeDocument/2006/relationships" r:id="R23ed71dae0f3458e"/>
  </p:notesMasterIdLst>
  <p:sldIdLst>
    <p:sldId xmlns:r="http://schemas.openxmlformats.org/officeDocument/2006/relationships" id="256" r:id="Rc1b2498f8c414f3e"/>
    <p:sldId xmlns:r="http://schemas.openxmlformats.org/officeDocument/2006/relationships" id="257" r:id="R42926c71d2264a89"/>
    <p:sldId xmlns:r="http://schemas.openxmlformats.org/officeDocument/2006/relationships" id="258" r:id="R9dd21432af9d4ebd"/>
    <p:sldId xmlns:r="http://schemas.openxmlformats.org/officeDocument/2006/relationships" id="259" r:id="R7270d8e34d5b474a"/>
    <p:sldId xmlns:r="http://schemas.openxmlformats.org/officeDocument/2006/relationships" id="260" r:id="R0b7e4471e57c4cbd"/>
    <p:sldId xmlns:r="http://schemas.openxmlformats.org/officeDocument/2006/relationships" id="261" r:id="Redd4259dd0c74fd4"/>
    <p:sldId xmlns:r="http://schemas.openxmlformats.org/officeDocument/2006/relationships" id="262" r:id="R1549829479f049a6"/>
    <p:sldId xmlns:r="http://schemas.openxmlformats.org/officeDocument/2006/relationships" id="263" r:id="Rce58b49f7f524ada"/>
    <p:sldId xmlns:r="http://schemas.openxmlformats.org/officeDocument/2006/relationships" id="264" r:id="Rc862fbb9c5f84add"/>
    <p:sldId xmlns:r="http://schemas.openxmlformats.org/officeDocument/2006/relationships" id="265" r:id="R169978ed4ad64345"/>
    <p:sldId xmlns:r="http://schemas.openxmlformats.org/officeDocument/2006/relationships" id="266" r:id="R5666eb71436049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b76fc808a64e48" /><Relationship Type="http://schemas.openxmlformats.org/officeDocument/2006/relationships/slideMaster" Target="/ppt/slideMasters/slideMaster1.xml" Id="R9e0467fd358a4335" /><Relationship Type="http://schemas.openxmlformats.org/officeDocument/2006/relationships/notesMaster" Target="/ppt/notesMasters/notesMaster1.xml" Id="R23ed71dae0f3458e" /><Relationship Type="http://schemas.openxmlformats.org/officeDocument/2006/relationships/presProps" Target="/ppt/presProps.xml" Id="Re8e62bf3b3c54922" /><Relationship Type="http://schemas.openxmlformats.org/officeDocument/2006/relationships/tableStyles" Target="/ppt/tableStyles.xml" Id="Rcc5a8a242f694113" /><Relationship Type="http://schemas.openxmlformats.org/officeDocument/2006/relationships/slide" Target="/ppt/slides/slide1.xml" Id="Rc1b2498f8c414f3e" /><Relationship Type="http://schemas.openxmlformats.org/officeDocument/2006/relationships/slide" Target="/ppt/slides/slide2.xml" Id="R42926c71d2264a89" /><Relationship Type="http://schemas.openxmlformats.org/officeDocument/2006/relationships/slide" Target="/ppt/slides/slide3.xml" Id="R9dd21432af9d4ebd" /><Relationship Type="http://schemas.openxmlformats.org/officeDocument/2006/relationships/slide" Target="/ppt/slides/slide4.xml" Id="R7270d8e34d5b474a" /><Relationship Type="http://schemas.openxmlformats.org/officeDocument/2006/relationships/slide" Target="/ppt/slides/slide5.xml" Id="R0b7e4471e57c4cbd" /><Relationship Type="http://schemas.openxmlformats.org/officeDocument/2006/relationships/slide" Target="/ppt/slides/slide6.xml" Id="Redd4259dd0c74fd4" /><Relationship Type="http://schemas.openxmlformats.org/officeDocument/2006/relationships/slide" Target="/ppt/slides/slide7.xml" Id="R1549829479f049a6" /><Relationship Type="http://schemas.openxmlformats.org/officeDocument/2006/relationships/slide" Target="/ppt/slides/slide8.xml" Id="Rce58b49f7f524ada" /><Relationship Type="http://schemas.openxmlformats.org/officeDocument/2006/relationships/slide" Target="/ppt/slides/slide9.xml" Id="Rc862fbb9c5f84add" /><Relationship Type="http://schemas.openxmlformats.org/officeDocument/2006/relationships/slide" Target="/ppt/slides/slide10.xml" Id="R169978ed4ad64345" /><Relationship Type="http://schemas.openxmlformats.org/officeDocument/2006/relationships/slide" Target="/ppt/slides/slide11.xml" Id="R5666eb71436049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46c9774f5b47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049725d81b4b30" /><Relationship Type="http://schemas.openxmlformats.org/officeDocument/2006/relationships/notesMaster" Target="/ppt/notesMasters/notesMaster1.xml" Id="Rbc55c310565d4e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c71410ba8c4831" /><Relationship Type="http://schemas.openxmlformats.org/officeDocument/2006/relationships/notesMaster" Target="/ppt/notesMasters/notesMaster1.xml" Id="R92555849940c4b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3904f978d8491f" /><Relationship Type="http://schemas.openxmlformats.org/officeDocument/2006/relationships/notesMaster" Target="/ppt/notesMasters/notesMaster1.xml" Id="Rb3a78bc064304d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4a743869f44d24" /><Relationship Type="http://schemas.openxmlformats.org/officeDocument/2006/relationships/notesMaster" Target="/ppt/notesMasters/notesMaster1.xml" Id="Rc24362c8fbd144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e201e7c8bc4fc6" /><Relationship Type="http://schemas.openxmlformats.org/officeDocument/2006/relationships/notesMaster" Target="/ppt/notesMasters/notesMaster1.xml" Id="R24ba735a401048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fa6fc5ea8f47f0" /><Relationship Type="http://schemas.openxmlformats.org/officeDocument/2006/relationships/notesMaster" Target="/ppt/notesMasters/notesMaster1.xml" Id="Ra7d89f6010b047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09f45a6af34ac0" /><Relationship Type="http://schemas.openxmlformats.org/officeDocument/2006/relationships/notesMaster" Target="/ppt/notesMasters/notesMaster1.xml" Id="Ra556e29e4e7949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46ad7573284994" /><Relationship Type="http://schemas.openxmlformats.org/officeDocument/2006/relationships/notesMaster" Target="/ppt/notesMasters/notesMaster1.xml" Id="Rb68a26c2003f49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80acf009984aae" /><Relationship Type="http://schemas.openxmlformats.org/officeDocument/2006/relationships/notesMaster" Target="/ppt/notesMasters/notesMaster1.xml" Id="Ra94325d752a247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0f28f759dd4aa8" /><Relationship Type="http://schemas.openxmlformats.org/officeDocument/2006/relationships/notesMaster" Target="/ppt/notesMasters/notesMaster1.xml" Id="Rdb7918943c6a4b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0b2a6415484e2c" /><Relationship Type="http://schemas.openxmlformats.org/officeDocument/2006/relationships/notesMaster" Target="/ppt/notesMasters/notesMaster1.xml" Id="R77baaad8877544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https://docs.vllm.ai/en/stable/</a:t>
            </a:r>
          </a:p>
          <a:p xmlns:a="http://schemas.openxmlformats.org/drawingml/2006/main">
            <a:r>
              <a:t>https://docs.vllm.ai/projects/vllm-ascend-cn/zh-cn/latest/user_guide/feature_guide/../support_matrix/feature_matrix.html</a:t>
            </a:r>
          </a:p>
          <a:p xmlns:a="http://schemas.openxmlformats.org/drawingml/2006/main">
            <a:r>
              <a:t>箭头表示对应指标的数值方向，不表示固定加速倍数。容量不等于达标吞吐。显存包括 NPU 设备内存。全部内容基于前一轮已查阅的官方文档和机制论文。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连续批处理</a:t>
            </a:r>
          </a:p>
          <a:p xmlns:a="http://schemas.openxmlformats.org/drawingml/2006/main">
            <a:r>
              <a:t>https://docs.vllm.ai/en/stable/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分页 KV 管理</a:t>
            </a:r>
          </a:p>
          <a:p xmlns:a="http://schemas.openxmlformats.org/drawingml/2006/main">
            <a:r>
              <a:t>https://arxiv.org/abs/2309.06180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https://docs.vllm.ai/en/stable/</a:t>
            </a:r>
          </a:p>
          <a:p xmlns:a="http://schemas.openxmlformats.org/drawingml/2006/main">
            <a:r>
              <a:t>收益是机制归纳，不是固定加速承诺。* 表示需要满足正文条件。Ascend 支持依赖版本、模型、硬件和特性组合。图模式 Ascend 来源：https://docs.vllm.ai/projects/ascend/zh-cn/v0.23.0/user_guide/feature_guide/graph_mode.html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分块预填充</a:t>
            </a:r>
          </a:p>
          <a:p xmlns:a="http://schemas.openxmlformats.org/drawingml/2006/main">
            <a:r>
              <a:t>https://docs.vllm.ai/en/stable/configuration/optimization/#chunked-prefill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自动前缀缓存</a:t>
            </a:r>
          </a:p>
          <a:p xmlns:a="http://schemas.openxmlformats.org/drawingml/2006/main">
            <a:r>
              <a:t>https://docs.vllm.ai/en/stable/features/automatic_prefix_caching/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https://docs.vllm.ai/en/stable/</a:t>
            </a:r>
          </a:p>
          <a:p xmlns:a="http://schemas.openxmlformats.org/drawingml/2006/main">
            <a:r>
              <a:t>收益是机制归纳，不是固定加速承诺。* 表示需要满足正文条件。Ascend 支持依赖版本、模型、硬件和特性组合。图模式 Ascend 来源：https://docs.vllm.ai/projects/ascend/zh-cn/v0.23.0/user_guide/feature_guide/graph_mode.html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高效注意力</a:t>
            </a:r>
          </a:p>
          <a:p xmlns:a="http://schemas.openxmlformats.org/drawingml/2006/main">
            <a:r>
              <a:t>https://arxiv.org/abs/2205.14135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图模式执行</a:t>
            </a:r>
          </a:p>
          <a:p xmlns:a="http://schemas.openxmlformats.org/drawingml/2006/main">
            <a:r>
              <a:t>https://docs.vllm.ai/en/stable/configuration/conserving_memory/#reduce-cuda-graphs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https://docs.vllm.ai/en/stable/</a:t>
            </a:r>
          </a:p>
          <a:p xmlns:a="http://schemas.openxmlformats.org/drawingml/2006/main">
            <a:r>
              <a:t>收益是机制归纳，不是固定加速承诺。* 表示需要满足正文条件。Ascend 支持依赖版本、模型、硬件和特性组合。图模式 Ascend 来源：https://docs.vllm.ai/projects/ascend/zh-cn/v0.23.0/user_guide/feature_guide/graph_mode.html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推测解码</a:t>
            </a:r>
          </a:p>
          <a:p xmlns:a="http://schemas.openxmlformats.org/drawingml/2006/main">
            <a:r>
              <a:t>https://docs.vllm.ai/projects/vllm-ascend-cn/zh-cn/latest/user_guide/feature_guide/speculative_decoding.html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权重／激活量化</a:t>
            </a:r>
          </a:p>
          <a:p xmlns:a="http://schemas.openxmlformats.org/drawingml/2006/main">
            <a:r>
              <a:t>https://docs.vllm.ai/projects/vllm-ascend-cn/zh-cn/latest/user_guide/feature_guide/quantization.html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https://docs.vllm.ai/en/stable/</a:t>
            </a:r>
          </a:p>
          <a:p xmlns:a="http://schemas.openxmlformats.org/drawingml/2006/main">
            <a:r>
              <a:t>收益是机制归纳，不是固定加速承诺。* 表示需要满足正文条件。Ascend 支持依赖版本、模型、硬件和特性组合。图模式 Ascend 来源：https://docs.vllm.ai/projects/ascend/zh-cn/v0.23.0/user_guide/feature_guide/graph_mode.html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KV Cache 量化</a:t>
            </a:r>
          </a:p>
          <a:p xmlns:a="http://schemas.openxmlformats.org/drawingml/2006/main">
            <a:r>
              <a:t>https://docs.vllm.ai/en/stable/features/quantization/quantized_kvcache/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KV CPU 卸载</a:t>
            </a:r>
          </a:p>
          <a:p xmlns:a="http://schemas.openxmlformats.org/drawingml/2006/main">
            <a:r>
              <a:t>https://docs.vllm.ai/projects/vllm-ascend-cn/zh-cn/latest/user_guide/feature_guide/kv_cache_cpu_offload.html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https://docs.vllm.ai/en/stable/</a:t>
            </a:r>
          </a:p>
          <a:p xmlns:a="http://schemas.openxmlformats.org/drawingml/2006/main">
            <a:r>
              <a:t>收益是机制归纳，不是固定加速承诺。* 表示需要满足正文条件。Ascend 支持依赖版本、模型、硬件和特性组合。图模式 Ascend 来源：https://docs.vllm.ai/projects/ascend/zh-cn/v0.23.0/user_guide/feature_guide/graph_mode.html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张量并行</a:t>
            </a:r>
          </a:p>
          <a:p xmlns:a="http://schemas.openxmlformats.org/drawingml/2006/main">
            <a:r>
              <a:t>https://docs.vllm.ai/en/stable/serving/parallelism_scaling/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流水线并行</a:t>
            </a:r>
          </a:p>
          <a:p xmlns:a="http://schemas.openxmlformats.org/drawingml/2006/main">
            <a:r>
              <a:t>https://docs.vllm.ai/en/stable/serving/parallelism_scaling/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https://docs.vllm.ai/en/stable/</a:t>
            </a:r>
          </a:p>
          <a:p xmlns:a="http://schemas.openxmlformats.org/drawingml/2006/main">
            <a:r>
              <a:t>收益是机制归纳，不是固定加速承诺。* 表示需要满足正文条件。Ascend 支持依赖版本、模型、硬件和特性组合。图模式 Ascend 来源：https://docs.vllm.ai/projects/ascend/zh-cn/v0.23.0/user_guide/feature_guide/graph_mode.html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数据并行</a:t>
            </a:r>
          </a:p>
          <a:p xmlns:a="http://schemas.openxmlformats.org/drawingml/2006/main">
            <a:r>
              <a:t>https://docs.vllm.ai/en/stable/configuration/optimization/#data-parallelism-dp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专家并行</a:t>
            </a:r>
          </a:p>
          <a:p xmlns:a="http://schemas.openxmlformats.org/drawingml/2006/main">
            <a:r>
              <a:t>https://docs.vllm.ai/en/stable/configuration/optimization/#expert-parallelism-ep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https://docs.vllm.ai/en/stable/</a:t>
            </a:r>
          </a:p>
          <a:p xmlns:a="http://schemas.openxmlformats.org/drawingml/2006/main">
            <a:r>
              <a:t>收益是机制归纳，不是固定加速承诺。* 表示需要满足正文条件。Ascend 支持依赖版本、模型、硬件和特性组合。图模式 Ascend 来源：https://docs.vllm.ai/projects/ascend/zh-cn/v0.23.0/user_guide/feature_guide/graph_mode.html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专家负载均衡</a:t>
            </a:r>
          </a:p>
          <a:p xmlns:a="http://schemas.openxmlformats.org/drawingml/2006/main">
            <a:r>
              <a:t>https://docs.vllm.ai/projects/vllm-ascend-cn/zh-cn/latest/user_guide/feature_guide/expert_parallelism_load_balancer.html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Prefill 上下文并行</a:t>
            </a:r>
          </a:p>
          <a:p xmlns:a="http://schemas.openxmlformats.org/drawingml/2006/main">
            <a:r>
              <a:t>https://docs.vllm.ai/projects/vllm-ascend-cn/zh-cn/latest/user_guide/feature_guide/context_parallel.html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https://docs.vllm.ai/en/stable/</a:t>
            </a:r>
          </a:p>
          <a:p xmlns:a="http://schemas.openxmlformats.org/drawingml/2006/main">
            <a:r>
              <a:t>收益是机制归纳，不是固定加速承诺。* 表示需要满足正文条件。Ascend 支持依赖版本、模型、硬件和特性组合。图模式 Ascend 来源：https://docs.vllm.ai/projects/ascend/zh-cn/v0.23.0/user_guide/feature_guide/graph_mode.html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Decode 上下文并行</a:t>
            </a:r>
          </a:p>
          <a:p xmlns:a="http://schemas.openxmlformats.org/drawingml/2006/main">
            <a:r>
              <a:t>https://docs.vllm.ai/projects/vllm-ascend-cn/zh-cn/latest/user_guide/feature_guide/context_parallel.html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序列并行与融合</a:t>
            </a:r>
          </a:p>
          <a:p xmlns:a="http://schemas.openxmlformats.org/drawingml/2006/main">
            <a:r>
              <a:t>https://docs.vllm.ai/projects/vllm-ascend-cn/zh-cn/latest/user_guide/feature_guide/sequence_parallelism.html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https://docs.vllm.ai/en/stable/</a:t>
            </a:r>
          </a:p>
          <a:p xmlns:a="http://schemas.openxmlformats.org/drawingml/2006/main">
            <a:r>
              <a:t>收益是机制归纳，不是固定加速承诺。* 表示需要满足正文条件。Ascend 支持依赖版本、模型、硬件和特性组合。图模式 Ascend 来源：https://docs.vllm.ai/projects/ascend/zh-cn/v0.23.0/user_guide/feature_guide/graph_mode.html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Prefill / Decode 分离</a:t>
            </a:r>
          </a:p>
          <a:p xmlns:a="http://schemas.openxmlformats.org/drawingml/2006/main">
            <a:r>
              <a:t>https://docs.vllm.ai/en/stable/features/disagg_prefill/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多 LoRA 服务</a:t>
            </a:r>
          </a:p>
          <a:p xmlns:a="http://schemas.openxmlformats.org/drawingml/2006/main">
            <a:r>
              <a:t>https://docs.vllm.ai/en/stable/features/lora/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https://docs.vllm.ai/en/stable/</a:t>
            </a:r>
          </a:p>
          <a:p xmlns:a="http://schemas.openxmlformats.org/drawingml/2006/main">
            <a:r>
              <a:t>收益是机制归纳，不是固定加速承诺。* 表示需要满足正文条件。Ascend 支持依赖版本、模型、硬件和特性组合。图模式 Ascend 来源：https://docs.vllm.ai/projects/ascend/zh-cn/v0.23.0/user_guide/feature_guide/graph_mode.html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18084d659f46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e162b0659c4c36" /><Relationship Type="http://schemas.openxmlformats.org/officeDocument/2006/relationships/slideLayout" Target="/ppt/slideLayouts/slideLayout1.xml" Id="R30aacf15ffe347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aacf15ffe347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d4461cbd94b59" /><Relationship Type="http://schemas.openxmlformats.org/officeDocument/2006/relationships/notesSlide" Target="/ppt/notesSlides/notesSlide1.xml" Id="R4b88d23d09344d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6937838ff4d56" /><Relationship Type="http://schemas.openxmlformats.org/officeDocument/2006/relationships/notesSlide" Target="/ppt/notesSlides/notesSlide2.xml" Id="R1cb24b49c5c241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29c3041d64140" /><Relationship Type="http://schemas.openxmlformats.org/officeDocument/2006/relationships/notesSlide" Target="/ppt/notesSlides/notesSlide3.xml" Id="Rcb4ced2328f940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2a0a9aea34e52" /><Relationship Type="http://schemas.openxmlformats.org/officeDocument/2006/relationships/notesSlide" Target="/ppt/notesSlides/notesSlide4.xml" Id="Rfd2ef452786d4c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048b8733c42fd" /><Relationship Type="http://schemas.openxmlformats.org/officeDocument/2006/relationships/notesSlide" Target="/ppt/notesSlides/notesSlide5.xml" Id="R281faf0e041b42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de95676ef46f4" /><Relationship Type="http://schemas.openxmlformats.org/officeDocument/2006/relationships/notesSlide" Target="/ppt/notesSlides/notesSlide6.xml" Id="R3867ab3cc6184d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a2cb314b34de5" /><Relationship Type="http://schemas.openxmlformats.org/officeDocument/2006/relationships/notesSlide" Target="/ppt/notesSlides/notesSlide7.xml" Id="R7d0e7024755b4b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44fb8383c4805" /><Relationship Type="http://schemas.openxmlformats.org/officeDocument/2006/relationships/notesSlide" Target="/ppt/notesSlides/notesSlide8.xml" Id="R139e23b86bcb4d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91788de514ff2" /><Relationship Type="http://schemas.openxmlformats.org/officeDocument/2006/relationships/notesSlide" Target="/ppt/notesSlides/notesSlide9.xml" Id="R9909e17ac0a945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2d6d504444407" /><Relationship Type="http://schemas.openxmlformats.org/officeDocument/2006/relationships/notesSlide" Target="/ppt/notesSlides/notesSlide10.xml" Id="R01ed1a3f2c904c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6b7dd99864516" /><Relationship Type="http://schemas.openxmlformats.org/officeDocument/2006/relationships/notesSlide" Target="/ppt/notesSlides/notesSlide11.xml" Id="Re8b5bb6aa03849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">
            <a:extLst xmlns:a="http://schemas.openxmlformats.org/drawingml/2006/main">
              <a:ext uri="{FF2B5EF4-FFF2-40B4-BE49-F238E27FC236}">
                <a16:creationId xmlns:a16="http://schemas.microsoft.com/office/drawing/2014/main" id="{CAD956BD-3B0F-4D2F-8D45-A746F3D9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推理引擎的加速工具箱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3E2BCCD-9283-4F0F-A2A0-1E0707D9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38225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回答怎样更快？同一套资源怎样服务更多用户？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29075B7A-5EC8-4E77-87B3-0463C853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vLLM / vLLM Ascend    机制归纳，实际收益需按模型、硬件与负载验证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C0C22A4-EBCF-4B1C-8867-CD665762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01 / 11</a:t>
            </a:r>
          </a:p>
        </p:txBody>
      </p:sp>
      <p:sp>
        <p:nvSpPr>
          <p:cNvPr id="5" name="tag-5">
            <a:extLst xmlns:a="http://schemas.openxmlformats.org/drawingml/2006/main">
              <a:ext uri="{FF2B5EF4-FFF2-40B4-BE49-F238E27FC236}">
                <a16:creationId xmlns:a16="http://schemas.microsoft.com/office/drawing/2014/main" id="{AB28A22E-85CC-4C7E-B357-F6B93926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2333625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低时延 ↓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53A73D95-28E4-405C-A539-AB5DC5ED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33550"/>
            <a:ext cx="8001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TTFT：首 token 等待</a:t>
            </a:r>
          </a:p>
          <a:p xmlns:a="http://schemas.openxmlformats.org/drawingml/2006/main">
            <a:pPr>
              <a:defRPr sz="187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TPOT / ITL：后续输出速度与间隔</a:t>
            </a:r>
          </a:p>
        </p:txBody>
      </p:sp>
      <p:sp>
        <p:nvSpPr>
          <p:cNvPr id="7" name="tag-7">
            <a:extLst xmlns:a="http://schemas.openxmlformats.org/drawingml/2006/main">
              <a:ext uri="{FF2B5EF4-FFF2-40B4-BE49-F238E27FC236}">
                <a16:creationId xmlns:a16="http://schemas.microsoft.com/office/drawing/2014/main" id="{5242974F-DEF3-4BE7-8129-15F0C5CF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2333625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863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 ↑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AA5333AA-A865-4AD8-8F5A-5FA14051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95575"/>
            <a:ext cx="8001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系统 QPS / TPS 提升</a:t>
            </a:r>
          </a:p>
          <a:p xmlns:a="http://schemas.openxmlformats.org/drawingml/2006/main">
            <a:pPr>
              <a:defRPr sz="187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比较时保持负载与时延要求一致</a:t>
            </a:r>
          </a:p>
        </p:txBody>
      </p:sp>
      <p:sp>
        <p:nvSpPr>
          <p:cNvPr id="9" name="tag-9">
            <a:extLst xmlns:a="http://schemas.openxmlformats.org/drawingml/2006/main">
              <a:ext uri="{FF2B5EF4-FFF2-40B4-BE49-F238E27FC236}">
                <a16:creationId xmlns:a16="http://schemas.microsoft.com/office/drawing/2014/main" id="{E398D304-5743-447D-A7A0-AA687C03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2333625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6764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显存占用 ↓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039ED7DD-B395-4E92-9C09-6AA68115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657600"/>
            <a:ext cx="8001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标明节省对象：权重、KV 或激活</a:t>
            </a:r>
          </a:p>
          <a:p xmlns:a="http://schemas.openxmlformats.org/drawingml/2006/main">
            <a:pPr>
              <a:defRPr sz="187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“单卡减少”不等于“集群总量减少”</a:t>
            </a:r>
          </a:p>
        </p:txBody>
      </p:sp>
      <p:sp>
        <p:nvSpPr>
          <p:cNvPr id="11" name="tag-11">
            <a:extLst xmlns:a="http://schemas.openxmlformats.org/drawingml/2006/main">
              <a:ext uri="{FF2B5EF4-FFF2-40B4-BE49-F238E27FC236}">
                <a16:creationId xmlns:a16="http://schemas.microsoft.com/office/drawing/2014/main" id="{A79BE7DD-4F5D-480F-AB03-B83F81CF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2333625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A76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额外显存 ↑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A845CA6F-3CAA-48EA-BDED-2D160052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19625"/>
            <a:ext cx="8001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为加速增加权重或缓冲</a:t>
            </a:r>
          </a:p>
          <a:p xmlns:a="http://schemas.openxmlformats.org/drawingml/2006/main">
            <a:pPr>
              <a:defRPr sz="187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箭头向上在这里表示资源代价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36DBBD1F-8846-45D1-97A8-157DCF87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↔ 无直接节省     * 有条件的收益或代价，具体条件写在标签下方</a:t>
            </a:r>
          </a:p>
        </p:txBody>
      </p:sp>
    </p:spTree>
    <p:extLst>
      <p:ext uri="{BB962C8B-B14F-4D97-AF65-F5344CB8AC3E}">
        <p14:creationId xmlns:p14="http://schemas.microsoft.com/office/powerpoint/2010/main" val="2353019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3F2514D8-B8A4-432F-B027-D1F8A2A1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批处理与 KV 管理</a:t>
            </a:r>
          </a:p>
        </p:txBody>
      </p:sp>
      <p:sp>
        <p:nvSpPr>
          <p:cNvPr id="2" name="text-15">
            <a:extLst xmlns:a="http://schemas.openxmlformats.org/drawingml/2006/main">
              <a:ext uri="{FF2B5EF4-FFF2-40B4-BE49-F238E27FC236}">
                <a16:creationId xmlns:a16="http://schemas.microsoft.com/office/drawing/2014/main" id="{7DE40F1A-BF1E-4295-B7C8-37AE2E62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38225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特性含义、性能收益和显存变化</a:t>
            </a:r>
          </a:p>
        </p:txBody>
      </p:sp>
      <p:sp>
        <p:nvSpPr>
          <p:cNvPr id="3" name="text-16">
            <a:extLst xmlns:a="http://schemas.openxmlformats.org/drawingml/2006/main">
              <a:ext uri="{FF2B5EF4-FFF2-40B4-BE49-F238E27FC236}">
                <a16:creationId xmlns:a16="http://schemas.microsoft.com/office/drawing/2014/main" id="{CDF1B6FC-54A5-4463-8BF0-3DC2A1F0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vLLM / vLLM Ascend    机制归纳，实际收益需按模型、硬件与负载验证</a:t>
            </a:r>
          </a:p>
        </p:txBody>
      </p:sp>
      <p:sp>
        <p:nvSpPr>
          <p:cNvPr id="4" name="text-17">
            <a:extLst xmlns:a="http://schemas.openxmlformats.org/drawingml/2006/main">
              <a:ext uri="{FF2B5EF4-FFF2-40B4-BE49-F238E27FC236}">
                <a16:creationId xmlns:a16="http://schemas.microsoft.com/office/drawing/2014/main" id="{BD9A04FB-965A-407B-8179-30D77809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02 / 11</a:t>
            </a:r>
          </a:p>
        </p:txBody>
      </p:sp>
      <p:sp>
        <p:nvSpPr>
          <p:cNvPr id="5" name="text-18">
            <a:extLst xmlns:a="http://schemas.openxmlformats.org/drawingml/2006/main">
              <a:ext uri="{FF2B5EF4-FFF2-40B4-BE49-F238E27FC236}">
                <a16:creationId xmlns:a16="http://schemas.microsoft.com/office/drawing/2014/main" id="{83219DA3-8E69-4F46-B1B7-DC8D553D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特性名称</a:t>
            </a:r>
          </a:p>
        </p:txBody>
      </p:sp>
      <p:sp>
        <p:nvSpPr>
          <p:cNvPr id="6" name="text-19">
            <a:extLst xmlns:a="http://schemas.openxmlformats.org/drawingml/2006/main">
              <a:ext uri="{FF2B5EF4-FFF2-40B4-BE49-F238E27FC236}">
                <a16:creationId xmlns:a16="http://schemas.microsoft.com/office/drawing/2014/main" id="{1A01AAD5-3E14-4D17-A990-E986979C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478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含义解释</a:t>
            </a:r>
          </a:p>
        </p:txBody>
      </p:sp>
      <p:sp>
        <p:nvSpPr>
          <p:cNvPr id="7" name="text-20">
            <a:extLst xmlns:a="http://schemas.openxmlformats.org/drawingml/2006/main">
              <a:ext uri="{FF2B5EF4-FFF2-40B4-BE49-F238E27FC236}">
                <a16:creationId xmlns:a16="http://schemas.microsoft.com/office/drawing/2014/main" id="{0196E682-1F0D-4E61-82A2-698EF9F3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478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性能收益</a:t>
            </a:r>
          </a:p>
        </p:txBody>
      </p:sp>
      <p:sp>
        <p:nvSpPr>
          <p:cNvPr id="8" name="text-21">
            <a:extLst xmlns:a="http://schemas.openxmlformats.org/drawingml/2006/main">
              <a:ext uri="{FF2B5EF4-FFF2-40B4-BE49-F238E27FC236}">
                <a16:creationId xmlns:a16="http://schemas.microsoft.com/office/drawing/2014/main" id="{9572CAF0-415A-4D2F-85CA-296AF50F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4782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显存收益与代价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71500" y="2171700"/>
          <a:ext xmlns:a="http://schemas.openxmlformats.org/drawingml/2006/main" cx="11049000" cy="18669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00250"/>
                <a:gridCol w="2857500"/>
                <a:gridCol w="3143250"/>
                <a:gridCol w="3048000"/>
              </a:tblGrid>
              <a:tr h="186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连续批处理</a:t>
                      </a:r>
                    </a:p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Continuous Batching</a:t>
                      </a:r>
                    </a:p>
                  </a:txBody>
                  <a:tcPr marL="133350" marR="133350" marT="180975" marB="114300">
                    <a:lnL w="9525">
                      <a:solidFill>
                        <a:srgbClr val="DCE4EA"/>
                      </a:solidFill>
                    </a:lnL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每轮动态调整 batch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完成的请求退出，新请求加入，不必等整批结束</a:t>
                      </a:r>
                    </a:p>
                  </a:txBody>
                  <a:tcPr marL="133350" marR="133350" marT="18097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减少设备空闲，服务更多请求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扩大 batch 不保证单请求更快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不压缩权重或 KV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同时运行的请求增加时，KV 总占用通常上升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10" name="tag-22">
            <a:extLst xmlns:a="http://schemas.openxmlformats.org/drawingml/2006/main">
              <a:ext uri="{FF2B5EF4-FFF2-40B4-BE49-F238E27FC236}">
                <a16:creationId xmlns:a16="http://schemas.microsoft.com/office/drawing/2014/main" id="{7F774FCC-D030-4709-B9EA-65DBFBAF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95525"/>
            <a:ext cx="28765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863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 ↑</a:t>
            </a:r>
          </a:p>
        </p:txBody>
      </p:sp>
      <p:sp>
        <p:nvSpPr>
          <p:cNvPr id="11" name="tag-23">
            <a:extLst xmlns:a="http://schemas.openxmlformats.org/drawingml/2006/main">
              <a:ext uri="{FF2B5EF4-FFF2-40B4-BE49-F238E27FC236}">
                <a16:creationId xmlns:a16="http://schemas.microsoft.com/office/drawing/2014/main" id="{4A357BF5-6F95-481C-998B-4C424A08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95525"/>
            <a:ext cx="27813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66717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无直接节省 ↔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71500" y="4143375"/>
          <a:ext xmlns:a="http://schemas.openxmlformats.org/drawingml/2006/main" cx="11049000" cy="18669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00250"/>
                <a:gridCol w="2857500"/>
                <a:gridCol w="3143250"/>
                <a:gridCol w="3048000"/>
              </a:tblGrid>
              <a:tr h="186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分页 KV 管理</a:t>
                      </a:r>
                    </a:p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PagedAttention</a:t>
                      </a:r>
                    </a:p>
                  </a:txBody>
                  <a:tcPr marL="133350" marR="133350" marT="180975" marB="114300">
                    <a:lnL w="9525">
                      <a:solidFill>
                        <a:srgbClr val="DCE4EA"/>
                      </a:solidFill>
                    </a:lnL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按块分配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逻辑连续的 token 可存放在不连续的物理块中</a:t>
                      </a:r>
                    </a:p>
                  </a:txBody>
                  <a:tcPr marL="133350" marR="133350" marT="18097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减少内存浪费，让相同容量容纳更多并发请求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减少碎片和过度预留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 token 的 KV 数据大小不变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ag-24">
            <a:extLst xmlns:a="http://schemas.openxmlformats.org/drawingml/2006/main">
              <a:ext uri="{FF2B5EF4-FFF2-40B4-BE49-F238E27FC236}">
                <a16:creationId xmlns:a16="http://schemas.microsoft.com/office/drawing/2014/main" id="{FF596160-BD50-43EB-87FD-D1CB8EFA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67200"/>
            <a:ext cx="28765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863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 ↑</a:t>
            </a:r>
          </a:p>
        </p:txBody>
      </p:sp>
      <p:sp>
        <p:nvSpPr>
          <p:cNvPr id="14" name="tag-25">
            <a:extLst xmlns:a="http://schemas.openxmlformats.org/drawingml/2006/main">
              <a:ext uri="{FF2B5EF4-FFF2-40B4-BE49-F238E27FC236}">
                <a16:creationId xmlns:a16="http://schemas.microsoft.com/office/drawing/2014/main" id="{9C7E1EEF-7AC9-4343-84EA-D8D6F975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67200"/>
            <a:ext cx="27813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6764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碎片与预留 ↓</a:t>
            </a:r>
          </a:p>
        </p:txBody>
      </p:sp>
    </p:spTree>
    <p:extLst>
      <p:ext uri="{BB962C8B-B14F-4D97-AF65-F5344CB8AC3E}">
        <p14:creationId xmlns:p14="http://schemas.microsoft.com/office/powerpoint/2010/main" val="5607433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26">
            <a:extLst xmlns:a="http://schemas.openxmlformats.org/drawingml/2006/main">
              <a:ext uri="{FF2B5EF4-FFF2-40B4-BE49-F238E27FC236}">
                <a16:creationId xmlns:a16="http://schemas.microsoft.com/office/drawing/2014/main" id="{BD31B11B-3684-4926-BB31-DED48A88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Prefill 调度与复用</a:t>
            </a:r>
          </a:p>
        </p:txBody>
      </p:sp>
      <p:sp>
        <p:nvSpPr>
          <p:cNvPr id="2" name="text-27">
            <a:extLst xmlns:a="http://schemas.openxmlformats.org/drawingml/2006/main">
              <a:ext uri="{FF2B5EF4-FFF2-40B4-BE49-F238E27FC236}">
                <a16:creationId xmlns:a16="http://schemas.microsoft.com/office/drawing/2014/main" id="{FC8A37D8-DB84-49E9-8655-63B0AC60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38225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特性含义、性能收益和显存变化</a:t>
            </a:r>
          </a:p>
        </p:txBody>
      </p:sp>
      <p:sp>
        <p:nvSpPr>
          <p:cNvPr id="3" name="text-28">
            <a:extLst xmlns:a="http://schemas.openxmlformats.org/drawingml/2006/main">
              <a:ext uri="{FF2B5EF4-FFF2-40B4-BE49-F238E27FC236}">
                <a16:creationId xmlns:a16="http://schemas.microsoft.com/office/drawing/2014/main" id="{869B1429-F112-4A57-9052-E4DED005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vLLM / vLLM Ascend    机制归纳，实际收益需按模型、硬件与负载验证</a:t>
            </a:r>
          </a:p>
        </p:txBody>
      </p:sp>
      <p:sp>
        <p:nvSpPr>
          <p:cNvPr id="4" name="text-29">
            <a:extLst xmlns:a="http://schemas.openxmlformats.org/drawingml/2006/main">
              <a:ext uri="{FF2B5EF4-FFF2-40B4-BE49-F238E27FC236}">
                <a16:creationId xmlns:a16="http://schemas.microsoft.com/office/drawing/2014/main" id="{99C5B805-3372-43BA-95FF-A20DE3AD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03 / 11</a:t>
            </a:r>
          </a:p>
        </p:txBody>
      </p:sp>
      <p:sp>
        <p:nvSpPr>
          <p:cNvPr id="5" name="text-30">
            <a:extLst xmlns:a="http://schemas.openxmlformats.org/drawingml/2006/main">
              <a:ext uri="{FF2B5EF4-FFF2-40B4-BE49-F238E27FC236}">
                <a16:creationId xmlns:a16="http://schemas.microsoft.com/office/drawing/2014/main" id="{92075176-C1AA-4D4F-95A3-18723C7C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特性名称</a:t>
            </a:r>
          </a:p>
        </p:txBody>
      </p:sp>
      <p:sp>
        <p:nvSpPr>
          <p:cNvPr id="6" name="text-31">
            <a:extLst xmlns:a="http://schemas.openxmlformats.org/drawingml/2006/main">
              <a:ext uri="{FF2B5EF4-FFF2-40B4-BE49-F238E27FC236}">
                <a16:creationId xmlns:a16="http://schemas.microsoft.com/office/drawing/2014/main" id="{1843C754-C2A7-4CC7-92D7-C955C000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478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含义解释</a:t>
            </a:r>
          </a:p>
        </p:txBody>
      </p:sp>
      <p:sp>
        <p:nvSpPr>
          <p:cNvPr id="7" name="text-32">
            <a:extLst xmlns:a="http://schemas.openxmlformats.org/drawingml/2006/main">
              <a:ext uri="{FF2B5EF4-FFF2-40B4-BE49-F238E27FC236}">
                <a16:creationId xmlns:a16="http://schemas.microsoft.com/office/drawing/2014/main" id="{843BF833-B347-4527-8E9D-354F9CF2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478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性能收益</a:t>
            </a:r>
          </a:p>
        </p:txBody>
      </p:sp>
      <p:sp>
        <p:nvSpPr>
          <p:cNvPr id="8" name="text-33">
            <a:extLst xmlns:a="http://schemas.openxmlformats.org/drawingml/2006/main">
              <a:ext uri="{FF2B5EF4-FFF2-40B4-BE49-F238E27FC236}">
                <a16:creationId xmlns:a16="http://schemas.microsoft.com/office/drawing/2014/main" id="{FF189F93-3335-4996-83A4-695EDB05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4782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显存收益与代价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71500" y="2171700"/>
          <a:ext xmlns:a="http://schemas.openxmlformats.org/drawingml/2006/main" cx="11049000" cy="18669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00250"/>
                <a:gridCol w="2857500"/>
                <a:gridCol w="3143250"/>
                <a:gridCol w="3048000"/>
              </a:tblGrid>
              <a:tr h="186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分块预填充</a:t>
                      </a:r>
                    </a:p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Chunked Prefill</a:t>
                      </a:r>
                    </a:p>
                  </a:txBody>
                  <a:tcPr marL="133350" marR="133350" marT="180975" marB="114300">
                    <a:lnL w="9525">
                      <a:solidFill>
                        <a:srgbClr val="DCE4EA"/>
                      </a:solidFill>
                    </a:lnL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 Prefill 拆成多轮，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Decode 请求混合调度</a:t>
                      </a:r>
                    </a:p>
                  </a:txBody>
                  <a:tcPr marL="133350" marR="133350" marT="18097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减轻长输入对输出的阻塞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块太小可能拉长该请求 TTFT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可降低单轮工作内存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完整上下文最终所需的 KV 不会因此减少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10" name="tag-34">
            <a:extLst xmlns:a="http://schemas.openxmlformats.org/drawingml/2006/main">
              <a:ext uri="{FF2B5EF4-FFF2-40B4-BE49-F238E27FC236}">
                <a16:creationId xmlns:a16="http://schemas.microsoft.com/office/drawing/2014/main" id="{44543557-8520-44B3-9A55-18F97829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95525"/>
            <a:ext cx="28765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 ITL ↓  高吞吐 ↑</a:t>
            </a:r>
          </a:p>
        </p:txBody>
      </p:sp>
      <p:sp>
        <p:nvSpPr>
          <p:cNvPr id="11" name="tag-35">
            <a:extLst xmlns:a="http://schemas.openxmlformats.org/drawingml/2006/main">
              <a:ext uri="{FF2B5EF4-FFF2-40B4-BE49-F238E27FC236}">
                <a16:creationId xmlns:a16="http://schemas.microsoft.com/office/drawing/2014/main" id="{EB6EBA57-A45F-49D5-96EE-F9AE05CD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95525"/>
            <a:ext cx="27813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6764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临时激活峰值 ↓*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71500" y="4143375"/>
          <a:ext xmlns:a="http://schemas.openxmlformats.org/drawingml/2006/main" cx="11049000" cy="18669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00250"/>
                <a:gridCol w="2857500"/>
                <a:gridCol w="3143250"/>
                <a:gridCol w="3048000"/>
              </a:tblGrid>
              <a:tr h="186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自动前缀缓存</a:t>
                      </a:r>
                    </a:p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Prefix Caching / APC</a:t>
                      </a:r>
                    </a:p>
                  </a:txBody>
                  <a:tcPr marL="133350" marR="133350" marT="180975" marB="114300">
                    <a:lnL w="9525">
                      <a:solidFill>
                        <a:srgbClr val="DCE4EA"/>
                      </a:solidFill>
                    </a:lnL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 token 前缀复用已有 KV，跳过重复的 Prefill</a:t>
                      </a:r>
                    </a:p>
                  </a:txBody>
                  <a:tcPr marL="133350" marR="133350" marT="18097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重复文档、多轮对话可受益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不直接加速新 token 的 Decode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共享前缀块减少重复存储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保留缓存也占缓存池，收益依赖命中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ag-36">
            <a:extLst xmlns:a="http://schemas.openxmlformats.org/drawingml/2006/main">
              <a:ext uri="{FF2B5EF4-FFF2-40B4-BE49-F238E27FC236}">
                <a16:creationId xmlns:a16="http://schemas.microsoft.com/office/drawing/2014/main" id="{2A5F5B52-6CCA-4C7E-88ED-47324D2E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67200"/>
            <a:ext cx="28765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 TTFT ↓  高吞吐 ↑</a:t>
            </a:r>
          </a:p>
        </p:txBody>
      </p:sp>
      <p:sp>
        <p:nvSpPr>
          <p:cNvPr id="14" name="tag-37">
            <a:extLst xmlns:a="http://schemas.openxmlformats.org/drawingml/2006/main">
              <a:ext uri="{FF2B5EF4-FFF2-40B4-BE49-F238E27FC236}">
                <a16:creationId xmlns:a16="http://schemas.microsoft.com/office/drawing/2014/main" id="{FF98E402-7114-43AD-AF34-58246542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67200"/>
            <a:ext cx="27813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6764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重复 KV 存储 ↓*</a:t>
            </a:r>
          </a:p>
        </p:txBody>
      </p:sp>
    </p:spTree>
    <p:extLst>
      <p:ext uri="{BB962C8B-B14F-4D97-AF65-F5344CB8AC3E}">
        <p14:creationId xmlns:p14="http://schemas.microsoft.com/office/powerpoint/2010/main" val="13435553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38">
            <a:extLst xmlns:a="http://schemas.openxmlformats.org/drawingml/2006/main">
              <a:ext uri="{FF2B5EF4-FFF2-40B4-BE49-F238E27FC236}">
                <a16:creationId xmlns:a16="http://schemas.microsoft.com/office/drawing/2014/main" id="{426B014B-1D27-4B48-B42A-98710ACB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算子与执行开销</a:t>
            </a:r>
          </a:p>
        </p:txBody>
      </p:sp>
      <p:sp>
        <p:nvSpPr>
          <p:cNvPr id="2" name="text-39">
            <a:extLst xmlns:a="http://schemas.openxmlformats.org/drawingml/2006/main">
              <a:ext uri="{FF2B5EF4-FFF2-40B4-BE49-F238E27FC236}">
                <a16:creationId xmlns:a16="http://schemas.microsoft.com/office/drawing/2014/main" id="{62D2B462-C114-49BB-AE45-CE5C0293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38225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特性含义、性能收益和显存变化</a:t>
            </a:r>
          </a:p>
        </p:txBody>
      </p:sp>
      <p:sp>
        <p:nvSpPr>
          <p:cNvPr id="3" name="text-40">
            <a:extLst xmlns:a="http://schemas.openxmlformats.org/drawingml/2006/main">
              <a:ext uri="{FF2B5EF4-FFF2-40B4-BE49-F238E27FC236}">
                <a16:creationId xmlns:a16="http://schemas.microsoft.com/office/drawing/2014/main" id="{4A627984-62A7-43C7-981F-5FCC6C00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vLLM / vLLM Ascend    机制归纳，实际收益需按模型、硬件与负载验证</a:t>
            </a:r>
          </a:p>
        </p:txBody>
      </p:sp>
      <p:sp>
        <p:nvSpPr>
          <p:cNvPr id="4" name="text-41">
            <a:extLst xmlns:a="http://schemas.openxmlformats.org/drawingml/2006/main">
              <a:ext uri="{FF2B5EF4-FFF2-40B4-BE49-F238E27FC236}">
                <a16:creationId xmlns:a16="http://schemas.microsoft.com/office/drawing/2014/main" id="{C68D74A8-A175-4344-BC56-7AFD4CB3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04 / 11</a:t>
            </a:r>
          </a:p>
        </p:txBody>
      </p:sp>
      <p:sp>
        <p:nvSpPr>
          <p:cNvPr id="5" name="text-42">
            <a:extLst xmlns:a="http://schemas.openxmlformats.org/drawingml/2006/main">
              <a:ext uri="{FF2B5EF4-FFF2-40B4-BE49-F238E27FC236}">
                <a16:creationId xmlns:a16="http://schemas.microsoft.com/office/drawing/2014/main" id="{FB750931-E05C-4783-9DCF-12073EBD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特性名称</a:t>
            </a:r>
          </a:p>
        </p:txBody>
      </p:sp>
      <p:sp>
        <p:nvSpPr>
          <p:cNvPr id="6" name="text-43">
            <a:extLst xmlns:a="http://schemas.openxmlformats.org/drawingml/2006/main">
              <a:ext uri="{FF2B5EF4-FFF2-40B4-BE49-F238E27FC236}">
                <a16:creationId xmlns:a16="http://schemas.microsoft.com/office/drawing/2014/main" id="{D09CB428-7C34-463A-B14F-58A55206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478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含义解释</a:t>
            </a:r>
          </a:p>
        </p:txBody>
      </p:sp>
      <p:sp>
        <p:nvSpPr>
          <p:cNvPr id="7" name="text-44">
            <a:extLst xmlns:a="http://schemas.openxmlformats.org/drawingml/2006/main">
              <a:ext uri="{FF2B5EF4-FFF2-40B4-BE49-F238E27FC236}">
                <a16:creationId xmlns:a16="http://schemas.microsoft.com/office/drawing/2014/main" id="{A9535495-6D52-476C-B2DC-D9D054CC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478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性能收益</a:t>
            </a:r>
          </a:p>
        </p:txBody>
      </p:sp>
      <p:sp>
        <p:nvSpPr>
          <p:cNvPr id="8" name="text-45">
            <a:extLst xmlns:a="http://schemas.openxmlformats.org/drawingml/2006/main">
              <a:ext uri="{FF2B5EF4-FFF2-40B4-BE49-F238E27FC236}">
                <a16:creationId xmlns:a16="http://schemas.microsoft.com/office/drawing/2014/main" id="{40CFDD75-18F7-4366-B03A-77462924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4782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显存收益与代价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71500" y="2171700"/>
          <a:ext xmlns:a="http://schemas.openxmlformats.org/drawingml/2006/main" cx="11049000" cy="18669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00250"/>
                <a:gridCol w="2857500"/>
                <a:gridCol w="3143250"/>
                <a:gridCol w="3048000"/>
              </a:tblGrid>
              <a:tr h="186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高效注意力</a:t>
                      </a:r>
                    </a:p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FlashAttention 等</a:t>
                      </a:r>
                    </a:p>
                  </a:txBody>
                  <a:tcPr marL="133350" marR="133350" marT="180975" marB="114300">
                    <a:lnL w="9525">
                      <a:solidFill>
                        <a:srgbClr val="DCE4EA"/>
                      </a:solidFill>
                    </a:lnL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分块计算、减少内存读写，避免完整保存巨大的注意力中间矩阵</a:t>
                      </a:r>
                    </a:p>
                  </a:txBody>
                  <a:tcPr marL="133350" marR="133350" marT="18097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加快 Attention 计算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长输入 Prefill 往往更受益，效果取决于算子后端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 Attention 临时内存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不压缩持久保存的 KV Cache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10" name="tag-46">
            <a:extLst xmlns:a="http://schemas.openxmlformats.org/drawingml/2006/main">
              <a:ext uri="{FF2B5EF4-FFF2-40B4-BE49-F238E27FC236}">
                <a16:creationId xmlns:a16="http://schemas.microsoft.com/office/drawing/2014/main" id="{D22A619D-ECE3-4B75-A73A-B0EE8502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95525"/>
            <a:ext cx="28765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低时延 ↓  高吞吐 ↑*</a:t>
            </a:r>
          </a:p>
        </p:txBody>
      </p:sp>
      <p:sp>
        <p:nvSpPr>
          <p:cNvPr id="11" name="tag-47">
            <a:extLst xmlns:a="http://schemas.openxmlformats.org/drawingml/2006/main">
              <a:ext uri="{FF2B5EF4-FFF2-40B4-BE49-F238E27FC236}">
                <a16:creationId xmlns:a16="http://schemas.microsoft.com/office/drawing/2014/main" id="{CCD107B8-731A-485A-B038-413E5FA6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95525"/>
            <a:ext cx="27813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6764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中间结果占用 ↓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71500" y="4143375"/>
          <a:ext xmlns:a="http://schemas.openxmlformats.org/drawingml/2006/main" cx="11049000" cy="18669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00250"/>
                <a:gridCol w="2857500"/>
                <a:gridCol w="3143250"/>
                <a:gridCol w="3048000"/>
              </a:tblGrid>
              <a:tr h="186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图模式执行</a:t>
                      </a:r>
                    </a:p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CUDA / ACL Graph</a:t>
                      </a:r>
                    </a:p>
                  </a:txBody>
                  <a:tcPr marL="133350" marR="133350" marT="180975" marB="114300">
                    <a:lnL w="9525">
                      <a:solidFill>
                        <a:srgbClr val="DCE4EA"/>
                      </a:solidFill>
                    </a:lnL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捕获并重放执行流程，减少 CPU 逐个下发算子的开销</a:t>
                      </a:r>
                    </a:p>
                  </a:txBody>
                  <a:tcPr marL="133350" marR="133350" marT="18097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Decode 的算子调度开销较大时更受益，也可能提高吞吐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图执行需要额外缓冲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捕获规格更多时，内存代价可能更高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ag-48">
            <a:extLst xmlns:a="http://schemas.openxmlformats.org/drawingml/2006/main">
              <a:ext uri="{FF2B5EF4-FFF2-40B4-BE49-F238E27FC236}">
                <a16:creationId xmlns:a16="http://schemas.microsoft.com/office/drawing/2014/main" id="{16C44D2E-39FA-4955-A915-A7E91E6E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67200"/>
            <a:ext cx="28765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 TPOT ↓</a:t>
            </a:r>
          </a:p>
        </p:txBody>
      </p:sp>
      <p:sp>
        <p:nvSpPr>
          <p:cNvPr id="14" name="tag-49">
            <a:extLst xmlns:a="http://schemas.openxmlformats.org/drawingml/2006/main">
              <a:ext uri="{FF2B5EF4-FFF2-40B4-BE49-F238E27FC236}">
                <a16:creationId xmlns:a16="http://schemas.microsoft.com/office/drawing/2014/main" id="{CB93E99A-2949-4666-ABD8-8C5CDFDC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67200"/>
            <a:ext cx="27813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A76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额外显存 ↑</a:t>
            </a:r>
          </a:p>
        </p:txBody>
      </p:sp>
    </p:spTree>
    <p:extLst>
      <p:ext uri="{BB962C8B-B14F-4D97-AF65-F5344CB8AC3E}">
        <p14:creationId xmlns:p14="http://schemas.microsoft.com/office/powerpoint/2010/main" val="5872508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50">
            <a:extLst xmlns:a="http://schemas.openxmlformats.org/drawingml/2006/main">
              <a:ext uri="{FF2B5EF4-FFF2-40B4-BE49-F238E27FC236}">
                <a16:creationId xmlns:a16="http://schemas.microsoft.com/office/drawing/2014/main" id="{E1960E2E-72CF-4F92-BCFE-E0DC051C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生成加速与模型量化</a:t>
            </a:r>
          </a:p>
        </p:txBody>
      </p:sp>
      <p:sp>
        <p:nvSpPr>
          <p:cNvPr id="2" name="text-51">
            <a:extLst xmlns:a="http://schemas.openxmlformats.org/drawingml/2006/main">
              <a:ext uri="{FF2B5EF4-FFF2-40B4-BE49-F238E27FC236}">
                <a16:creationId xmlns:a16="http://schemas.microsoft.com/office/drawing/2014/main" id="{D31C8613-033C-4377-88AA-A7973EDA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38225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特性含义、性能收益和显存变化</a:t>
            </a:r>
          </a:p>
        </p:txBody>
      </p:sp>
      <p:sp>
        <p:nvSpPr>
          <p:cNvPr id="3" name="text-52">
            <a:extLst xmlns:a="http://schemas.openxmlformats.org/drawingml/2006/main">
              <a:ext uri="{FF2B5EF4-FFF2-40B4-BE49-F238E27FC236}">
                <a16:creationId xmlns:a16="http://schemas.microsoft.com/office/drawing/2014/main" id="{8B99AF97-79CF-4956-8753-63122E25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vLLM / vLLM Ascend    机制归纳，实际收益需按模型、硬件与负载验证</a:t>
            </a:r>
          </a:p>
        </p:txBody>
      </p:sp>
      <p:sp>
        <p:nvSpPr>
          <p:cNvPr id="4" name="text-53">
            <a:extLst xmlns:a="http://schemas.openxmlformats.org/drawingml/2006/main">
              <a:ext uri="{FF2B5EF4-FFF2-40B4-BE49-F238E27FC236}">
                <a16:creationId xmlns:a16="http://schemas.microsoft.com/office/drawing/2014/main" id="{DC41D472-B2D2-43F6-9878-C1B0E376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05 / 11</a:t>
            </a:r>
          </a:p>
        </p:txBody>
      </p:sp>
      <p:sp>
        <p:nvSpPr>
          <p:cNvPr id="5" name="text-54">
            <a:extLst xmlns:a="http://schemas.openxmlformats.org/drawingml/2006/main">
              <a:ext uri="{FF2B5EF4-FFF2-40B4-BE49-F238E27FC236}">
                <a16:creationId xmlns:a16="http://schemas.microsoft.com/office/drawing/2014/main" id="{5A816EE1-DFC4-4FEB-BCA1-50876FA1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特性名称</a:t>
            </a:r>
          </a:p>
        </p:txBody>
      </p:sp>
      <p:sp>
        <p:nvSpPr>
          <p:cNvPr id="6" name="text-55">
            <a:extLst xmlns:a="http://schemas.openxmlformats.org/drawingml/2006/main">
              <a:ext uri="{FF2B5EF4-FFF2-40B4-BE49-F238E27FC236}">
                <a16:creationId xmlns:a16="http://schemas.microsoft.com/office/drawing/2014/main" id="{B26B04C0-099B-4DE3-9243-1DEFAF12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478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含义解释</a:t>
            </a:r>
          </a:p>
        </p:txBody>
      </p:sp>
      <p:sp>
        <p:nvSpPr>
          <p:cNvPr id="7" name="text-56">
            <a:extLst xmlns:a="http://schemas.openxmlformats.org/drawingml/2006/main">
              <a:ext uri="{FF2B5EF4-FFF2-40B4-BE49-F238E27FC236}">
                <a16:creationId xmlns:a16="http://schemas.microsoft.com/office/drawing/2014/main" id="{B6A49A57-DE97-42AA-9589-E5DD1768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478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性能收益</a:t>
            </a:r>
          </a:p>
        </p:txBody>
      </p:sp>
      <p:sp>
        <p:nvSpPr>
          <p:cNvPr id="8" name="text-57">
            <a:extLst xmlns:a="http://schemas.openxmlformats.org/drawingml/2006/main">
              <a:ext uri="{FF2B5EF4-FFF2-40B4-BE49-F238E27FC236}">
                <a16:creationId xmlns:a16="http://schemas.microsoft.com/office/drawing/2014/main" id="{002D9076-FADB-42A1-BB88-A0A9542A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4782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显存收益与代价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71500" y="2171700"/>
          <a:ext xmlns:a="http://schemas.openxmlformats.org/drawingml/2006/main" cx="11049000" cy="18669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00250"/>
                <a:gridCol w="2857500"/>
                <a:gridCol w="3143250"/>
                <a:gridCol w="3048000"/>
              </a:tblGrid>
              <a:tr h="186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推测解码</a:t>
                      </a:r>
                    </a:p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MTP / EAGLE / N-gram</a:t>
                      </a:r>
                    </a:p>
                  </a:txBody>
                  <a:tcPr marL="133350" marR="133350" marT="180975" marB="114300">
                    <a:lnL w="9525">
                      <a:solidFill>
                        <a:srgbClr val="DCE4EA"/>
                      </a:solidFill>
                    </a:lnL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先提出多个候选 token，再由目标模型验证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一轮可能接受多个 token</a:t>
                      </a:r>
                    </a:p>
                  </a:txBody>
                  <a:tcPr marL="133350" marR="133350" marT="18097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收益取决于接受率和草稿成本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高负载下不一定提高系统吞吐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候选与验证需要缓冲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草稿模型还增加权重和 KV，具体开销随方法变化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10" name="tag-58">
            <a:extLst xmlns:a="http://schemas.openxmlformats.org/drawingml/2006/main">
              <a:ext uri="{FF2B5EF4-FFF2-40B4-BE49-F238E27FC236}">
                <a16:creationId xmlns:a16="http://schemas.microsoft.com/office/drawing/2014/main" id="{EEABB544-DBDE-42DD-BC07-9940A362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95525"/>
            <a:ext cx="28765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 TPOT ↓*</a:t>
            </a:r>
          </a:p>
        </p:txBody>
      </p:sp>
      <p:sp>
        <p:nvSpPr>
          <p:cNvPr id="11" name="tag-59">
            <a:extLst xmlns:a="http://schemas.openxmlformats.org/drawingml/2006/main">
              <a:ext uri="{FF2B5EF4-FFF2-40B4-BE49-F238E27FC236}">
                <a16:creationId xmlns:a16="http://schemas.microsoft.com/office/drawing/2014/main" id="{C921449C-8AD4-47AB-AE1A-64BE424A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95525"/>
            <a:ext cx="27813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A76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额外显存 ↑*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71500" y="4143375"/>
          <a:ext xmlns:a="http://schemas.openxmlformats.org/drawingml/2006/main" cx="11049000" cy="18669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00250"/>
                <a:gridCol w="2857500"/>
                <a:gridCol w="3143250"/>
                <a:gridCol w="3048000"/>
              </a:tblGrid>
              <a:tr h="186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权重／激活量化</a:t>
                      </a:r>
                    </a:p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W8A8 / W4A16 等</a:t>
                      </a:r>
                    </a:p>
                  </a:txBody>
                  <a:tcPr marL="133350" marR="133350" marT="180975" marB="114300">
                    <a:lnL w="9525">
                      <a:solidFill>
                        <a:srgbClr val="DCE4EA"/>
                      </a:solidFill>
                    </a:lnL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使用更低精度表示权重，部分方案同时量化激活并使用低精度计算</a:t>
                      </a:r>
                    </a:p>
                  </a:txBody>
                  <a:tcPr marL="133350" marR="133350" marT="18097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依赖硬件和量化算子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需评估精度及转换开销，不能仅凭位宽判断加速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 KV 腾出空间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激活收益取决于方案，权重量化不等于 KV 量化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ag-60">
            <a:extLst xmlns:a="http://schemas.openxmlformats.org/drawingml/2006/main">
              <a:ext uri="{FF2B5EF4-FFF2-40B4-BE49-F238E27FC236}">
                <a16:creationId xmlns:a16="http://schemas.microsoft.com/office/drawing/2014/main" id="{FA65E2E2-BDE3-40A4-88A5-D06E633B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67200"/>
            <a:ext cx="28765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低时延 ↓  高吞吐 ↑*</a:t>
            </a:r>
          </a:p>
        </p:txBody>
      </p:sp>
      <p:sp>
        <p:nvSpPr>
          <p:cNvPr id="14" name="tag-61">
            <a:extLst xmlns:a="http://schemas.openxmlformats.org/drawingml/2006/main">
              <a:ext uri="{FF2B5EF4-FFF2-40B4-BE49-F238E27FC236}">
                <a16:creationId xmlns:a16="http://schemas.microsoft.com/office/drawing/2014/main" id="{0208F765-FCA0-4BF7-980D-02EEF2A8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67200"/>
            <a:ext cx="27813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6764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权重占用 ↓</a:t>
            </a:r>
          </a:p>
        </p:txBody>
      </p:sp>
    </p:spTree>
    <p:extLst>
      <p:ext uri="{BB962C8B-B14F-4D97-AF65-F5344CB8AC3E}">
        <p14:creationId xmlns:p14="http://schemas.microsoft.com/office/powerpoint/2010/main" val="549879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62">
            <a:extLst xmlns:a="http://schemas.openxmlformats.org/drawingml/2006/main">
              <a:ext uri="{FF2B5EF4-FFF2-40B4-BE49-F238E27FC236}">
                <a16:creationId xmlns:a16="http://schemas.microsoft.com/office/drawing/2014/main" id="{AEF88530-A375-40B7-83C0-528F84CB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KV 容量优化</a:t>
            </a:r>
          </a:p>
        </p:txBody>
      </p:sp>
      <p:sp>
        <p:nvSpPr>
          <p:cNvPr id="2" name="text-63">
            <a:extLst xmlns:a="http://schemas.openxmlformats.org/drawingml/2006/main">
              <a:ext uri="{FF2B5EF4-FFF2-40B4-BE49-F238E27FC236}">
                <a16:creationId xmlns:a16="http://schemas.microsoft.com/office/drawing/2014/main" id="{60168712-93AD-4F1D-BC87-53459040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38225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特性含义、性能收益和显存变化</a:t>
            </a:r>
          </a:p>
        </p:txBody>
      </p:sp>
      <p:sp>
        <p:nvSpPr>
          <p:cNvPr id="3" name="text-64">
            <a:extLst xmlns:a="http://schemas.openxmlformats.org/drawingml/2006/main">
              <a:ext uri="{FF2B5EF4-FFF2-40B4-BE49-F238E27FC236}">
                <a16:creationId xmlns:a16="http://schemas.microsoft.com/office/drawing/2014/main" id="{935CEEA1-5E0E-40C0-A62E-F2FEE7A9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vLLM / vLLM Ascend    机制归纳，实际收益需按模型、硬件与负载验证</a:t>
            </a:r>
          </a:p>
        </p:txBody>
      </p:sp>
      <p:sp>
        <p:nvSpPr>
          <p:cNvPr id="4" name="text-65">
            <a:extLst xmlns:a="http://schemas.openxmlformats.org/drawingml/2006/main">
              <a:ext uri="{FF2B5EF4-FFF2-40B4-BE49-F238E27FC236}">
                <a16:creationId xmlns:a16="http://schemas.microsoft.com/office/drawing/2014/main" id="{6E0E6C96-0685-412E-9E10-10D9A5E4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06 / 11</a:t>
            </a:r>
          </a:p>
        </p:txBody>
      </p:sp>
      <p:sp>
        <p:nvSpPr>
          <p:cNvPr id="5" name="text-66">
            <a:extLst xmlns:a="http://schemas.openxmlformats.org/drawingml/2006/main">
              <a:ext uri="{FF2B5EF4-FFF2-40B4-BE49-F238E27FC236}">
                <a16:creationId xmlns:a16="http://schemas.microsoft.com/office/drawing/2014/main" id="{FCF8A771-7C62-4DB9-9B76-DDD17187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特性名称</a:t>
            </a:r>
          </a:p>
        </p:txBody>
      </p:sp>
      <p:sp>
        <p:nvSpPr>
          <p:cNvPr id="6" name="text-67">
            <a:extLst xmlns:a="http://schemas.openxmlformats.org/drawingml/2006/main">
              <a:ext uri="{FF2B5EF4-FFF2-40B4-BE49-F238E27FC236}">
                <a16:creationId xmlns:a16="http://schemas.microsoft.com/office/drawing/2014/main" id="{AE2703DD-E20D-4685-AD15-B88888DC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478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含义解释</a:t>
            </a:r>
          </a:p>
        </p:txBody>
      </p:sp>
      <p:sp>
        <p:nvSpPr>
          <p:cNvPr id="7" name="text-68">
            <a:extLst xmlns:a="http://schemas.openxmlformats.org/drawingml/2006/main">
              <a:ext uri="{FF2B5EF4-FFF2-40B4-BE49-F238E27FC236}">
                <a16:creationId xmlns:a16="http://schemas.microsoft.com/office/drawing/2014/main" id="{A0447BD8-9A3B-42C8-9550-D7EE70F8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478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性能收益</a:t>
            </a:r>
          </a:p>
        </p:txBody>
      </p:sp>
      <p:sp>
        <p:nvSpPr>
          <p:cNvPr id="8" name="text-69">
            <a:extLst xmlns:a="http://schemas.openxmlformats.org/drawingml/2006/main">
              <a:ext uri="{FF2B5EF4-FFF2-40B4-BE49-F238E27FC236}">
                <a16:creationId xmlns:a16="http://schemas.microsoft.com/office/drawing/2014/main" id="{12E4DDF9-65B5-4B93-A97C-F7F13473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4782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显存收益与代价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71500" y="2171700"/>
          <a:ext xmlns:a="http://schemas.openxmlformats.org/drawingml/2006/main" cx="11049000" cy="18669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00250"/>
                <a:gridCol w="2857500"/>
                <a:gridCol w="3143250"/>
                <a:gridCol w="3048000"/>
              </a:tblGrid>
              <a:tr h="186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Cache 量化</a:t>
                      </a:r>
                    </a:p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Quantized KV Cache</a:t>
                      </a:r>
                    </a:p>
                  </a:txBody>
                  <a:tcPr marL="133350" marR="133350" marT="180975" marB="114300">
                    <a:lnL w="9525">
                      <a:solidFill>
                        <a:srgbClr val="DCE4EA"/>
                      </a:solidFill>
                    </a:lnL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以更低精度保存每个 token 的 Key、Value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格式与后端相关</a:t>
                      </a:r>
                    </a:p>
                  </a:txBody>
                  <a:tcPr marL="133350" marR="133350" marT="18097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容纳更多上下文与并发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Decode 时延还受反量化和内存访问影响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直接缩小 KV 数据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需评估精度，上游 FP8 支持不能直接套用到 Ascend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10" name="tag-70">
            <a:extLst xmlns:a="http://schemas.openxmlformats.org/drawingml/2006/main">
              <a:ext uri="{FF2B5EF4-FFF2-40B4-BE49-F238E27FC236}">
                <a16:creationId xmlns:a16="http://schemas.microsoft.com/office/drawing/2014/main" id="{B667E6C9-1917-4AF1-BFE1-C78A4836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95525"/>
            <a:ext cx="28765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863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 ↑*</a:t>
            </a:r>
          </a:p>
        </p:txBody>
      </p:sp>
      <p:sp>
        <p:nvSpPr>
          <p:cNvPr id="11" name="tag-71">
            <a:extLst xmlns:a="http://schemas.openxmlformats.org/drawingml/2006/main">
              <a:ext uri="{FF2B5EF4-FFF2-40B4-BE49-F238E27FC236}">
                <a16:creationId xmlns:a16="http://schemas.microsoft.com/office/drawing/2014/main" id="{48AAE3BA-E593-4A60-BA83-9D460556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95525"/>
            <a:ext cx="27813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6764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KV 占用 ↓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71500" y="4143375"/>
          <a:ext xmlns:a="http://schemas.openxmlformats.org/drawingml/2006/main" cx="11049000" cy="18669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00250"/>
                <a:gridCol w="2857500"/>
                <a:gridCol w="3143250"/>
                <a:gridCol w="3048000"/>
              </a:tblGrid>
              <a:tr h="186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CPU 卸载</a:t>
                      </a:r>
                    </a:p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Offloading</a:t>
                      </a:r>
                    </a:p>
                  </a:txBody>
                  <a:tcPr marL="133350" marR="133350" marT="180975" marB="114300">
                    <a:lnL w="9525">
                      <a:solidFill>
                        <a:srgbClr val="DCE4EA"/>
                      </a:solidFill>
                    </a:lnL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不活跃 KV 块移到 CPU 内存，需要时重新加载，形成分层缓存</a:t>
                      </a:r>
                    </a:p>
                  </a:txBody>
                  <a:tcPr marL="133350" marR="133350" marT="18097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相对丢弃重算，命中可缩短等待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相对设备全驻留，传输增加开销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 CPU 内存扩展缓存容量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代价是 CPU 内存增加和数据搬运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ag-72">
            <a:extLst xmlns:a="http://schemas.openxmlformats.org/drawingml/2006/main">
              <a:ext uri="{FF2B5EF4-FFF2-40B4-BE49-F238E27FC236}">
                <a16:creationId xmlns:a16="http://schemas.microsoft.com/office/drawing/2014/main" id="{84DA4D46-F485-4E04-AA02-94618160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67200"/>
            <a:ext cx="28765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863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服务容量 ↑*</a:t>
            </a:r>
          </a:p>
        </p:txBody>
      </p:sp>
      <p:sp>
        <p:nvSpPr>
          <p:cNvPr id="14" name="tag-73">
            <a:extLst xmlns:a="http://schemas.openxmlformats.org/drawingml/2006/main">
              <a:ext uri="{FF2B5EF4-FFF2-40B4-BE49-F238E27FC236}">
                <a16:creationId xmlns:a16="http://schemas.microsoft.com/office/drawing/2014/main" id="{DECE3F9E-832D-4679-9840-E076B886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67200"/>
            <a:ext cx="27813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6764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 KV 占用 ↓</a:t>
            </a:r>
          </a:p>
        </p:txBody>
      </p:sp>
    </p:spTree>
    <p:extLst>
      <p:ext uri="{BB962C8B-B14F-4D97-AF65-F5344CB8AC3E}">
        <p14:creationId xmlns:p14="http://schemas.microsoft.com/office/powerpoint/2010/main" val="9606457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74">
            <a:extLst xmlns:a="http://schemas.openxmlformats.org/drawingml/2006/main">
              <a:ext uri="{FF2B5EF4-FFF2-40B4-BE49-F238E27FC236}">
                <a16:creationId xmlns:a16="http://schemas.microsoft.com/office/drawing/2014/main" id="{4AD63134-A731-4913-B292-8C4FB4DF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模型跨卡切分</a:t>
            </a:r>
          </a:p>
        </p:txBody>
      </p:sp>
      <p:sp>
        <p:nvSpPr>
          <p:cNvPr id="2" name="text-75">
            <a:extLst xmlns:a="http://schemas.openxmlformats.org/drawingml/2006/main">
              <a:ext uri="{FF2B5EF4-FFF2-40B4-BE49-F238E27FC236}">
                <a16:creationId xmlns:a16="http://schemas.microsoft.com/office/drawing/2014/main" id="{91639012-2126-4ED2-834D-57C54209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38225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特性含义、性能收益和显存变化</a:t>
            </a:r>
          </a:p>
        </p:txBody>
      </p:sp>
      <p:sp>
        <p:nvSpPr>
          <p:cNvPr id="3" name="text-76">
            <a:extLst xmlns:a="http://schemas.openxmlformats.org/drawingml/2006/main">
              <a:ext uri="{FF2B5EF4-FFF2-40B4-BE49-F238E27FC236}">
                <a16:creationId xmlns:a16="http://schemas.microsoft.com/office/drawing/2014/main" id="{D48C6E50-3BB6-4322-A73C-22023F9D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vLLM / vLLM Ascend    机制归纳，实际收益需按模型、硬件与负载验证</a:t>
            </a:r>
          </a:p>
        </p:txBody>
      </p:sp>
      <p:sp>
        <p:nvSpPr>
          <p:cNvPr id="4" name="text-77">
            <a:extLst xmlns:a="http://schemas.openxmlformats.org/drawingml/2006/main">
              <a:ext uri="{FF2B5EF4-FFF2-40B4-BE49-F238E27FC236}">
                <a16:creationId xmlns:a16="http://schemas.microsoft.com/office/drawing/2014/main" id="{5B5656EC-5FD9-4870-B41C-0EC04494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07 / 11</a:t>
            </a:r>
          </a:p>
        </p:txBody>
      </p:sp>
      <p:sp>
        <p:nvSpPr>
          <p:cNvPr id="5" name="text-78">
            <a:extLst xmlns:a="http://schemas.openxmlformats.org/drawingml/2006/main">
              <a:ext uri="{FF2B5EF4-FFF2-40B4-BE49-F238E27FC236}">
                <a16:creationId xmlns:a16="http://schemas.microsoft.com/office/drawing/2014/main" id="{51F28278-D90A-4BEF-B85C-701640FA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特性名称</a:t>
            </a:r>
          </a:p>
        </p:txBody>
      </p:sp>
      <p:sp>
        <p:nvSpPr>
          <p:cNvPr id="6" name="text-79">
            <a:extLst xmlns:a="http://schemas.openxmlformats.org/drawingml/2006/main">
              <a:ext uri="{FF2B5EF4-FFF2-40B4-BE49-F238E27FC236}">
                <a16:creationId xmlns:a16="http://schemas.microsoft.com/office/drawing/2014/main" id="{92791CEF-83CB-42B7-B5F8-1278AB15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478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含义解释</a:t>
            </a:r>
          </a:p>
        </p:txBody>
      </p:sp>
      <p:sp>
        <p:nvSpPr>
          <p:cNvPr id="7" name="text-80">
            <a:extLst xmlns:a="http://schemas.openxmlformats.org/drawingml/2006/main">
              <a:ext uri="{FF2B5EF4-FFF2-40B4-BE49-F238E27FC236}">
                <a16:creationId xmlns:a16="http://schemas.microsoft.com/office/drawing/2014/main" id="{DD648085-83FC-4040-82AC-06FB2493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478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性能收益</a:t>
            </a:r>
          </a:p>
        </p:txBody>
      </p:sp>
      <p:sp>
        <p:nvSpPr>
          <p:cNvPr id="8" name="text-81">
            <a:extLst xmlns:a="http://schemas.openxmlformats.org/drawingml/2006/main">
              <a:ext uri="{FF2B5EF4-FFF2-40B4-BE49-F238E27FC236}">
                <a16:creationId xmlns:a16="http://schemas.microsoft.com/office/drawing/2014/main" id="{3AFF35D9-F7A1-47D5-8514-007B01DD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4782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显存收益与代价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71500" y="2171700"/>
          <a:ext xmlns:a="http://schemas.openxmlformats.org/drawingml/2006/main" cx="11049000" cy="18669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00250"/>
                <a:gridCol w="2857500"/>
                <a:gridCol w="3143250"/>
                <a:gridCol w="3048000"/>
              </a:tblGrid>
              <a:tr h="186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张量并行</a:t>
                      </a:r>
                    </a:p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Tensor Parallelism / TP</a:t>
                      </a:r>
                    </a:p>
                  </a:txBody>
                  <a:tcPr marL="133350" marR="133350" marT="180975" marB="114300">
                    <a:lnL w="9525">
                      <a:solidFill>
                        <a:srgbClr val="DCE4EA"/>
                      </a:solidFill>
                    </a:lnL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把同一层的权重和计算拆到多张卡上协同执行</a:t>
                      </a:r>
                    </a:p>
                  </a:txBody>
                  <a:tcPr marL="133350" marR="133350" marT="18097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大模型可能受益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卡间同步会抵消收益，卡数并非越多越快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 KV 可随模型结构分摊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不代表集群总显存按同样比例减少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10" name="tag-82">
            <a:extLst xmlns:a="http://schemas.openxmlformats.org/drawingml/2006/main">
              <a:ext uri="{FF2B5EF4-FFF2-40B4-BE49-F238E27FC236}">
                <a16:creationId xmlns:a16="http://schemas.microsoft.com/office/drawing/2014/main" id="{E0D22447-6FA5-483E-9426-6A2A1535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95525"/>
            <a:ext cx="28765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低时延 ↓  高吞吐 ↑*</a:t>
            </a:r>
          </a:p>
        </p:txBody>
      </p:sp>
      <p:sp>
        <p:nvSpPr>
          <p:cNvPr id="11" name="tag-83">
            <a:extLst xmlns:a="http://schemas.openxmlformats.org/drawingml/2006/main">
              <a:ext uri="{FF2B5EF4-FFF2-40B4-BE49-F238E27FC236}">
                <a16:creationId xmlns:a16="http://schemas.microsoft.com/office/drawing/2014/main" id="{DDA0E155-D3CC-4281-95FF-0C836589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95525"/>
            <a:ext cx="27813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6764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单卡权重占用 ↓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71500" y="4143375"/>
          <a:ext xmlns:a="http://schemas.openxmlformats.org/drawingml/2006/main" cx="11049000" cy="18669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00250"/>
                <a:gridCol w="2857500"/>
                <a:gridCol w="3143250"/>
                <a:gridCol w="3048000"/>
              </a:tblGrid>
              <a:tr h="186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流水线并行</a:t>
                      </a:r>
                    </a:p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Pipeline Parallelism / PP</a:t>
                      </a:r>
                    </a:p>
                  </a:txBody>
                  <a:tcPr marL="133350" marR="133350" marT="180975" marB="114300">
                    <a:lnL w="9525">
                      <a:solidFill>
                        <a:srgbClr val="DCE4EA"/>
                      </a:solidFill>
                    </a:lnL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模型按层分段放到不同卡，请求依次通过，多批请求形成流水线</a:t>
                      </a:r>
                    </a:p>
                  </a:txBody>
                  <a:tcPr marL="133350" marR="133350" marT="18097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支持大模型部署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受流水线空泡影响，单请求时延可能增加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每张卡保存对应层的权重和 KV，分摊单卡压力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ag-84">
            <a:extLst xmlns:a="http://schemas.openxmlformats.org/drawingml/2006/main">
              <a:ext uri="{FF2B5EF4-FFF2-40B4-BE49-F238E27FC236}">
                <a16:creationId xmlns:a16="http://schemas.microsoft.com/office/drawing/2014/main" id="{BE669695-977A-4C7B-94F4-17EF2B1C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67200"/>
            <a:ext cx="28765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863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 ↑*</a:t>
            </a:r>
          </a:p>
        </p:txBody>
      </p:sp>
      <p:sp>
        <p:nvSpPr>
          <p:cNvPr id="14" name="tag-85">
            <a:extLst xmlns:a="http://schemas.openxmlformats.org/drawingml/2006/main">
              <a:ext uri="{FF2B5EF4-FFF2-40B4-BE49-F238E27FC236}">
                <a16:creationId xmlns:a16="http://schemas.microsoft.com/office/drawing/2014/main" id="{B6E64943-9F48-4506-9F39-FA4A55E9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67200"/>
            <a:ext cx="27813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6764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单卡权重／KV ↓</a:t>
            </a:r>
          </a:p>
        </p:txBody>
      </p:sp>
    </p:spTree>
    <p:extLst>
      <p:ext uri="{BB962C8B-B14F-4D97-AF65-F5344CB8AC3E}">
        <p14:creationId xmlns:p14="http://schemas.microsoft.com/office/powerpoint/2010/main" val="4786997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86">
            <a:extLst xmlns:a="http://schemas.openxmlformats.org/drawingml/2006/main">
              <a:ext uri="{FF2B5EF4-FFF2-40B4-BE49-F238E27FC236}">
                <a16:creationId xmlns:a16="http://schemas.microsoft.com/office/drawing/2014/main" id="{9A04A1B7-F63E-4D87-B910-DC9617C4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更多副本与专家并行</a:t>
            </a:r>
          </a:p>
        </p:txBody>
      </p:sp>
      <p:sp>
        <p:nvSpPr>
          <p:cNvPr id="2" name="text-87">
            <a:extLst xmlns:a="http://schemas.openxmlformats.org/drawingml/2006/main">
              <a:ext uri="{FF2B5EF4-FFF2-40B4-BE49-F238E27FC236}">
                <a16:creationId xmlns:a16="http://schemas.microsoft.com/office/drawing/2014/main" id="{2C839FAC-7E76-4AFD-8770-3F82F6F7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38225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特性含义、性能收益和显存变化</a:t>
            </a:r>
          </a:p>
        </p:txBody>
      </p:sp>
      <p:sp>
        <p:nvSpPr>
          <p:cNvPr id="3" name="text-88">
            <a:extLst xmlns:a="http://schemas.openxmlformats.org/drawingml/2006/main">
              <a:ext uri="{FF2B5EF4-FFF2-40B4-BE49-F238E27FC236}">
                <a16:creationId xmlns:a16="http://schemas.microsoft.com/office/drawing/2014/main" id="{508C63A5-507A-4A06-97D7-57532E4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vLLM / vLLM Ascend    机制归纳，实际收益需按模型、硬件与负载验证</a:t>
            </a:r>
          </a:p>
        </p:txBody>
      </p:sp>
      <p:sp>
        <p:nvSpPr>
          <p:cNvPr id="4" name="text-89">
            <a:extLst xmlns:a="http://schemas.openxmlformats.org/drawingml/2006/main">
              <a:ext uri="{FF2B5EF4-FFF2-40B4-BE49-F238E27FC236}">
                <a16:creationId xmlns:a16="http://schemas.microsoft.com/office/drawing/2014/main" id="{D043BE50-4D1B-4185-A81C-EC4002A8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08 / 11</a:t>
            </a:r>
          </a:p>
        </p:txBody>
      </p:sp>
      <p:sp>
        <p:nvSpPr>
          <p:cNvPr id="5" name="text-90">
            <a:extLst xmlns:a="http://schemas.openxmlformats.org/drawingml/2006/main">
              <a:ext uri="{FF2B5EF4-FFF2-40B4-BE49-F238E27FC236}">
                <a16:creationId xmlns:a16="http://schemas.microsoft.com/office/drawing/2014/main" id="{1AF869FA-743B-4CD5-9D26-BD23F6B8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特性名称</a:t>
            </a:r>
          </a:p>
        </p:txBody>
      </p:sp>
      <p:sp>
        <p:nvSpPr>
          <p:cNvPr id="6" name="text-91">
            <a:extLst xmlns:a="http://schemas.openxmlformats.org/drawingml/2006/main">
              <a:ext uri="{FF2B5EF4-FFF2-40B4-BE49-F238E27FC236}">
                <a16:creationId xmlns:a16="http://schemas.microsoft.com/office/drawing/2014/main" id="{6A7F2157-B0B6-4F19-BC9A-DD914916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478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含义解释</a:t>
            </a:r>
          </a:p>
        </p:txBody>
      </p:sp>
      <p:sp>
        <p:nvSpPr>
          <p:cNvPr id="7" name="text-92">
            <a:extLst xmlns:a="http://schemas.openxmlformats.org/drawingml/2006/main">
              <a:ext uri="{FF2B5EF4-FFF2-40B4-BE49-F238E27FC236}">
                <a16:creationId xmlns:a16="http://schemas.microsoft.com/office/drawing/2014/main" id="{BE8F00B8-AA2C-4BF4-996F-24420E4A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478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性能收益</a:t>
            </a:r>
          </a:p>
        </p:txBody>
      </p:sp>
      <p:sp>
        <p:nvSpPr>
          <p:cNvPr id="8" name="text-93">
            <a:extLst xmlns:a="http://schemas.openxmlformats.org/drawingml/2006/main">
              <a:ext uri="{FF2B5EF4-FFF2-40B4-BE49-F238E27FC236}">
                <a16:creationId xmlns:a16="http://schemas.microsoft.com/office/drawing/2014/main" id="{87D60D61-7EB2-4AD6-80B9-E264E39B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4782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显存收益与代价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71500" y="2171700"/>
          <a:ext xmlns:a="http://schemas.openxmlformats.org/drawingml/2006/main" cx="11049000" cy="18669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00250"/>
                <a:gridCol w="2857500"/>
                <a:gridCol w="3143250"/>
                <a:gridCol w="3048000"/>
              </a:tblGrid>
              <a:tr h="186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数据并行</a:t>
                      </a:r>
                    </a:p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 Parallelism / DP</a:t>
                      </a:r>
                    </a:p>
                  </a:txBody>
                  <a:tcPr marL="133350" marR="133350" marT="180975" marB="114300">
                    <a:lnL w="9525">
                      <a:solidFill>
                        <a:srgbClr val="DCE4EA"/>
                      </a:solidFill>
                    </a:lnL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多个服务副本分别处理不同请求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每个副本还可使用 TP / PP</a:t>
                      </a:r>
                    </a:p>
                  </a:txBody>
                  <a:tcPr marL="133350" marR="133350" marT="18097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增加可同时服务的用户数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不直接加快单请求计算，但可减轻排队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普通多副本复制模型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 与 EP 组合时，专家另有分片规则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10" name="tag-94">
            <a:extLst xmlns:a="http://schemas.openxmlformats.org/drawingml/2006/main">
              <a:ext uri="{FF2B5EF4-FFF2-40B4-BE49-F238E27FC236}">
                <a16:creationId xmlns:a16="http://schemas.microsoft.com/office/drawing/2014/main" id="{88B8EA19-F6EE-4131-ACBE-7FC5E5CE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95525"/>
            <a:ext cx="28765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863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 ↑  并发 ↑</a:t>
            </a:r>
          </a:p>
        </p:txBody>
      </p:sp>
      <p:sp>
        <p:nvSpPr>
          <p:cNvPr id="11" name="tag-95">
            <a:extLst xmlns:a="http://schemas.openxmlformats.org/drawingml/2006/main">
              <a:ext uri="{FF2B5EF4-FFF2-40B4-BE49-F238E27FC236}">
                <a16:creationId xmlns:a16="http://schemas.microsoft.com/office/drawing/2014/main" id="{99F2B759-0F80-4F65-BBF6-F4F821E2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95525"/>
            <a:ext cx="27813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A76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集群总显存 ↑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71500" y="4143375"/>
          <a:ext xmlns:a="http://schemas.openxmlformats.org/drawingml/2006/main" cx="11049000" cy="18669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00250"/>
                <a:gridCol w="2857500"/>
                <a:gridCol w="3143250"/>
                <a:gridCol w="3048000"/>
              </a:tblGrid>
              <a:tr h="186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专家并行</a:t>
                      </a:r>
                    </a:p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Expert Parallelism / EP</a:t>
                      </a:r>
                    </a:p>
                  </a:txBody>
                  <a:tcPr marL="133350" marR="133350" marT="180975" marB="114300">
                    <a:lnL w="9525">
                      <a:solidFill>
                        <a:srgbClr val="DCE4EA"/>
                      </a:solidFill>
                    </a:lnL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 的不同专家放到不同卡，按路由将 token 发给相应专家</a:t>
                      </a:r>
                    </a:p>
                  </a:txBody>
                  <a:tcPr marL="133350" marR="133350" marT="18097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并行处理专家计算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收益受路由倾斜和 All-to-All 通信影响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分摊专家权重，仍需通信缓冲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不减少模型的总专家数量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ag-96">
            <a:extLst xmlns:a="http://schemas.openxmlformats.org/drawingml/2006/main">
              <a:ext uri="{FF2B5EF4-FFF2-40B4-BE49-F238E27FC236}">
                <a16:creationId xmlns:a16="http://schemas.microsoft.com/office/drawing/2014/main" id="{0A881455-7F39-4B30-8247-39A2B1BB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67200"/>
            <a:ext cx="28765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863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 ↑*</a:t>
            </a:r>
          </a:p>
        </p:txBody>
      </p:sp>
      <p:sp>
        <p:nvSpPr>
          <p:cNvPr id="14" name="tag-97">
            <a:extLst xmlns:a="http://schemas.openxmlformats.org/drawingml/2006/main">
              <a:ext uri="{FF2B5EF4-FFF2-40B4-BE49-F238E27FC236}">
                <a16:creationId xmlns:a16="http://schemas.microsoft.com/office/drawing/2014/main" id="{59635D60-9A2F-4D3C-A36A-0E2834EF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67200"/>
            <a:ext cx="27813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6764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单卡专家权重 ↓</a:t>
            </a:r>
          </a:p>
        </p:txBody>
      </p:sp>
    </p:spTree>
    <p:extLst>
      <p:ext uri="{BB962C8B-B14F-4D97-AF65-F5344CB8AC3E}">
        <p14:creationId xmlns:p14="http://schemas.microsoft.com/office/powerpoint/2010/main" val="4514781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98">
            <a:extLst xmlns:a="http://schemas.openxmlformats.org/drawingml/2006/main">
              <a:ext uri="{FF2B5EF4-FFF2-40B4-BE49-F238E27FC236}">
                <a16:creationId xmlns:a16="http://schemas.microsoft.com/office/drawing/2014/main" id="{F1E9883A-4C43-46FC-8D35-30B48E31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专家均衡与长输入</a:t>
            </a:r>
          </a:p>
        </p:txBody>
      </p:sp>
      <p:sp>
        <p:nvSpPr>
          <p:cNvPr id="2" name="text-99">
            <a:extLst xmlns:a="http://schemas.openxmlformats.org/drawingml/2006/main">
              <a:ext uri="{FF2B5EF4-FFF2-40B4-BE49-F238E27FC236}">
                <a16:creationId xmlns:a16="http://schemas.microsoft.com/office/drawing/2014/main" id="{56B0FD73-19E2-455E-9667-CB965C5D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38225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特性含义、性能收益和显存变化</a:t>
            </a:r>
          </a:p>
        </p:txBody>
      </p:sp>
      <p:sp>
        <p:nvSpPr>
          <p:cNvPr id="3" name="text-100">
            <a:extLst xmlns:a="http://schemas.openxmlformats.org/drawingml/2006/main">
              <a:ext uri="{FF2B5EF4-FFF2-40B4-BE49-F238E27FC236}">
                <a16:creationId xmlns:a16="http://schemas.microsoft.com/office/drawing/2014/main" id="{F3B05E6D-6BD3-4F06-B732-A75EB1EF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vLLM / vLLM Ascend    机制归纳，实际收益需按模型、硬件与负载验证</a:t>
            </a:r>
          </a:p>
        </p:txBody>
      </p:sp>
      <p:sp>
        <p:nvSpPr>
          <p:cNvPr id="4" name="text-101">
            <a:extLst xmlns:a="http://schemas.openxmlformats.org/drawingml/2006/main">
              <a:ext uri="{FF2B5EF4-FFF2-40B4-BE49-F238E27FC236}">
                <a16:creationId xmlns:a16="http://schemas.microsoft.com/office/drawing/2014/main" id="{9C13D652-D0DE-4BA6-AE16-BDB663B5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09 / 11</a:t>
            </a:r>
          </a:p>
        </p:txBody>
      </p:sp>
      <p:sp>
        <p:nvSpPr>
          <p:cNvPr id="5" name="text-102">
            <a:extLst xmlns:a="http://schemas.openxmlformats.org/drawingml/2006/main">
              <a:ext uri="{FF2B5EF4-FFF2-40B4-BE49-F238E27FC236}">
                <a16:creationId xmlns:a16="http://schemas.microsoft.com/office/drawing/2014/main" id="{1FDA80A6-174D-4DF0-9DA8-D2551292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特性名称</a:t>
            </a:r>
          </a:p>
        </p:txBody>
      </p:sp>
      <p:sp>
        <p:nvSpPr>
          <p:cNvPr id="6" name="text-103">
            <a:extLst xmlns:a="http://schemas.openxmlformats.org/drawingml/2006/main">
              <a:ext uri="{FF2B5EF4-FFF2-40B4-BE49-F238E27FC236}">
                <a16:creationId xmlns:a16="http://schemas.microsoft.com/office/drawing/2014/main" id="{8DCC63BC-F279-42AB-B9EC-86F8B43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478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含义解释</a:t>
            </a:r>
          </a:p>
        </p:txBody>
      </p:sp>
      <p:sp>
        <p:nvSpPr>
          <p:cNvPr id="7" name="text-104">
            <a:extLst xmlns:a="http://schemas.openxmlformats.org/drawingml/2006/main">
              <a:ext uri="{FF2B5EF4-FFF2-40B4-BE49-F238E27FC236}">
                <a16:creationId xmlns:a16="http://schemas.microsoft.com/office/drawing/2014/main" id="{7F7221B8-8962-4A3B-8E29-34414083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478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性能收益</a:t>
            </a:r>
          </a:p>
        </p:txBody>
      </p:sp>
      <p:sp>
        <p:nvSpPr>
          <p:cNvPr id="8" name="text-105">
            <a:extLst xmlns:a="http://schemas.openxmlformats.org/drawingml/2006/main">
              <a:ext uri="{FF2B5EF4-FFF2-40B4-BE49-F238E27FC236}">
                <a16:creationId xmlns:a16="http://schemas.microsoft.com/office/drawing/2014/main" id="{BA67C972-5900-4C28-ABF9-63C9D19D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4782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显存收益与代价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71500" y="2171700"/>
          <a:ext xmlns:a="http://schemas.openxmlformats.org/drawingml/2006/main" cx="11049000" cy="18669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00250"/>
                <a:gridCol w="2857500"/>
                <a:gridCol w="3143250"/>
                <a:gridCol w="3048000"/>
              </a:tblGrid>
              <a:tr h="186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专家负载均衡</a:t>
                      </a:r>
                    </a:p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EPLB</a:t>
                      </a:r>
                    </a:p>
                  </a:txBody>
                  <a:tcPr marL="133350" marR="133350" marT="180975" marB="114300">
                    <a:lnL w="9525">
                      <a:solidFill>
                        <a:srgbClr val="DCE4EA"/>
                      </a:solidFill>
                    </a:lnL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根据专家热度调整部署，或使用冗余专家，平衡各卡负载</a:t>
                      </a:r>
                    </a:p>
                  </a:txBody>
                  <a:tcPr marL="133350" marR="133350" marT="18097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缓解所有卡等待最忙卡的问题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尤其适合专家路由倾斜的 MoE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无必然节省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冗余专家增加权重，迁移也可能需要额外缓冲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10" name="tag-106">
            <a:extLst xmlns:a="http://schemas.openxmlformats.org/drawingml/2006/main">
              <a:ext uri="{FF2B5EF4-FFF2-40B4-BE49-F238E27FC236}">
                <a16:creationId xmlns:a16="http://schemas.microsoft.com/office/drawing/2014/main" id="{E9BF72DC-4CB6-4E65-91E2-379EFE13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95525"/>
            <a:ext cx="28765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863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 ↑  尾时延 ↓*</a:t>
            </a:r>
          </a:p>
        </p:txBody>
      </p:sp>
      <p:sp>
        <p:nvSpPr>
          <p:cNvPr id="11" name="tag-107">
            <a:extLst xmlns:a="http://schemas.openxmlformats.org/drawingml/2006/main">
              <a:ext uri="{FF2B5EF4-FFF2-40B4-BE49-F238E27FC236}">
                <a16:creationId xmlns:a16="http://schemas.microsoft.com/office/drawing/2014/main" id="{932CF379-87CC-4E57-8B96-5034AB46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95525"/>
            <a:ext cx="27813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A7601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额外显存 ↑*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71500" y="4143375"/>
          <a:ext xmlns:a="http://schemas.openxmlformats.org/drawingml/2006/main" cx="11049000" cy="18669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00250"/>
                <a:gridCol w="2857500"/>
                <a:gridCol w="3143250"/>
                <a:gridCol w="3048000"/>
              </a:tblGrid>
              <a:tr h="186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Prefill 上下文并行</a:t>
                      </a:r>
                    </a:p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PCP</a:t>
                      </a:r>
                    </a:p>
                  </a:txBody>
                  <a:tcPr marL="133350" marR="133350" marT="180975" marB="114300">
                    <a:lnL w="9525">
                      <a:solidFill>
                        <a:srgbClr val="DCE4EA"/>
                      </a:solidFill>
                    </a:lnL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将长输入的 Prefill 工作沿序列维度分配给多个执行单元</a:t>
                      </a:r>
                    </a:p>
                  </a:txBody>
                  <a:tcPr marL="133350" marR="133350" marT="18097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多卡共同处理长输入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短输入可能难以覆盖通信成本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可分摊部分 Prefill 内存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是否同步分片取决于实现和并行组合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ag-108">
            <a:extLst xmlns:a="http://schemas.openxmlformats.org/drawingml/2006/main">
              <a:ext uri="{FF2B5EF4-FFF2-40B4-BE49-F238E27FC236}">
                <a16:creationId xmlns:a16="http://schemas.microsoft.com/office/drawing/2014/main" id="{A4BF2E28-A574-45DE-94BB-0AD4F88E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67200"/>
            <a:ext cx="28765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 TTFT ↓*</a:t>
            </a:r>
          </a:p>
        </p:txBody>
      </p:sp>
      <p:sp>
        <p:nvSpPr>
          <p:cNvPr id="14" name="tag-109">
            <a:extLst xmlns:a="http://schemas.openxmlformats.org/drawingml/2006/main">
              <a:ext uri="{FF2B5EF4-FFF2-40B4-BE49-F238E27FC236}">
                <a16:creationId xmlns:a16="http://schemas.microsoft.com/office/drawing/2014/main" id="{4D2A6953-DA9B-4A36-8561-9DEFB5E0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67200"/>
            <a:ext cx="27813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6764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工作内存分摊 ↓*</a:t>
            </a:r>
          </a:p>
        </p:txBody>
      </p:sp>
    </p:spTree>
    <p:extLst>
      <p:ext uri="{BB962C8B-B14F-4D97-AF65-F5344CB8AC3E}">
        <p14:creationId xmlns:p14="http://schemas.microsoft.com/office/powerpoint/2010/main" val="8379559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10">
            <a:extLst xmlns:a="http://schemas.openxmlformats.org/drawingml/2006/main">
              <a:ext uri="{FF2B5EF4-FFF2-40B4-BE49-F238E27FC236}">
                <a16:creationId xmlns:a16="http://schemas.microsoft.com/office/drawing/2014/main" id="{AFA92254-8ACC-49A4-8A88-B74D51EC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长上下文与通信优化</a:t>
            </a:r>
          </a:p>
        </p:txBody>
      </p:sp>
      <p:sp>
        <p:nvSpPr>
          <p:cNvPr id="2" name="text-111">
            <a:extLst xmlns:a="http://schemas.openxmlformats.org/drawingml/2006/main">
              <a:ext uri="{FF2B5EF4-FFF2-40B4-BE49-F238E27FC236}">
                <a16:creationId xmlns:a16="http://schemas.microsoft.com/office/drawing/2014/main" id="{0624BCD3-2233-43A4-B740-42281309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38225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特性含义、性能收益和显存变化</a:t>
            </a:r>
          </a:p>
        </p:txBody>
      </p:sp>
      <p:sp>
        <p:nvSpPr>
          <p:cNvPr id="3" name="text-112">
            <a:extLst xmlns:a="http://schemas.openxmlformats.org/drawingml/2006/main">
              <a:ext uri="{FF2B5EF4-FFF2-40B4-BE49-F238E27FC236}">
                <a16:creationId xmlns:a16="http://schemas.microsoft.com/office/drawing/2014/main" id="{DD7F7289-9825-4D72-82F6-BB303330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vLLM / vLLM Ascend    机制归纳，实际收益需按模型、硬件与负载验证</a:t>
            </a:r>
          </a:p>
        </p:txBody>
      </p:sp>
      <p:sp>
        <p:nvSpPr>
          <p:cNvPr id="4" name="text-113">
            <a:extLst xmlns:a="http://schemas.openxmlformats.org/drawingml/2006/main">
              <a:ext uri="{FF2B5EF4-FFF2-40B4-BE49-F238E27FC236}">
                <a16:creationId xmlns:a16="http://schemas.microsoft.com/office/drawing/2014/main" id="{C41172D3-AD01-4DE4-8C45-2CD96986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10 / 11</a:t>
            </a:r>
          </a:p>
        </p:txBody>
      </p:sp>
      <p:sp>
        <p:nvSpPr>
          <p:cNvPr id="5" name="text-114">
            <a:extLst xmlns:a="http://schemas.openxmlformats.org/drawingml/2006/main">
              <a:ext uri="{FF2B5EF4-FFF2-40B4-BE49-F238E27FC236}">
                <a16:creationId xmlns:a16="http://schemas.microsoft.com/office/drawing/2014/main" id="{417B182E-B952-4790-A8E0-184E752A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特性名称</a:t>
            </a:r>
          </a:p>
        </p:txBody>
      </p:sp>
      <p:sp>
        <p:nvSpPr>
          <p:cNvPr id="6" name="text-115">
            <a:extLst xmlns:a="http://schemas.openxmlformats.org/drawingml/2006/main">
              <a:ext uri="{FF2B5EF4-FFF2-40B4-BE49-F238E27FC236}">
                <a16:creationId xmlns:a16="http://schemas.microsoft.com/office/drawing/2014/main" id="{645B34F7-4E13-45C8-8BD7-44CB8AB7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478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含义解释</a:t>
            </a:r>
          </a:p>
        </p:txBody>
      </p:sp>
      <p:sp>
        <p:nvSpPr>
          <p:cNvPr id="7" name="text-116">
            <a:extLst xmlns:a="http://schemas.openxmlformats.org/drawingml/2006/main">
              <a:ext uri="{FF2B5EF4-FFF2-40B4-BE49-F238E27FC236}">
                <a16:creationId xmlns:a16="http://schemas.microsoft.com/office/drawing/2014/main" id="{1E59EE97-EC24-4B2A-916A-5A14BD03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478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性能收益</a:t>
            </a:r>
          </a:p>
        </p:txBody>
      </p:sp>
      <p:sp>
        <p:nvSpPr>
          <p:cNvPr id="8" name="text-117">
            <a:extLst xmlns:a="http://schemas.openxmlformats.org/drawingml/2006/main">
              <a:ext uri="{FF2B5EF4-FFF2-40B4-BE49-F238E27FC236}">
                <a16:creationId xmlns:a16="http://schemas.microsoft.com/office/drawing/2014/main" id="{67C56408-449C-4362-8867-6470B32C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4782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显存收益与代价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71500" y="2171700"/>
          <a:ext xmlns:a="http://schemas.openxmlformats.org/drawingml/2006/main" cx="11049000" cy="18669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00250"/>
                <a:gridCol w="2857500"/>
                <a:gridCol w="3143250"/>
                <a:gridCol w="3048000"/>
              </a:tblGrid>
              <a:tr h="186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Decode 上下文并行</a:t>
                      </a:r>
                    </a:p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DCP</a:t>
                      </a:r>
                    </a:p>
                  </a:txBody>
                  <a:tcPr marL="133350" marR="133350" marT="180975" marB="114300">
                    <a:lnL w="9525">
                      <a:solidFill>
                        <a:srgbClr val="DCE4EA"/>
                      </a:solidFill>
                    </a:lnL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组内分片保存上下文 KV，协同完成 Decode Attention</a:t>
                      </a:r>
                    </a:p>
                  </a:txBody>
                  <a:tcPr marL="133350" marR="133350" marT="18097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分摊长上下文 KV 访问负担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时延收益需结合通信开销评估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降低单卡 KV 及部分重复存储，有利于长上下文和更多并发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10" name="tag-118">
            <a:extLst xmlns:a="http://schemas.openxmlformats.org/drawingml/2006/main">
              <a:ext uri="{FF2B5EF4-FFF2-40B4-BE49-F238E27FC236}">
                <a16:creationId xmlns:a16="http://schemas.microsoft.com/office/drawing/2014/main" id="{93EF806D-36BA-4361-9783-F8393243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95525"/>
            <a:ext cx="28765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863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 ↑*</a:t>
            </a:r>
          </a:p>
        </p:txBody>
      </p:sp>
      <p:sp>
        <p:nvSpPr>
          <p:cNvPr id="11" name="tag-119">
            <a:extLst xmlns:a="http://schemas.openxmlformats.org/drawingml/2006/main">
              <a:ext uri="{FF2B5EF4-FFF2-40B4-BE49-F238E27FC236}">
                <a16:creationId xmlns:a16="http://schemas.microsoft.com/office/drawing/2014/main" id="{B8DB1D94-721C-46A4-8245-0A89E5C9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95525"/>
            <a:ext cx="27813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6764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单卡 KV 占用 ↓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71500" y="4143375"/>
          <a:ext xmlns:a="http://schemas.openxmlformats.org/drawingml/2006/main" cx="11049000" cy="18669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00250"/>
                <a:gridCol w="2857500"/>
                <a:gridCol w="3143250"/>
                <a:gridCol w="3048000"/>
              </a:tblGrid>
              <a:tr h="186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序列并行与融合</a:t>
                      </a:r>
                    </a:p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 / 通信计算优化</a:t>
                      </a:r>
                    </a:p>
                  </a:txBody>
                  <a:tcPr marL="133350" marR="133350" marT="180975" marB="114300">
                    <a:lnL w="9525">
                      <a:solidFill>
                        <a:srgbClr val="DCE4EA"/>
                      </a:solidFill>
                    </a:lnL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部分激活沿序列分片，结合量化及通信计算融合减少等待</a:t>
                      </a:r>
                    </a:p>
                  </a:txBody>
                  <a:tcPr marL="133350" marR="133350" marT="18097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减少通信量或重叠通信计算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仅拆分通信操作不保证加速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减少部分重复激活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 不等同于 DCP，也不代表 KV 已分片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ag-120">
            <a:extLst xmlns:a="http://schemas.openxmlformats.org/drawingml/2006/main">
              <a:ext uri="{FF2B5EF4-FFF2-40B4-BE49-F238E27FC236}">
                <a16:creationId xmlns:a16="http://schemas.microsoft.com/office/drawing/2014/main" id="{4832CD51-D652-4D38-BBA8-31271526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67200"/>
            <a:ext cx="28765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低时延 ↓  高吞吐 ↑*</a:t>
            </a:r>
          </a:p>
        </p:txBody>
      </p:sp>
      <p:sp>
        <p:nvSpPr>
          <p:cNvPr id="14" name="tag-121">
            <a:extLst xmlns:a="http://schemas.openxmlformats.org/drawingml/2006/main">
              <a:ext uri="{FF2B5EF4-FFF2-40B4-BE49-F238E27FC236}">
                <a16:creationId xmlns:a16="http://schemas.microsoft.com/office/drawing/2014/main" id="{CB94F30C-F0CF-4A54-8D2E-C7F62B4C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67200"/>
            <a:ext cx="27813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6764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部分激活占用 ↓</a:t>
            </a:r>
          </a:p>
        </p:txBody>
      </p:sp>
    </p:spTree>
    <p:extLst>
      <p:ext uri="{BB962C8B-B14F-4D97-AF65-F5344CB8AC3E}">
        <p14:creationId xmlns:p14="http://schemas.microsoft.com/office/powerpoint/2010/main" val="546197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22">
            <a:extLst xmlns:a="http://schemas.openxmlformats.org/drawingml/2006/main">
              <a:ext uri="{FF2B5EF4-FFF2-40B4-BE49-F238E27FC236}">
                <a16:creationId xmlns:a16="http://schemas.microsoft.com/office/drawing/2014/main" id="{2354A54F-8147-44CA-8BD3-D12A5420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阶段分离与多租户</a:t>
            </a:r>
          </a:p>
        </p:txBody>
      </p:sp>
      <p:sp>
        <p:nvSpPr>
          <p:cNvPr id="2" name="text-123">
            <a:extLst xmlns:a="http://schemas.openxmlformats.org/drawingml/2006/main">
              <a:ext uri="{FF2B5EF4-FFF2-40B4-BE49-F238E27FC236}">
                <a16:creationId xmlns:a16="http://schemas.microsoft.com/office/drawing/2014/main" id="{FB18DB52-5AF5-472C-B2B3-954D9C55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38225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特性含义、性能收益和显存变化</a:t>
            </a:r>
          </a:p>
        </p:txBody>
      </p:sp>
      <p:sp>
        <p:nvSpPr>
          <p:cNvPr id="3" name="text-124">
            <a:extLst xmlns:a="http://schemas.openxmlformats.org/drawingml/2006/main">
              <a:ext uri="{FF2B5EF4-FFF2-40B4-BE49-F238E27FC236}">
                <a16:creationId xmlns:a16="http://schemas.microsoft.com/office/drawing/2014/main" id="{9BCE8C9A-F963-4C1A-8DBD-30B94E11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vLLM / vLLM Ascend    机制归纳，实际收益需按模型、硬件与负载验证</a:t>
            </a:r>
          </a:p>
        </p:txBody>
      </p:sp>
      <p:sp>
        <p:nvSpPr>
          <p:cNvPr id="4" name="text-125">
            <a:extLst xmlns:a="http://schemas.openxmlformats.org/drawingml/2006/main">
              <a:ext uri="{FF2B5EF4-FFF2-40B4-BE49-F238E27FC236}">
                <a16:creationId xmlns:a16="http://schemas.microsoft.com/office/drawing/2014/main" id="{BAC661B6-AC1C-4261-A289-FF330EB6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722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D"/>
                </a:solidFill>
                <a:latin typeface="Microsoft YaHei"/>
                <a:ea typeface="Microsoft YaHei"/>
                <a:cs typeface="Microsoft YaHei"/>
              </a:rPr>
              <a:t>11 / 11</a:t>
            </a:r>
          </a:p>
        </p:txBody>
      </p:sp>
      <p:sp>
        <p:nvSpPr>
          <p:cNvPr id="5" name="text-126">
            <a:extLst xmlns:a="http://schemas.openxmlformats.org/drawingml/2006/main">
              <a:ext uri="{FF2B5EF4-FFF2-40B4-BE49-F238E27FC236}">
                <a16:creationId xmlns:a16="http://schemas.microsoft.com/office/drawing/2014/main" id="{34237492-D699-4913-B891-D38354D7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特性名称</a:t>
            </a:r>
          </a:p>
        </p:txBody>
      </p:sp>
      <p:sp>
        <p:nvSpPr>
          <p:cNvPr id="6" name="text-127">
            <a:extLst xmlns:a="http://schemas.openxmlformats.org/drawingml/2006/main">
              <a:ext uri="{FF2B5EF4-FFF2-40B4-BE49-F238E27FC236}">
                <a16:creationId xmlns:a16="http://schemas.microsoft.com/office/drawing/2014/main" id="{4058111A-18F8-4919-9D32-02508384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478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含义解释</a:t>
            </a:r>
          </a:p>
        </p:txBody>
      </p:sp>
      <p:sp>
        <p:nvSpPr>
          <p:cNvPr id="7" name="text-128">
            <a:extLst xmlns:a="http://schemas.openxmlformats.org/drawingml/2006/main">
              <a:ext uri="{FF2B5EF4-FFF2-40B4-BE49-F238E27FC236}">
                <a16:creationId xmlns:a16="http://schemas.microsoft.com/office/drawing/2014/main" id="{EF4E2334-EC77-457C-9A27-FF2DB9FD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478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性能收益</a:t>
            </a:r>
          </a:p>
        </p:txBody>
      </p:sp>
      <p:sp>
        <p:nvSpPr>
          <p:cNvPr id="8" name="text-129">
            <a:extLst xmlns:a="http://schemas.openxmlformats.org/drawingml/2006/main">
              <a:ext uri="{FF2B5EF4-FFF2-40B4-BE49-F238E27FC236}">
                <a16:creationId xmlns:a16="http://schemas.microsoft.com/office/drawing/2014/main" id="{EDCFCFAD-3CEB-45D1-83D0-ABD6772E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4782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显存收益与代价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71500" y="2171700"/>
          <a:ext xmlns:a="http://schemas.openxmlformats.org/drawingml/2006/main" cx="11049000" cy="18669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00250"/>
                <a:gridCol w="2857500"/>
                <a:gridCol w="3143250"/>
                <a:gridCol w="3048000"/>
              </a:tblGrid>
              <a:tr h="186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Prefill / Decode 分离</a:t>
                      </a:r>
                    </a:p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 Disaggregation</a:t>
                      </a:r>
                    </a:p>
                  </a:txBody>
                  <a:tcPr marL="133350" marR="133350" marT="180975" marB="114300">
                    <a:lnL w="9525">
                      <a:solidFill>
                        <a:srgbClr val="DCE4EA"/>
                      </a:solidFill>
                    </a:lnL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两阶段放到不同实例，中间传递 KV，分别配置资源与并行策略</a:t>
                      </a:r>
                    </a:p>
                  </a:txBody>
                  <a:tcPr marL="133350" marR="133350" marT="18097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分别优化 TTFT 与 TPOT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vLLM 明确说明该特性本身不提高吞吐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两端需相应模型资源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传输期间还可能需要副本或缓冲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10" name="tag-130">
            <a:extLst xmlns:a="http://schemas.openxmlformats.org/drawingml/2006/main">
              <a:ext uri="{FF2B5EF4-FFF2-40B4-BE49-F238E27FC236}">
                <a16:creationId xmlns:a16="http://schemas.microsoft.com/office/drawing/2014/main" id="{67F7970B-87FA-44D8-B152-20A5CBE1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95525"/>
            <a:ext cx="28765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863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尾 ITL ↓  独立调优</a:t>
            </a:r>
          </a:p>
        </p:txBody>
      </p:sp>
      <p:sp>
        <p:nvSpPr>
          <p:cNvPr id="11" name="tag-131">
            <a:extLst xmlns:a="http://schemas.openxmlformats.org/drawingml/2006/main">
              <a:ext uri="{FF2B5EF4-FFF2-40B4-BE49-F238E27FC236}">
                <a16:creationId xmlns:a16="http://schemas.microsoft.com/office/drawing/2014/main" id="{D1843FF9-2542-4F16-A948-CA2FDBCC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95525"/>
            <a:ext cx="27813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66717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无直接节省 ↔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71500" y="4143375"/>
          <a:ext xmlns:a="http://schemas.openxmlformats.org/drawingml/2006/main" cx="11049000" cy="18669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00250"/>
                <a:gridCol w="2857500"/>
                <a:gridCol w="3143250"/>
                <a:gridCol w="3048000"/>
              </a:tblGrid>
              <a:tr h="186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 LoRA 服务</a:t>
                      </a:r>
                    </a:p>
                    <a:p>
                      <a:r>
                        <a:rPr sz="1575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Multi-LoRA</a:t>
                      </a:r>
                    </a:p>
                  </a:txBody>
                  <a:tcPr marL="133350" marR="133350" marT="180975" marB="114300">
                    <a:lnL w="9525">
                      <a:solidFill>
                        <a:srgbClr val="DCE4EA"/>
                      </a:solidFill>
                    </a:lnL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多个定制任务共享基础模型，按请求选择不同 LoRA 适配器</a:t>
                      </a:r>
                    </a:p>
                  </a:txBody>
                  <a:tcPr marL="133350" marR="133350" marT="18097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集中服务多个定制模型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适配器计算有开销，不保证单请求更快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相比每个任务部署完整模型，减少重复权重</a:t>
                      </a:r>
                    </a:p>
                    <a:p>
                      <a:r>
                        <a:rPr sz="165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仍需适配器和缓存</a:t>
                      </a:r>
                    </a:p>
                  </a:txBody>
                  <a:tcPr marL="133350" marR="133350" marT="619125" marB="114300">
                    <a:lnR w="9525">
                      <a:solidFill>
                        <a:srgbClr val="DCE4EA"/>
                      </a:solidFill>
                    </a:lnR>
                    <a:lnT w="9525">
                      <a:solidFill>
                        <a:srgbClr val="DCE4EA"/>
                      </a:solidFill>
                    </a:lnT>
                    <a:lnB w="9525">
                      <a:solidFill>
                        <a:srgbClr val="DCE4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ag-132">
            <a:extLst xmlns:a="http://schemas.openxmlformats.org/drawingml/2006/main">
              <a:ext uri="{FF2B5EF4-FFF2-40B4-BE49-F238E27FC236}">
                <a16:creationId xmlns:a16="http://schemas.microsoft.com/office/drawing/2014/main" id="{6A3D588E-F884-4716-A648-6DCCDDB7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67200"/>
            <a:ext cx="28765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863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多租户容量 ↑</a:t>
            </a:r>
          </a:p>
        </p:txBody>
      </p:sp>
      <p:sp>
        <p:nvSpPr>
          <p:cNvPr id="14" name="tag-133">
            <a:extLst xmlns:a="http://schemas.openxmlformats.org/drawingml/2006/main">
              <a:ext uri="{FF2B5EF4-FFF2-40B4-BE49-F238E27FC236}">
                <a16:creationId xmlns:a16="http://schemas.microsoft.com/office/drawing/2014/main" id="{356BAAED-3D17-4C5A-8D03-1F7194EA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67200"/>
            <a:ext cx="27813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6764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重复基础权重 ↓</a:t>
            </a:r>
          </a:p>
        </p:txBody>
      </p:sp>
    </p:spTree>
    <p:extLst>
      <p:ext uri="{BB962C8B-B14F-4D97-AF65-F5344CB8AC3E}">
        <p14:creationId xmlns:p14="http://schemas.microsoft.com/office/powerpoint/2010/main" val="13132789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2026-09-14T11:27:46.8420000Z</dcterms:created>
  <dcterms:modified xsi:type="dcterms:W3CDTF">2026-09-14T11:27:46.8420000Z</dcterms:modified>
</coreProperties>
</file>