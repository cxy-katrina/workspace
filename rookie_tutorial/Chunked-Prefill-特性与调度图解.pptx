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https://www.usenix.org/conference/osdi24/presentation/agrawal</a:t>
            </a:r>
          </a:p>
          <a:p>
            <a:r>
              <a:t>https://docs.vllm.ai/en/v0.25.1/configuration/optimization/#chunked-prefill</a:t>
            </a:r>
          </a:p>
          <a:p>
            <a:r>
              <a:t>Chunked Prefill 把同一请求的输入按 token 顺序分块，分多次调度处理。与 Decode 优先的混合批处理结合，限制单轮 Prefill 工作量。上行仅示意一种 Prefill 优先、整段执行造成阻塞的基线，不代表所有关闭分块的调度器。即使整段 Prefill 与 Decode 混在同一批次，较长的批次也可能拉长 token 间隔。图宽不是性能测量，不宣称等比例加速。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https://arxiv.org/abs/2308.16369</a:t>
            </a:r>
          </a:p>
          <a:p>
            <a:r>
              <a:t>https://www.usenix.org/conference/osdi24/presentation/agrawal</a:t>
            </a:r>
          </a:p>
          <a:p>
            <a:r>
              <a:t>示例长输入共 3000 token，为机制解释固定切为 1000+1000+1000；实际调度的块大小可以动态变化。每个新块计算自己的 Q/K/V，注意力可读取前面已缓存的 KV，并在当前块内使用因果掩码。计算完当前块后将新 KV 追加，前块不因分块而重新从头 Prefill。完成全部输入后才能形成针对完整 prompt 的首输出 token；中间块不会各自产生一段答案。这里只画逻辑 KV token 范围，不表示物理显存必须连续。数值内核差异可能影响浮点结果，不宣称逐位相同。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https://docs.vllm.ai/en/v0.25.1/configuration/optimization/#chunked-prefill</a:t>
            </a:r>
          </a:p>
          <a:p>
            <a:r>
              <a:t>教学示例：每轮 max_num_batched_tokens=1024，新请求 E 输入 3000 tokens，已有 A–D 四个请求正在 Decode。每个常规 Decode 请求本轮调度一个输入 token，总计 4 token。余量 1020，因此 E 三轮处理 1020、1020、960，第三轮共 964 token，剩余 60 不必强行填满。此参数是所有请求本轮调度 token 总预算，不是请求数，也不是单条请求的固定 chunk 大小。若其他约束允许，可调度更多请求填补余量。只有第三轮 Prefill 完成后 E 才产生首 token。同一 batch 是逻辑混合批处理，不能推断 CUDA stream、kernel 必然物理同时执行。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https://www.usenix.org/conference/osdi24/presentation/agrawal</a:t>
            </a:r>
          </a:p>
          <a:p>
            <a:r>
              <a:t>https://docs.vllm.ai/en/v0.25.1/configuration/optimization/#chunked-prefill</a:t>
            </a:r>
          </a:p>
          <a:p>
            <a:r>
              <a:t>已有请求持续参与可调度 Decode，长 Prefill 导致的输出间隔尖峰通常会缩小，但混合批次仍有执行时长，不等于零干扰。新请求需要完成所有 Prefill 块，客户端 TTFT 还包含排队、调度等待、采样和通信。更小 chunk 或更强 Decode 优先可能增加某条长请求的 TTFT；反过来，负载和队列改善也可能降低整体 TTFT，所以方向依赖比较基线和负载。TPOT 是首 token 后的请求内平均值，可能掩盖单次 ITL 尖峰。服务能力应在 TTFT/TPOT/ITL SLO 下评估 Goodput 或最大稳定到达率。没有引用实测提升数字。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https://docs.vllm.ai/en/v0.25.1/configuration/optimization/#chunked-prefill</a:t>
            </a:r>
          </a:p>
          <a:p>
            <a:r>
              <a:t>在可用的 vLLM V1 场景中，Chunked Prefill 默认启用，但应核对具体版本、模型、后端和有效配置。小 token 预算通常减少 Prefill 对 Decode 的拖慢，但增加分轮次数及调度/启动开销；大预算常使 Prefill 更快推进，也可能拉长混合迭代与 ITL。相同 token 预算不等于相同毫秒数，注意力上下文长度会影响耗时。固定模型/硬件/输入输出分布/缓存命中，扫描预算并逐级增加实际到达率或并发，观察 TTFT 与 ITL P99、TPOT、完成 QPS、输出 TPS、错误率及排队是否持续增长。目标是在约定延迟和错误率下承载更多用户。示例参数只是待扫候选，具体取值须按运行环境测量，本页不提供万能最优值。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https://arxiv.org/abs/2308.16369</a:t>
            </a:r>
          </a:p>
          <a:p>
            <a:r>
              <a:t>https://www.usenix.org/conference/osdi24/presentation/agrawal</a:t>
            </a:r>
          </a:p>
          <a:p>
            <a:r>
              <a:t>https://docs.vllm.ai/en/v0.25.1/configuration/optimization/#chunked-prefill</a:t>
            </a:r>
          </a:p>
          <a:p>
            <a:r>
              <a:t>https://arxiv.org/abs/2309.06180</a:t>
            </a:r>
          </a:p>
          <a:p>
            <a:r>
              <a:t>https://docs.vllm.ai/en/v0.25.1/features/disagg_prefill/</a:t>
            </a:r>
          </a:p>
          <a:p>
            <a:r>
              <a:t>机制边界归纳：Chunked Prefill 细化每轮 Prefill 工作量，Continuous Batching 管理迭代边界的请求进出，PagedAttention 管理逻辑 KV 与物理块的映射，PD 分离分配不同执行资源并移交 KV。分块保留原有上下文，不会自动减少完整上下文所需的 KV 容量。不同优化能否结合取决于实际实现。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4" name="text-1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Chunked Prefill：长输入分段处理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2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3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长问题进来了，正在回答的用户还要继续听。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4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来源：Sarathi-Serve（OSDI 2024）、vLLM v0.25.1。图为调度示意，不代表实测时长。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-6"/>
          <p:cNvSpPr>
            <a:spLocks noGrp="1"/>
          </p:cNvSpPr>
          <p:nvPr/>
        </p:nvSpPr>
        <p:spPr>
          <a:xfrm>
            <a:off x="723900" y="2152650"/>
            <a:ext cx="1524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整段 Prefill</a:t>
            </a:r>
            <a:endParaRPr sz="1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lock-7"/>
          <p:cNvSpPr>
            <a:spLocks noGrp="1"/>
          </p:cNvSpPr>
          <p:nvPr/>
        </p:nvSpPr>
        <p:spPr>
          <a:xfrm>
            <a:off x="2438400" y="2047875"/>
            <a:ext cx="619125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8" name="text-8"/>
          <p:cNvSpPr>
            <a:spLocks noGrp="1"/>
          </p:cNvSpPr>
          <p:nvPr/>
        </p:nvSpPr>
        <p:spPr>
          <a:xfrm>
            <a:off x="2495550" y="2210276"/>
            <a:ext cx="504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725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" name="block-9"/>
          <p:cNvSpPr>
            <a:spLocks noGrp="1"/>
          </p:cNvSpPr>
          <p:nvPr/>
        </p:nvSpPr>
        <p:spPr>
          <a:xfrm>
            <a:off x="3162300" y="2047875"/>
            <a:ext cx="4810125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0" name="text-10"/>
          <p:cNvSpPr>
            <a:spLocks noGrp="1"/>
          </p:cNvSpPr>
          <p:nvPr/>
        </p:nvSpPr>
        <p:spPr>
          <a:xfrm>
            <a:off x="3219450" y="2228850"/>
            <a:ext cx="46958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一个长 Prefill 占据整轮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block-11"/>
          <p:cNvSpPr>
            <a:spLocks noGrp="1"/>
          </p:cNvSpPr>
          <p:nvPr/>
        </p:nvSpPr>
        <p:spPr>
          <a:xfrm>
            <a:off x="8077200" y="2047875"/>
            <a:ext cx="619125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12" name="text-12"/>
          <p:cNvSpPr>
            <a:spLocks noGrp="1"/>
          </p:cNvSpPr>
          <p:nvPr/>
        </p:nvSpPr>
        <p:spPr>
          <a:xfrm>
            <a:off x="8134350" y="2210276"/>
            <a:ext cx="504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725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" name="block-13"/>
          <p:cNvSpPr>
            <a:spLocks noGrp="1"/>
          </p:cNvSpPr>
          <p:nvPr/>
        </p:nvSpPr>
        <p:spPr>
          <a:xfrm>
            <a:off x="8801100" y="2047875"/>
            <a:ext cx="619125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14" name="text-14"/>
          <p:cNvSpPr>
            <a:spLocks noGrp="1"/>
          </p:cNvSpPr>
          <p:nvPr/>
        </p:nvSpPr>
        <p:spPr>
          <a:xfrm>
            <a:off x="8858250" y="2210276"/>
            <a:ext cx="504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725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block-15"/>
          <p:cNvSpPr>
            <a:spLocks noGrp="1"/>
          </p:cNvSpPr>
          <p:nvPr/>
        </p:nvSpPr>
        <p:spPr>
          <a:xfrm>
            <a:off x="9525000" y="2047875"/>
            <a:ext cx="619125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16" name="text-16"/>
          <p:cNvSpPr>
            <a:spLocks noGrp="1"/>
          </p:cNvSpPr>
          <p:nvPr/>
        </p:nvSpPr>
        <p:spPr>
          <a:xfrm>
            <a:off x="9582150" y="2210276"/>
            <a:ext cx="504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725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endParaRPr sz="1725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7" name="line-17"/>
          <p:cNvSpPr>
            <a:spLocks noGrp="1"/>
          </p:cNvSpPr>
          <p:nvPr/>
        </p:nvSpPr>
        <p:spPr>
          <a:xfrm>
            <a:off x="2438400" y="2971800"/>
            <a:ext cx="8324850" cy="95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</p:sp>
      <p:sp>
        <p:nvSpPr>
          <p:cNvPr id="18" name="token-18"/>
          <p:cNvSpPr>
            <a:spLocks noGrp="1"/>
          </p:cNvSpPr>
          <p:nvPr/>
        </p:nvSpPr>
        <p:spPr>
          <a:xfrm>
            <a:off x="3009900" y="2924175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19" name="token-19"/>
          <p:cNvSpPr>
            <a:spLocks noGrp="1"/>
          </p:cNvSpPr>
          <p:nvPr/>
        </p:nvSpPr>
        <p:spPr>
          <a:xfrm>
            <a:off x="8648700" y="2924175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20" name="token-20"/>
          <p:cNvSpPr>
            <a:spLocks noGrp="1"/>
          </p:cNvSpPr>
          <p:nvPr/>
        </p:nvSpPr>
        <p:spPr>
          <a:xfrm>
            <a:off x="9372600" y="2924175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21" name="token-21"/>
          <p:cNvSpPr>
            <a:spLocks noGrp="1"/>
          </p:cNvSpPr>
          <p:nvPr/>
        </p:nvSpPr>
        <p:spPr>
          <a:xfrm>
            <a:off x="10096500" y="2924175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22" name="line-22"/>
          <p:cNvSpPr>
            <a:spLocks noGrp="1"/>
          </p:cNvSpPr>
          <p:nvPr/>
        </p:nvSpPr>
        <p:spPr>
          <a:xfrm>
            <a:off x="3057525" y="3333750"/>
            <a:ext cx="5638800" cy="95"/>
          </a:xfrm>
          <a:prstGeom prst="line">
            <a:avLst/>
          </a:prstGeom>
          <a:noFill/>
          <a:ln w="19050">
            <a:solidFill>
              <a:srgbClr val="7F0001"/>
            </a:solidFill>
            <a:prstDash val="solid"/>
          </a:ln>
        </p:spPr>
      </p:sp>
      <p:sp>
        <p:nvSpPr>
          <p:cNvPr id="23" name="line-23"/>
          <p:cNvSpPr>
            <a:spLocks noGrp="1"/>
          </p:cNvSpPr>
          <p:nvPr/>
        </p:nvSpPr>
        <p:spPr>
          <a:xfrm>
            <a:off x="3057525" y="3276600"/>
            <a:ext cx="95" cy="114300"/>
          </a:xfrm>
          <a:prstGeom prst="line">
            <a:avLst/>
          </a:prstGeom>
          <a:noFill/>
          <a:ln w="19050">
            <a:solidFill>
              <a:srgbClr val="7F0001"/>
            </a:solidFill>
            <a:prstDash val="solid"/>
          </a:ln>
        </p:spPr>
      </p:sp>
      <p:sp>
        <p:nvSpPr>
          <p:cNvPr id="24" name="line-24"/>
          <p:cNvSpPr>
            <a:spLocks noGrp="1"/>
          </p:cNvSpPr>
          <p:nvPr/>
        </p:nvSpPr>
        <p:spPr>
          <a:xfrm>
            <a:off x="8696325" y="3276600"/>
            <a:ext cx="95" cy="114300"/>
          </a:xfrm>
          <a:prstGeom prst="line">
            <a:avLst/>
          </a:prstGeom>
          <a:noFill/>
          <a:ln w="19050">
            <a:solidFill>
              <a:srgbClr val="7F0001"/>
            </a:solidFill>
            <a:prstDash val="solid"/>
          </a:ln>
        </p:spPr>
      </p:sp>
      <p:sp>
        <p:nvSpPr>
          <p:cNvPr id="25" name="text-25"/>
          <p:cNvSpPr>
            <a:spLocks noGrp="1"/>
          </p:cNvSpPr>
          <p:nvPr/>
        </p:nvSpPr>
        <p:spPr>
          <a:xfrm>
            <a:off x="3057525" y="3009900"/>
            <a:ext cx="56388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7F000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已有请求两次输出之间，出现长等待</a:t>
            </a:r>
            <a:endParaRPr sz="1425" b="1">
              <a:solidFill>
                <a:srgbClr val="7F000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-26"/>
          <p:cNvSpPr>
            <a:spLocks noGrp="1"/>
          </p:cNvSpPr>
          <p:nvPr/>
        </p:nvSpPr>
        <p:spPr>
          <a:xfrm>
            <a:off x="723900" y="4010025"/>
            <a:ext cx="1714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 + 混合批</a:t>
            </a:r>
            <a:endParaRPr sz="1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block-27"/>
          <p:cNvSpPr>
            <a:spLocks noGrp="1"/>
          </p:cNvSpPr>
          <p:nvPr/>
        </p:nvSpPr>
        <p:spPr>
          <a:xfrm>
            <a:off x="2438400" y="3876675"/>
            <a:ext cx="1828800" cy="361950"/>
          </a:xfrm>
          <a:prstGeom prst="roundRect">
            <a:avLst>
              <a:gd name="adj" fmla="val 7895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8" name="text-28"/>
          <p:cNvSpPr>
            <a:spLocks noGrp="1"/>
          </p:cNvSpPr>
          <p:nvPr/>
        </p:nvSpPr>
        <p:spPr>
          <a:xfrm>
            <a:off x="2495550" y="3940016"/>
            <a:ext cx="1714500" cy="2533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1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lock-29"/>
          <p:cNvSpPr>
            <a:spLocks noGrp="1"/>
          </p:cNvSpPr>
          <p:nvPr/>
        </p:nvSpPr>
        <p:spPr>
          <a:xfrm>
            <a:off x="2438400" y="4257675"/>
            <a:ext cx="1828800" cy="285750"/>
          </a:xfrm>
          <a:prstGeom prst="roundRect">
            <a:avLst>
              <a:gd name="adj" fmla="val 10000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30" name="text-30"/>
          <p:cNvSpPr>
            <a:spLocks noGrp="1"/>
          </p:cNvSpPr>
          <p:nvPr/>
        </p:nvSpPr>
        <p:spPr>
          <a:xfrm>
            <a:off x="2495550" y="4295299"/>
            <a:ext cx="1714500" cy="226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同批 Decode</a:t>
            </a:r>
            <a:endParaRPr sz="12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token-31"/>
          <p:cNvSpPr>
            <a:spLocks noGrp="1"/>
          </p:cNvSpPr>
          <p:nvPr/>
        </p:nvSpPr>
        <p:spPr>
          <a:xfrm>
            <a:off x="4219575" y="4743450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32" name="line-32"/>
          <p:cNvSpPr>
            <a:spLocks noGrp="1"/>
          </p:cNvSpPr>
          <p:nvPr/>
        </p:nvSpPr>
        <p:spPr>
          <a:xfrm>
            <a:off x="4267200" y="4572000"/>
            <a:ext cx="95" cy="1524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3" name="block-33"/>
          <p:cNvSpPr>
            <a:spLocks noGrp="1"/>
          </p:cNvSpPr>
          <p:nvPr/>
        </p:nvSpPr>
        <p:spPr>
          <a:xfrm>
            <a:off x="4457700" y="3876675"/>
            <a:ext cx="1828800" cy="361950"/>
          </a:xfrm>
          <a:prstGeom prst="roundRect">
            <a:avLst>
              <a:gd name="adj" fmla="val 7895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34" name="text-34"/>
          <p:cNvSpPr>
            <a:spLocks noGrp="1"/>
          </p:cNvSpPr>
          <p:nvPr/>
        </p:nvSpPr>
        <p:spPr>
          <a:xfrm>
            <a:off x="4514850" y="3940016"/>
            <a:ext cx="1714500" cy="2533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2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block-35"/>
          <p:cNvSpPr>
            <a:spLocks noGrp="1"/>
          </p:cNvSpPr>
          <p:nvPr/>
        </p:nvSpPr>
        <p:spPr>
          <a:xfrm>
            <a:off x="4457700" y="4257675"/>
            <a:ext cx="1828800" cy="285750"/>
          </a:xfrm>
          <a:prstGeom prst="roundRect">
            <a:avLst>
              <a:gd name="adj" fmla="val 10000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36" name="text-36"/>
          <p:cNvSpPr>
            <a:spLocks noGrp="1"/>
          </p:cNvSpPr>
          <p:nvPr/>
        </p:nvSpPr>
        <p:spPr>
          <a:xfrm>
            <a:off x="4514850" y="4295299"/>
            <a:ext cx="1714500" cy="226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同批 Decode</a:t>
            </a:r>
            <a:endParaRPr sz="12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oken-37"/>
          <p:cNvSpPr>
            <a:spLocks noGrp="1"/>
          </p:cNvSpPr>
          <p:nvPr/>
        </p:nvSpPr>
        <p:spPr>
          <a:xfrm>
            <a:off x="6238875" y="4743450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38" name="line-38"/>
          <p:cNvSpPr>
            <a:spLocks noGrp="1"/>
          </p:cNvSpPr>
          <p:nvPr/>
        </p:nvSpPr>
        <p:spPr>
          <a:xfrm>
            <a:off x="6286500" y="4572000"/>
            <a:ext cx="95" cy="1524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39" name="block-39"/>
          <p:cNvSpPr>
            <a:spLocks noGrp="1"/>
          </p:cNvSpPr>
          <p:nvPr/>
        </p:nvSpPr>
        <p:spPr>
          <a:xfrm>
            <a:off x="6477000" y="3876675"/>
            <a:ext cx="1828800" cy="361950"/>
          </a:xfrm>
          <a:prstGeom prst="roundRect">
            <a:avLst>
              <a:gd name="adj" fmla="val 7895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40" name="text-40"/>
          <p:cNvSpPr>
            <a:spLocks noGrp="1"/>
          </p:cNvSpPr>
          <p:nvPr/>
        </p:nvSpPr>
        <p:spPr>
          <a:xfrm>
            <a:off x="6534150" y="3940016"/>
            <a:ext cx="1714500" cy="2533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3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1" name="block-41"/>
          <p:cNvSpPr>
            <a:spLocks noGrp="1"/>
          </p:cNvSpPr>
          <p:nvPr/>
        </p:nvSpPr>
        <p:spPr>
          <a:xfrm>
            <a:off x="6477000" y="4257675"/>
            <a:ext cx="1828800" cy="285750"/>
          </a:xfrm>
          <a:prstGeom prst="roundRect">
            <a:avLst>
              <a:gd name="adj" fmla="val 10000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42" name="text-42"/>
          <p:cNvSpPr>
            <a:spLocks noGrp="1"/>
          </p:cNvSpPr>
          <p:nvPr/>
        </p:nvSpPr>
        <p:spPr>
          <a:xfrm>
            <a:off x="6534150" y="4295299"/>
            <a:ext cx="1714500" cy="226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同批 Decode</a:t>
            </a:r>
            <a:endParaRPr sz="12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token-43"/>
          <p:cNvSpPr>
            <a:spLocks noGrp="1"/>
          </p:cNvSpPr>
          <p:nvPr/>
        </p:nvSpPr>
        <p:spPr>
          <a:xfrm>
            <a:off x="8258175" y="4743450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44" name="line-44"/>
          <p:cNvSpPr>
            <a:spLocks noGrp="1"/>
          </p:cNvSpPr>
          <p:nvPr/>
        </p:nvSpPr>
        <p:spPr>
          <a:xfrm>
            <a:off x="8305800" y="4572000"/>
            <a:ext cx="95" cy="1524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45" name="block-45"/>
          <p:cNvSpPr>
            <a:spLocks noGrp="1"/>
          </p:cNvSpPr>
          <p:nvPr/>
        </p:nvSpPr>
        <p:spPr>
          <a:xfrm>
            <a:off x="8496300" y="3876675"/>
            <a:ext cx="1828800" cy="361950"/>
          </a:xfrm>
          <a:prstGeom prst="roundRect">
            <a:avLst>
              <a:gd name="adj" fmla="val 7895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46" name="text-46"/>
          <p:cNvSpPr>
            <a:spLocks noGrp="1"/>
          </p:cNvSpPr>
          <p:nvPr/>
        </p:nvSpPr>
        <p:spPr>
          <a:xfrm>
            <a:off x="8553450" y="3940016"/>
            <a:ext cx="1714500" cy="2533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4</a:t>
            </a:r>
            <a:endParaRPr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block-47"/>
          <p:cNvSpPr>
            <a:spLocks noGrp="1"/>
          </p:cNvSpPr>
          <p:nvPr/>
        </p:nvSpPr>
        <p:spPr>
          <a:xfrm>
            <a:off x="8496300" y="4257675"/>
            <a:ext cx="1828800" cy="285750"/>
          </a:xfrm>
          <a:prstGeom prst="roundRect">
            <a:avLst>
              <a:gd name="adj" fmla="val 10000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48" name="text-48"/>
          <p:cNvSpPr>
            <a:spLocks noGrp="1"/>
          </p:cNvSpPr>
          <p:nvPr/>
        </p:nvSpPr>
        <p:spPr>
          <a:xfrm>
            <a:off x="8553450" y="4295299"/>
            <a:ext cx="1714500" cy="226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同批 Decode</a:t>
            </a:r>
            <a:endParaRPr sz="12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token-49"/>
          <p:cNvSpPr>
            <a:spLocks noGrp="1"/>
          </p:cNvSpPr>
          <p:nvPr/>
        </p:nvSpPr>
        <p:spPr>
          <a:xfrm>
            <a:off x="10277475" y="4743450"/>
            <a:ext cx="95250" cy="952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50" name="line-50"/>
          <p:cNvSpPr>
            <a:spLocks noGrp="1"/>
          </p:cNvSpPr>
          <p:nvPr/>
        </p:nvSpPr>
        <p:spPr>
          <a:xfrm>
            <a:off x="10325100" y="4572000"/>
            <a:ext cx="95" cy="152400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1" name="line-51"/>
          <p:cNvSpPr>
            <a:spLocks noGrp="1"/>
          </p:cNvSpPr>
          <p:nvPr/>
        </p:nvSpPr>
        <p:spPr>
          <a:xfrm>
            <a:off x="2438400" y="4791075"/>
            <a:ext cx="832485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52" name="text-52"/>
          <p:cNvSpPr>
            <a:spLocks noGrp="1"/>
          </p:cNvSpPr>
          <p:nvPr/>
        </p:nvSpPr>
        <p:spPr>
          <a:xfrm>
            <a:off x="2438400" y="5124450"/>
            <a:ext cx="8096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每轮让已有请求继续 Decode，长输入分几轮推进</a:t>
            </a:r>
            <a:endParaRPr sz="18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text-53"/>
          <p:cNvSpPr>
            <a:spLocks noGrp="1"/>
          </p:cNvSpPr>
          <p:nvPr/>
        </p:nvSpPr>
        <p:spPr>
          <a:xfrm>
            <a:off x="723900" y="5753100"/>
            <a:ext cx="107442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表示一次常规 Decode 步。分块配合调度策略，才有机会减少输出停顿。</a:t>
            </a:r>
            <a:endParaRPr sz="1350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text-54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分块不丢上下文，KV Cache 接着用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55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56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切分的是输入 token 的处理批次，同一请求仍按原来的顺序计算。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57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来源：SARATHI（2023）、Sarathi-Serve（2024）。示例假设标准因果注意力，无前缀缓存命中。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58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-59"/>
          <p:cNvSpPr>
            <a:spLocks noGrp="1"/>
          </p:cNvSpPr>
          <p:nvPr/>
        </p:nvSpPr>
        <p:spPr>
          <a:xfrm>
            <a:off x="723900" y="1914525"/>
            <a:ext cx="6667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同一条输入：3000 tokens</a:t>
            </a:r>
            <a:endParaRPr sz="195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lock-60"/>
          <p:cNvSpPr>
            <a:spLocks noGrp="1"/>
          </p:cNvSpPr>
          <p:nvPr/>
        </p:nvSpPr>
        <p:spPr>
          <a:xfrm>
            <a:off x="723900" y="2438400"/>
            <a:ext cx="3143250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8" name="text-61"/>
          <p:cNvSpPr>
            <a:spLocks noGrp="1"/>
          </p:cNvSpPr>
          <p:nvPr/>
        </p:nvSpPr>
        <p:spPr>
          <a:xfrm>
            <a:off x="781050" y="2600801"/>
            <a:ext cx="3028950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 1   1–1000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arrow-62"/>
          <p:cNvSpPr>
            <a:spLocks noGrp="1"/>
          </p:cNvSpPr>
          <p:nvPr/>
        </p:nvSpPr>
        <p:spPr>
          <a:xfrm>
            <a:off x="3962400" y="2657475"/>
            <a:ext cx="285750" cy="171450"/>
          </a:xfrm>
          <a:prstGeom prst="rightArrow">
            <a:avLst/>
          </a:prstGeom>
          <a:solidFill>
            <a:srgbClr val="555757"/>
          </a:solidFill>
          <a:ln w="0">
            <a:noFill/>
          </a:ln>
        </p:spPr>
      </p:sp>
      <p:sp>
        <p:nvSpPr>
          <p:cNvPr id="10" name="text-63"/>
          <p:cNvSpPr>
            <a:spLocks noGrp="1"/>
          </p:cNvSpPr>
          <p:nvPr/>
        </p:nvSpPr>
        <p:spPr>
          <a:xfrm>
            <a:off x="723900" y="3267075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读取本块的因果上下文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-64"/>
          <p:cNvSpPr>
            <a:spLocks noGrp="1"/>
          </p:cNvSpPr>
          <p:nvPr/>
        </p:nvSpPr>
        <p:spPr>
          <a:xfrm>
            <a:off x="723900" y="35814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并计算、追加本块的新 KV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block-65"/>
          <p:cNvSpPr>
            <a:spLocks noGrp="1"/>
          </p:cNvSpPr>
          <p:nvPr/>
        </p:nvSpPr>
        <p:spPr>
          <a:xfrm>
            <a:off x="723900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3" name="text-66"/>
          <p:cNvSpPr>
            <a:spLocks noGrp="1"/>
          </p:cNvSpPr>
          <p:nvPr/>
        </p:nvSpPr>
        <p:spPr>
          <a:xfrm>
            <a:off x="781050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1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" name="text-67"/>
          <p:cNvSpPr>
            <a:spLocks noGrp="1"/>
          </p:cNvSpPr>
          <p:nvPr/>
        </p:nvSpPr>
        <p:spPr>
          <a:xfrm>
            <a:off x="723900" y="48768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已缓存 1000 tokens</a:t>
            </a:r>
            <a:endParaRPr sz="15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block-68"/>
          <p:cNvSpPr>
            <a:spLocks noGrp="1"/>
          </p:cNvSpPr>
          <p:nvPr/>
        </p:nvSpPr>
        <p:spPr>
          <a:xfrm>
            <a:off x="4352925" y="2438400"/>
            <a:ext cx="3143250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6" name="text-69"/>
          <p:cNvSpPr>
            <a:spLocks noGrp="1"/>
          </p:cNvSpPr>
          <p:nvPr/>
        </p:nvSpPr>
        <p:spPr>
          <a:xfrm>
            <a:off x="4410075" y="2600801"/>
            <a:ext cx="3028950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 2   1001–2000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arrow-70"/>
          <p:cNvSpPr>
            <a:spLocks noGrp="1"/>
          </p:cNvSpPr>
          <p:nvPr/>
        </p:nvSpPr>
        <p:spPr>
          <a:xfrm>
            <a:off x="7591425" y="2657475"/>
            <a:ext cx="285750" cy="171450"/>
          </a:xfrm>
          <a:prstGeom prst="rightArrow">
            <a:avLst/>
          </a:prstGeom>
          <a:solidFill>
            <a:srgbClr val="555757"/>
          </a:solidFill>
          <a:ln w="0">
            <a:noFill/>
          </a:ln>
        </p:spPr>
      </p:sp>
      <p:sp>
        <p:nvSpPr>
          <p:cNvPr id="18" name="text-71"/>
          <p:cNvSpPr>
            <a:spLocks noGrp="1"/>
          </p:cNvSpPr>
          <p:nvPr/>
        </p:nvSpPr>
        <p:spPr>
          <a:xfrm>
            <a:off x="4352925" y="3267075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读取前 1000 tokens 的 KV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text-72"/>
          <p:cNvSpPr>
            <a:spLocks noGrp="1"/>
          </p:cNvSpPr>
          <p:nvPr/>
        </p:nvSpPr>
        <p:spPr>
          <a:xfrm>
            <a:off x="4352925" y="35814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并计算、追加本块的新 KV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block-73"/>
          <p:cNvSpPr>
            <a:spLocks noGrp="1"/>
          </p:cNvSpPr>
          <p:nvPr/>
        </p:nvSpPr>
        <p:spPr>
          <a:xfrm>
            <a:off x="4352925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EFB2B8"/>
          </a:solidFill>
          <a:ln w="0">
            <a:noFill/>
          </a:ln>
        </p:spPr>
      </p:sp>
      <p:sp>
        <p:nvSpPr>
          <p:cNvPr id="21" name="text-74"/>
          <p:cNvSpPr>
            <a:spLocks noGrp="1"/>
          </p:cNvSpPr>
          <p:nvPr/>
        </p:nvSpPr>
        <p:spPr>
          <a:xfrm>
            <a:off x="4410075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1</a:t>
            </a:r>
            <a:endParaRPr sz="13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block-75"/>
          <p:cNvSpPr>
            <a:spLocks noGrp="1"/>
          </p:cNvSpPr>
          <p:nvPr/>
        </p:nvSpPr>
        <p:spPr>
          <a:xfrm>
            <a:off x="5353050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3" name="text-76"/>
          <p:cNvSpPr>
            <a:spLocks noGrp="1"/>
          </p:cNvSpPr>
          <p:nvPr/>
        </p:nvSpPr>
        <p:spPr>
          <a:xfrm>
            <a:off x="5410200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2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4" name="text-77"/>
          <p:cNvSpPr>
            <a:spLocks noGrp="1"/>
          </p:cNvSpPr>
          <p:nvPr/>
        </p:nvSpPr>
        <p:spPr>
          <a:xfrm>
            <a:off x="4352925" y="48768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已缓存 2000 tokens</a:t>
            </a:r>
            <a:endParaRPr sz="15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block-78"/>
          <p:cNvSpPr>
            <a:spLocks noGrp="1"/>
          </p:cNvSpPr>
          <p:nvPr/>
        </p:nvSpPr>
        <p:spPr>
          <a:xfrm>
            <a:off x="7981950" y="2438400"/>
            <a:ext cx="3143250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6" name="text-79"/>
          <p:cNvSpPr>
            <a:spLocks noGrp="1"/>
          </p:cNvSpPr>
          <p:nvPr/>
        </p:nvSpPr>
        <p:spPr>
          <a:xfrm>
            <a:off x="8039100" y="2600801"/>
            <a:ext cx="3028950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 3   2001–3000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text-80"/>
          <p:cNvSpPr>
            <a:spLocks noGrp="1"/>
          </p:cNvSpPr>
          <p:nvPr/>
        </p:nvSpPr>
        <p:spPr>
          <a:xfrm>
            <a:off x="7981950" y="3267075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读取前 2000 tokens 的 KV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-81"/>
          <p:cNvSpPr>
            <a:spLocks noGrp="1"/>
          </p:cNvSpPr>
          <p:nvPr/>
        </p:nvSpPr>
        <p:spPr>
          <a:xfrm>
            <a:off x="7981950" y="3581400"/>
            <a:ext cx="3238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42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并计算、追加本块的新 KV</a:t>
            </a:r>
            <a:endParaRPr sz="142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block-82"/>
          <p:cNvSpPr>
            <a:spLocks noGrp="1"/>
          </p:cNvSpPr>
          <p:nvPr/>
        </p:nvSpPr>
        <p:spPr>
          <a:xfrm>
            <a:off x="7981950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EFB2B8"/>
          </a:solidFill>
          <a:ln w="0">
            <a:noFill/>
          </a:ln>
        </p:spPr>
      </p:sp>
      <p:sp>
        <p:nvSpPr>
          <p:cNvPr id="30" name="text-83"/>
          <p:cNvSpPr>
            <a:spLocks noGrp="1"/>
          </p:cNvSpPr>
          <p:nvPr/>
        </p:nvSpPr>
        <p:spPr>
          <a:xfrm>
            <a:off x="8039100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1</a:t>
            </a:r>
            <a:endParaRPr sz="13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1" name="block-84"/>
          <p:cNvSpPr>
            <a:spLocks noGrp="1"/>
          </p:cNvSpPr>
          <p:nvPr/>
        </p:nvSpPr>
        <p:spPr>
          <a:xfrm>
            <a:off x="8982075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EFB2B8"/>
          </a:solidFill>
          <a:ln w="0">
            <a:noFill/>
          </a:ln>
        </p:spPr>
      </p:sp>
      <p:sp>
        <p:nvSpPr>
          <p:cNvPr id="32" name="text-85"/>
          <p:cNvSpPr>
            <a:spLocks noGrp="1"/>
          </p:cNvSpPr>
          <p:nvPr/>
        </p:nvSpPr>
        <p:spPr>
          <a:xfrm>
            <a:off x="9039225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2</a:t>
            </a:r>
            <a:endParaRPr sz="13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3" name="block-86"/>
          <p:cNvSpPr>
            <a:spLocks noGrp="1"/>
          </p:cNvSpPr>
          <p:nvPr/>
        </p:nvSpPr>
        <p:spPr>
          <a:xfrm>
            <a:off x="9982200" y="4191000"/>
            <a:ext cx="962025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34" name="text-87"/>
          <p:cNvSpPr>
            <a:spLocks noGrp="1"/>
          </p:cNvSpPr>
          <p:nvPr/>
        </p:nvSpPr>
        <p:spPr>
          <a:xfrm>
            <a:off x="10039350" y="4351020"/>
            <a:ext cx="847725" cy="24003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KV 3</a:t>
            </a:r>
            <a:endParaRPr sz="1350" b="1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5" name="text-88"/>
          <p:cNvSpPr>
            <a:spLocks noGrp="1"/>
          </p:cNvSpPr>
          <p:nvPr/>
        </p:nvSpPr>
        <p:spPr>
          <a:xfrm>
            <a:off x="7981950" y="4876800"/>
            <a:ext cx="3238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已缓存 3000 tokens</a:t>
            </a:r>
            <a:endParaRPr sz="15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-89"/>
          <p:cNvSpPr>
            <a:spLocks noGrp="1"/>
          </p:cNvSpPr>
          <p:nvPr/>
        </p:nvSpPr>
        <p:spPr>
          <a:xfrm>
            <a:off x="723900" y="5467350"/>
            <a:ext cx="6000750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完成块 1、块 2：继续读输入</a:t>
            </a:r>
            <a:endParaRPr sz="18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-90"/>
          <p:cNvSpPr>
            <a:spLocks noGrp="1"/>
          </p:cNvSpPr>
          <p:nvPr/>
        </p:nvSpPr>
        <p:spPr>
          <a:xfrm>
            <a:off x="7258050" y="5467350"/>
            <a:ext cx="404812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完成块 3：采样首 token</a:t>
            </a:r>
            <a:endParaRPr sz="18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-91"/>
          <p:cNvSpPr>
            <a:spLocks noGrp="1"/>
          </p:cNvSpPr>
          <p:nvPr/>
        </p:nvSpPr>
        <p:spPr>
          <a:xfrm>
            <a:off x="723900" y="591502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35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逻辑上下文连续保留。中间块不会各自产生一段答案。</a:t>
            </a:r>
            <a:endParaRPr sz="135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1" name="text-92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一个批次里，Decode 与 Prefill 块一起排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93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94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 vLLM 的 Decode 优先策略为例：先安排可调度的 Decode，再用剩余 token 预算推进 Prefill。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95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来源：vLLM v0.25.1。常规 Decode，无投机解码，忽略缓存、对齐、抢占和其他调度限制。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96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-97"/>
          <p:cNvSpPr>
            <a:spLocks noGrp="1"/>
          </p:cNvSpPr>
          <p:nvPr/>
        </p:nvSpPr>
        <p:spPr>
          <a:xfrm>
            <a:off x="723900" y="196215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每轮总预算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98"/>
          <p:cNvSpPr>
            <a:spLocks noGrp="1"/>
          </p:cNvSpPr>
          <p:nvPr/>
        </p:nvSpPr>
        <p:spPr>
          <a:xfrm>
            <a:off x="2466975" y="1876425"/>
            <a:ext cx="2619375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700" b="1">
                <a:solidFill>
                  <a:srgbClr val="D33941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700" b="1">
                <a:solidFill>
                  <a:srgbClr val="D33941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1024 tokens</a:t>
            </a:r>
            <a:endParaRPr sz="2700" b="1">
              <a:solidFill>
                <a:srgbClr val="D33941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-99"/>
          <p:cNvSpPr>
            <a:spLocks noGrp="1"/>
          </p:cNvSpPr>
          <p:nvPr/>
        </p:nvSpPr>
        <p:spPr>
          <a:xfrm>
            <a:off x="5438775" y="1990725"/>
            <a:ext cx="59055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 4 条 Decode   +   新请求 E：3000 tokens</a:t>
            </a:r>
            <a:endParaRPr sz="1650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-100"/>
          <p:cNvSpPr>
            <a:spLocks noGrp="1"/>
          </p:cNvSpPr>
          <p:nvPr/>
        </p:nvSpPr>
        <p:spPr>
          <a:xfrm>
            <a:off x="723900" y="2952750"/>
            <a:ext cx="1285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1 轮</a:t>
            </a:r>
            <a:endParaRPr sz="18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block-101"/>
          <p:cNvSpPr>
            <a:spLocks noGrp="1"/>
          </p:cNvSpPr>
          <p:nvPr/>
        </p:nvSpPr>
        <p:spPr>
          <a:xfrm>
            <a:off x="2143125" y="2838450"/>
            <a:ext cx="2000250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11" name="text-102"/>
          <p:cNvSpPr>
            <a:spLocks noGrp="1"/>
          </p:cNvSpPr>
          <p:nvPr/>
        </p:nvSpPr>
        <p:spPr>
          <a:xfrm>
            <a:off x="2200275" y="3019425"/>
            <a:ext cx="1885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/ B / C / D</a:t>
            </a:r>
            <a:endParaRPr sz="150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" name="block-103"/>
          <p:cNvSpPr>
            <a:spLocks noGrp="1"/>
          </p:cNvSpPr>
          <p:nvPr/>
        </p:nvSpPr>
        <p:spPr>
          <a:xfrm>
            <a:off x="4257675" y="2838450"/>
            <a:ext cx="4810125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3" name="text-104"/>
          <p:cNvSpPr>
            <a:spLocks noGrp="1"/>
          </p:cNvSpPr>
          <p:nvPr/>
        </p:nvSpPr>
        <p:spPr>
          <a:xfrm>
            <a:off x="4314825" y="3000851"/>
            <a:ext cx="4695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的 Prefill：1020 tokens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-105"/>
          <p:cNvSpPr>
            <a:spLocks noGrp="1"/>
          </p:cNvSpPr>
          <p:nvPr/>
        </p:nvSpPr>
        <p:spPr>
          <a:xfrm>
            <a:off x="9277350" y="298132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+ 1020 = 1024</a:t>
            </a:r>
            <a:endParaRPr sz="16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5" name="text-106"/>
          <p:cNvSpPr>
            <a:spLocks noGrp="1"/>
          </p:cNvSpPr>
          <p:nvPr/>
        </p:nvSpPr>
        <p:spPr>
          <a:xfrm>
            <a:off x="2143125" y="347662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每条已有请求前进 1 个 token</a:t>
            </a:r>
            <a:endParaRPr sz="12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-107"/>
          <p:cNvSpPr>
            <a:spLocks noGrp="1"/>
          </p:cNvSpPr>
          <p:nvPr/>
        </p:nvSpPr>
        <p:spPr>
          <a:xfrm>
            <a:off x="723900" y="3838575"/>
            <a:ext cx="1285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2 轮</a:t>
            </a:r>
            <a:endParaRPr sz="18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block-108"/>
          <p:cNvSpPr>
            <a:spLocks noGrp="1"/>
          </p:cNvSpPr>
          <p:nvPr/>
        </p:nvSpPr>
        <p:spPr>
          <a:xfrm>
            <a:off x="2143125" y="3724275"/>
            <a:ext cx="2000250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18" name="text-109"/>
          <p:cNvSpPr>
            <a:spLocks noGrp="1"/>
          </p:cNvSpPr>
          <p:nvPr/>
        </p:nvSpPr>
        <p:spPr>
          <a:xfrm>
            <a:off x="2200275" y="3905250"/>
            <a:ext cx="1885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/ B / C / D</a:t>
            </a:r>
            <a:endParaRPr sz="150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9" name="block-110"/>
          <p:cNvSpPr>
            <a:spLocks noGrp="1"/>
          </p:cNvSpPr>
          <p:nvPr/>
        </p:nvSpPr>
        <p:spPr>
          <a:xfrm>
            <a:off x="4257675" y="3724275"/>
            <a:ext cx="4810125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0" name="text-111"/>
          <p:cNvSpPr>
            <a:spLocks noGrp="1"/>
          </p:cNvSpPr>
          <p:nvPr/>
        </p:nvSpPr>
        <p:spPr>
          <a:xfrm>
            <a:off x="4314825" y="3886676"/>
            <a:ext cx="4695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的 Prefill：1020 tokens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-112"/>
          <p:cNvSpPr>
            <a:spLocks noGrp="1"/>
          </p:cNvSpPr>
          <p:nvPr/>
        </p:nvSpPr>
        <p:spPr>
          <a:xfrm>
            <a:off x="9277350" y="3867150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+ 1020 = 1024</a:t>
            </a:r>
            <a:endParaRPr sz="16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-113"/>
          <p:cNvSpPr>
            <a:spLocks noGrp="1"/>
          </p:cNvSpPr>
          <p:nvPr/>
        </p:nvSpPr>
        <p:spPr>
          <a:xfrm>
            <a:off x="2143125" y="4362450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已处理 2040 / 3000 tokens</a:t>
            </a:r>
            <a:endParaRPr sz="12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-114"/>
          <p:cNvSpPr>
            <a:spLocks noGrp="1"/>
          </p:cNvSpPr>
          <p:nvPr/>
        </p:nvSpPr>
        <p:spPr>
          <a:xfrm>
            <a:off x="723900" y="4724400"/>
            <a:ext cx="1285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 3 轮</a:t>
            </a:r>
            <a:endParaRPr sz="18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block-115"/>
          <p:cNvSpPr>
            <a:spLocks noGrp="1"/>
          </p:cNvSpPr>
          <p:nvPr/>
        </p:nvSpPr>
        <p:spPr>
          <a:xfrm>
            <a:off x="2143125" y="4610100"/>
            <a:ext cx="2000250" cy="609600"/>
          </a:xfrm>
          <a:prstGeom prst="roundRect">
            <a:avLst>
              <a:gd name="adj" fmla="val 4688"/>
            </a:avLst>
          </a:prstGeom>
          <a:solidFill>
            <a:srgbClr val="30B5C5"/>
          </a:solidFill>
          <a:ln w="0">
            <a:noFill/>
          </a:ln>
        </p:spPr>
      </p:sp>
      <p:sp>
        <p:nvSpPr>
          <p:cNvPr id="25" name="text-116"/>
          <p:cNvSpPr>
            <a:spLocks noGrp="1"/>
          </p:cNvSpPr>
          <p:nvPr/>
        </p:nvSpPr>
        <p:spPr>
          <a:xfrm>
            <a:off x="2200275" y="4791075"/>
            <a:ext cx="18859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0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/ B / C / D</a:t>
            </a:r>
            <a:endParaRPr sz="150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6" name="block-117"/>
          <p:cNvSpPr>
            <a:spLocks noGrp="1"/>
          </p:cNvSpPr>
          <p:nvPr/>
        </p:nvSpPr>
        <p:spPr>
          <a:xfrm>
            <a:off x="4257675" y="4610100"/>
            <a:ext cx="4810125" cy="609600"/>
          </a:xfrm>
          <a:prstGeom prst="roundRect">
            <a:avLst>
              <a:gd name="adj" fmla="val 468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7" name="text-118"/>
          <p:cNvSpPr>
            <a:spLocks noGrp="1"/>
          </p:cNvSpPr>
          <p:nvPr/>
        </p:nvSpPr>
        <p:spPr>
          <a:xfrm>
            <a:off x="4314825" y="4772501"/>
            <a:ext cx="4695825" cy="30670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的 Prefill：960 tokens</a:t>
            </a:r>
            <a:endParaRPr sz="17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text-119"/>
          <p:cNvSpPr>
            <a:spLocks noGrp="1"/>
          </p:cNvSpPr>
          <p:nvPr/>
        </p:nvSpPr>
        <p:spPr>
          <a:xfrm>
            <a:off x="9277350" y="4752975"/>
            <a:ext cx="21907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650" b="1">
                <a:solidFill>
                  <a:srgbClr val="555757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+ 960 = 964</a:t>
            </a:r>
            <a:endParaRPr sz="1650" b="1">
              <a:solidFill>
                <a:srgbClr val="555757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9" name="text-120"/>
          <p:cNvSpPr>
            <a:spLocks noGrp="1"/>
          </p:cNvSpPr>
          <p:nvPr/>
        </p:nvSpPr>
        <p:spPr>
          <a:xfrm>
            <a:off x="2143125" y="5248275"/>
            <a:ext cx="80962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读完输入，产生首 token</a:t>
            </a:r>
            <a:endParaRPr sz="12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ext-121"/>
          <p:cNvSpPr>
            <a:spLocks noGrp="1"/>
          </p:cNvSpPr>
          <p:nvPr/>
        </p:nvSpPr>
        <p:spPr>
          <a:xfrm>
            <a:off x="723900" y="5724525"/>
            <a:ext cx="10763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本例 E 的实际分块：1020 + 1020 + 960 = 3000</a:t>
            </a:r>
            <a:endParaRPr sz="202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9" name="text-122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输出更稳是目标，TTFT 要一起看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123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124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已有请求怕“突然卡住”，新请求怕“迟迟不开口”，两者需要一起衡量。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25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来源：Sarathi-Serve（2024）、vLLM v0.25.1。时间线为机制示意，不能据此计算加速比。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26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-127"/>
          <p:cNvSpPr>
            <a:spLocks noGrp="1"/>
          </p:cNvSpPr>
          <p:nvPr/>
        </p:nvSpPr>
        <p:spPr>
          <a:xfrm>
            <a:off x="723900" y="2114550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已有请求 A</a:t>
            </a:r>
            <a:endParaRPr sz="1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line-128"/>
          <p:cNvSpPr>
            <a:spLocks noGrp="1"/>
          </p:cNvSpPr>
          <p:nvPr/>
        </p:nvSpPr>
        <p:spPr>
          <a:xfrm>
            <a:off x="2886075" y="2305050"/>
            <a:ext cx="8162925" cy="95"/>
          </a:xfrm>
          <a:prstGeom prst="line">
            <a:avLst/>
          </a:prstGeom>
          <a:noFill/>
          <a:ln w="19050">
            <a:solidFill>
              <a:srgbClr val="555757"/>
            </a:solidFill>
            <a:prstDash val="solid"/>
          </a:ln>
        </p:spPr>
      </p:sp>
      <p:sp>
        <p:nvSpPr>
          <p:cNvPr id="8" name="token-129"/>
          <p:cNvSpPr>
            <a:spLocks noGrp="1"/>
          </p:cNvSpPr>
          <p:nvPr/>
        </p:nvSpPr>
        <p:spPr>
          <a:xfrm>
            <a:off x="3076575" y="2238375"/>
            <a:ext cx="133350" cy="1333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9" name="token-130"/>
          <p:cNvSpPr>
            <a:spLocks noGrp="1"/>
          </p:cNvSpPr>
          <p:nvPr/>
        </p:nvSpPr>
        <p:spPr>
          <a:xfrm>
            <a:off x="4943475" y="2238375"/>
            <a:ext cx="133350" cy="1333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10" name="token-131"/>
          <p:cNvSpPr>
            <a:spLocks noGrp="1"/>
          </p:cNvSpPr>
          <p:nvPr/>
        </p:nvSpPr>
        <p:spPr>
          <a:xfrm>
            <a:off x="6810375" y="2238375"/>
            <a:ext cx="133350" cy="1333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11" name="token-132"/>
          <p:cNvSpPr>
            <a:spLocks noGrp="1"/>
          </p:cNvSpPr>
          <p:nvPr/>
        </p:nvSpPr>
        <p:spPr>
          <a:xfrm>
            <a:off x="8677275" y="2238375"/>
            <a:ext cx="133350" cy="1333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12" name="token-133"/>
          <p:cNvSpPr>
            <a:spLocks noGrp="1"/>
          </p:cNvSpPr>
          <p:nvPr/>
        </p:nvSpPr>
        <p:spPr>
          <a:xfrm>
            <a:off x="10544175" y="2238375"/>
            <a:ext cx="133350" cy="133350"/>
          </a:xfrm>
          <a:prstGeom prst="ellipse">
            <a:avLst/>
          </a:prstGeom>
          <a:solidFill>
            <a:srgbClr val="30B5C5"/>
          </a:solidFill>
          <a:ln w="0">
            <a:noFill/>
          </a:ln>
        </p:spPr>
      </p:sp>
      <p:sp>
        <p:nvSpPr>
          <p:cNvPr id="13" name="line-134"/>
          <p:cNvSpPr>
            <a:spLocks noGrp="1"/>
          </p:cNvSpPr>
          <p:nvPr/>
        </p:nvSpPr>
        <p:spPr>
          <a:xfrm>
            <a:off x="3143250" y="2914650"/>
            <a:ext cx="1866900" cy="95"/>
          </a:xfrm>
          <a:prstGeom prst="line">
            <a:avLst/>
          </a:prstGeom>
          <a:noFill/>
          <a:ln w="19050">
            <a:solidFill>
              <a:srgbClr val="30B5C5"/>
            </a:solidFill>
            <a:prstDash val="solid"/>
          </a:ln>
        </p:spPr>
      </p:sp>
      <p:sp>
        <p:nvSpPr>
          <p:cNvPr id="14" name="line-135"/>
          <p:cNvSpPr>
            <a:spLocks noGrp="1"/>
          </p:cNvSpPr>
          <p:nvPr/>
        </p:nvSpPr>
        <p:spPr>
          <a:xfrm>
            <a:off x="3143250" y="2857500"/>
            <a:ext cx="95" cy="114300"/>
          </a:xfrm>
          <a:prstGeom prst="line">
            <a:avLst/>
          </a:prstGeom>
          <a:noFill/>
          <a:ln w="19050">
            <a:solidFill>
              <a:srgbClr val="30B5C5"/>
            </a:solidFill>
            <a:prstDash val="solid"/>
          </a:ln>
        </p:spPr>
      </p:sp>
      <p:sp>
        <p:nvSpPr>
          <p:cNvPr id="15" name="line-136"/>
          <p:cNvSpPr>
            <a:spLocks noGrp="1"/>
          </p:cNvSpPr>
          <p:nvPr/>
        </p:nvSpPr>
        <p:spPr>
          <a:xfrm>
            <a:off x="5010150" y="2857500"/>
            <a:ext cx="95" cy="114300"/>
          </a:xfrm>
          <a:prstGeom prst="line">
            <a:avLst/>
          </a:prstGeom>
          <a:noFill/>
          <a:ln w="19050">
            <a:solidFill>
              <a:srgbClr val="30B5C5"/>
            </a:solidFill>
            <a:prstDash val="solid"/>
          </a:ln>
        </p:spPr>
      </p:sp>
      <p:sp>
        <p:nvSpPr>
          <p:cNvPr id="16" name="text-137"/>
          <p:cNvSpPr>
            <a:spLocks noGrp="1"/>
          </p:cNvSpPr>
          <p:nvPr/>
        </p:nvSpPr>
        <p:spPr>
          <a:xfrm>
            <a:off x="3143250" y="2590800"/>
            <a:ext cx="18669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75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30B5C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单次 ITL</a:t>
            </a:r>
            <a:endParaRPr sz="1575" b="1">
              <a:solidFill>
                <a:srgbClr val="30B5C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line-138"/>
          <p:cNvSpPr>
            <a:spLocks noGrp="1"/>
          </p:cNvSpPr>
          <p:nvPr/>
        </p:nvSpPr>
        <p:spPr>
          <a:xfrm>
            <a:off x="3143250" y="3448050"/>
            <a:ext cx="7467600" cy="95"/>
          </a:xfrm>
          <a:prstGeom prst="line">
            <a:avLst/>
          </a:prstGeom>
          <a:noFill/>
          <a:ln w="19050">
            <a:solidFill>
              <a:srgbClr val="555757"/>
            </a:solidFill>
            <a:prstDash val="solid"/>
          </a:ln>
        </p:spPr>
      </p:sp>
      <p:sp>
        <p:nvSpPr>
          <p:cNvPr id="18" name="line-139"/>
          <p:cNvSpPr>
            <a:spLocks noGrp="1"/>
          </p:cNvSpPr>
          <p:nvPr/>
        </p:nvSpPr>
        <p:spPr>
          <a:xfrm>
            <a:off x="3143250" y="3390900"/>
            <a:ext cx="95" cy="114300"/>
          </a:xfrm>
          <a:prstGeom prst="line">
            <a:avLst/>
          </a:prstGeom>
          <a:noFill/>
          <a:ln w="19050">
            <a:solidFill>
              <a:srgbClr val="555757"/>
            </a:solidFill>
            <a:prstDash val="solid"/>
          </a:ln>
        </p:spPr>
      </p:sp>
      <p:sp>
        <p:nvSpPr>
          <p:cNvPr id="19" name="line-140"/>
          <p:cNvSpPr>
            <a:spLocks noGrp="1"/>
          </p:cNvSpPr>
          <p:nvPr/>
        </p:nvSpPr>
        <p:spPr>
          <a:xfrm>
            <a:off x="10610850" y="3390900"/>
            <a:ext cx="95" cy="114300"/>
          </a:xfrm>
          <a:prstGeom prst="line">
            <a:avLst/>
          </a:prstGeom>
          <a:noFill/>
          <a:ln w="19050">
            <a:solidFill>
              <a:srgbClr val="555757"/>
            </a:solidFill>
            <a:prstDash val="solid"/>
          </a:ln>
        </p:spPr>
      </p:sp>
      <p:sp>
        <p:nvSpPr>
          <p:cNvPr id="20" name="text-141"/>
          <p:cNvSpPr>
            <a:spLocks noGrp="1"/>
          </p:cNvSpPr>
          <p:nvPr/>
        </p:nvSpPr>
        <p:spPr>
          <a:xfrm>
            <a:off x="3143250" y="3124200"/>
            <a:ext cx="74676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 token 后多个间隔的平均值，才是 TPOT</a:t>
            </a:r>
            <a:endParaRPr sz="15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-142"/>
          <p:cNvSpPr>
            <a:spLocks noGrp="1"/>
          </p:cNvSpPr>
          <p:nvPr/>
        </p:nvSpPr>
        <p:spPr>
          <a:xfrm>
            <a:off x="723900" y="4067175"/>
            <a:ext cx="1809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新请求 E</a:t>
            </a:r>
            <a:endParaRPr sz="1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block-143"/>
          <p:cNvSpPr>
            <a:spLocks noGrp="1"/>
          </p:cNvSpPr>
          <p:nvPr/>
        </p:nvSpPr>
        <p:spPr>
          <a:xfrm>
            <a:off x="2886075" y="3962400"/>
            <a:ext cx="1266825" cy="542925"/>
          </a:xfrm>
          <a:prstGeom prst="roundRect">
            <a:avLst>
              <a:gd name="adj" fmla="val 5263"/>
            </a:avLst>
          </a:prstGeom>
          <a:solidFill>
            <a:srgbClr val="DDDDDD"/>
          </a:solidFill>
          <a:ln w="0">
            <a:noFill/>
          </a:ln>
        </p:spPr>
      </p:sp>
      <p:sp>
        <p:nvSpPr>
          <p:cNvPr id="23" name="text-144"/>
          <p:cNvSpPr>
            <a:spLocks noGrp="1"/>
          </p:cNvSpPr>
          <p:nvPr/>
        </p:nvSpPr>
        <p:spPr>
          <a:xfrm>
            <a:off x="2943225" y="4128611"/>
            <a:ext cx="1152525" cy="22669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排队 / 等待</a:t>
            </a:r>
            <a:endParaRPr sz="127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block-145"/>
          <p:cNvSpPr>
            <a:spLocks noGrp="1"/>
          </p:cNvSpPr>
          <p:nvPr/>
        </p:nvSpPr>
        <p:spPr>
          <a:xfrm>
            <a:off x="4257675" y="3962400"/>
            <a:ext cx="1847850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5" name="text-146"/>
          <p:cNvSpPr>
            <a:spLocks noGrp="1"/>
          </p:cNvSpPr>
          <p:nvPr/>
        </p:nvSpPr>
        <p:spPr>
          <a:xfrm>
            <a:off x="4314825" y="4110038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1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block-147"/>
          <p:cNvSpPr>
            <a:spLocks noGrp="1"/>
          </p:cNvSpPr>
          <p:nvPr/>
        </p:nvSpPr>
        <p:spPr>
          <a:xfrm>
            <a:off x="6334125" y="3962400"/>
            <a:ext cx="1847850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7" name="text-148"/>
          <p:cNvSpPr>
            <a:spLocks noGrp="1"/>
          </p:cNvSpPr>
          <p:nvPr/>
        </p:nvSpPr>
        <p:spPr>
          <a:xfrm>
            <a:off x="6391275" y="4110038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2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8" name="block-149"/>
          <p:cNvSpPr>
            <a:spLocks noGrp="1"/>
          </p:cNvSpPr>
          <p:nvPr/>
        </p:nvSpPr>
        <p:spPr>
          <a:xfrm>
            <a:off x="8410575" y="3962400"/>
            <a:ext cx="1847850" cy="542925"/>
          </a:xfrm>
          <a:prstGeom prst="roundRect">
            <a:avLst>
              <a:gd name="adj" fmla="val 5263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9" name="text-150"/>
          <p:cNvSpPr>
            <a:spLocks noGrp="1"/>
          </p:cNvSpPr>
          <p:nvPr/>
        </p:nvSpPr>
        <p:spPr>
          <a:xfrm>
            <a:off x="8467725" y="4110038"/>
            <a:ext cx="17335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块 3</a:t>
            </a:r>
            <a:endParaRPr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token-151"/>
          <p:cNvSpPr>
            <a:spLocks noGrp="1"/>
          </p:cNvSpPr>
          <p:nvPr/>
        </p:nvSpPr>
        <p:spPr>
          <a:xfrm>
            <a:off x="10544175" y="4171950"/>
            <a:ext cx="133350" cy="133350"/>
          </a:xfrm>
          <a:prstGeom prst="ellipse">
            <a:avLst/>
          </a:prstGeom>
          <a:solidFill>
            <a:srgbClr val="D33941"/>
          </a:solidFill>
          <a:ln w="0">
            <a:noFill/>
          </a:ln>
        </p:spPr>
      </p:sp>
      <p:sp>
        <p:nvSpPr>
          <p:cNvPr id="31" name="text-152"/>
          <p:cNvSpPr>
            <a:spLocks noGrp="1"/>
          </p:cNvSpPr>
          <p:nvPr/>
        </p:nvSpPr>
        <p:spPr>
          <a:xfrm>
            <a:off x="10344150" y="4600575"/>
            <a:ext cx="119062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 token</a:t>
            </a:r>
            <a:endParaRPr sz="12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line-153"/>
          <p:cNvSpPr>
            <a:spLocks noGrp="1"/>
          </p:cNvSpPr>
          <p:nvPr/>
        </p:nvSpPr>
        <p:spPr>
          <a:xfrm>
            <a:off x="2886075" y="5238750"/>
            <a:ext cx="7724775" cy="95"/>
          </a:xfrm>
          <a:prstGeom prst="line">
            <a:avLst/>
          </a:prstGeom>
          <a:noFill/>
          <a:ln w="19050">
            <a:solidFill>
              <a:srgbClr val="D33941"/>
            </a:solidFill>
            <a:prstDash val="solid"/>
          </a:ln>
        </p:spPr>
      </p:sp>
      <p:sp>
        <p:nvSpPr>
          <p:cNvPr id="33" name="line-154"/>
          <p:cNvSpPr>
            <a:spLocks noGrp="1"/>
          </p:cNvSpPr>
          <p:nvPr/>
        </p:nvSpPr>
        <p:spPr>
          <a:xfrm>
            <a:off x="2886075" y="5181600"/>
            <a:ext cx="95" cy="114300"/>
          </a:xfrm>
          <a:prstGeom prst="line">
            <a:avLst/>
          </a:prstGeom>
          <a:noFill/>
          <a:ln w="19050">
            <a:solidFill>
              <a:srgbClr val="D33941"/>
            </a:solidFill>
            <a:prstDash val="solid"/>
          </a:ln>
        </p:spPr>
      </p:sp>
      <p:sp>
        <p:nvSpPr>
          <p:cNvPr id="34" name="line-155"/>
          <p:cNvSpPr>
            <a:spLocks noGrp="1"/>
          </p:cNvSpPr>
          <p:nvPr/>
        </p:nvSpPr>
        <p:spPr>
          <a:xfrm>
            <a:off x="10610850" y="5181600"/>
            <a:ext cx="95" cy="114300"/>
          </a:xfrm>
          <a:prstGeom prst="line">
            <a:avLst/>
          </a:prstGeom>
          <a:noFill/>
          <a:ln w="19050">
            <a:solidFill>
              <a:srgbClr val="D33941"/>
            </a:solidFill>
            <a:prstDash val="solid"/>
          </a:ln>
        </p:spPr>
      </p:sp>
      <p:sp>
        <p:nvSpPr>
          <p:cNvPr id="35" name="text-156"/>
          <p:cNvSpPr>
            <a:spLocks noGrp="1"/>
          </p:cNvSpPr>
          <p:nvPr/>
        </p:nvSpPr>
        <p:spPr>
          <a:xfrm>
            <a:off x="2886075" y="4914900"/>
            <a:ext cx="77247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5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TTFT 覆盖所有 Prefill 块，以及中间等待与返回</a:t>
            </a:r>
            <a:endParaRPr sz="15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-157"/>
          <p:cNvSpPr>
            <a:spLocks noGrp="1"/>
          </p:cNvSpPr>
          <p:nvPr/>
        </p:nvSpPr>
        <p:spPr>
          <a:xfrm>
            <a:off x="723900" y="5686425"/>
            <a:ext cx="51435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用户：ITL 尖峰、TPOT、TTFT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7" name="text-158"/>
          <p:cNvSpPr>
            <a:spLocks noGrp="1"/>
          </p:cNvSpPr>
          <p:nvPr/>
        </p:nvSpPr>
        <p:spPr>
          <a:xfrm>
            <a:off x="6210300" y="5686425"/>
            <a:ext cx="5257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服务商：延迟达标时，能接住多少请求？</a:t>
            </a:r>
            <a:endParaRPr sz="172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text-159"/>
          <p:cNvSpPr>
            <a:spLocks noGrp="1"/>
          </p:cNvSpPr>
          <p:nvPr/>
        </p:nvSpPr>
        <p:spPr>
          <a:xfrm>
            <a:off x="723900" y="6086475"/>
            <a:ext cx="107442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混合批处理有机会提高利用率和吞吐，效果仍需以达标吞吐验收。</a:t>
            </a:r>
            <a:endParaRPr sz="12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7" name="text-160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块大小要调到业务的延迟预算里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161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162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max_num_batched_tokens 决定单轮总工作量，实际块大小还取决于 Decode 占用与其他限制。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63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来源：vLLM v0.25.1。趋势受模型、硬件、上下文长度和负载影响，不能当作固定收益。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164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6" name="text-165"/>
          <p:cNvSpPr>
            <a:spLocks noGrp="1"/>
          </p:cNvSpPr>
          <p:nvPr/>
        </p:nvSpPr>
        <p:spPr>
          <a:xfrm>
            <a:off x="723900" y="20097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预算较小</a:t>
            </a:r>
            <a:endParaRPr sz="21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-166"/>
          <p:cNvSpPr>
            <a:spLocks noGrp="1"/>
          </p:cNvSpPr>
          <p:nvPr/>
        </p:nvSpPr>
        <p:spPr>
          <a:xfrm>
            <a:off x="7143750" y="2009775"/>
            <a:ext cx="4000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1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预算较大</a:t>
            </a:r>
            <a:endParaRPr sz="217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lock-167"/>
          <p:cNvSpPr>
            <a:spLocks noGrp="1"/>
          </p:cNvSpPr>
          <p:nvPr/>
        </p:nvSpPr>
        <p:spPr>
          <a:xfrm>
            <a:off x="7239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9" name="text-168"/>
          <p:cNvSpPr>
            <a:spLocks noGrp="1"/>
          </p:cNvSpPr>
          <p:nvPr/>
        </p:nvSpPr>
        <p:spPr>
          <a:xfrm>
            <a:off x="7810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10" name="block-169"/>
          <p:cNvSpPr>
            <a:spLocks noGrp="1"/>
          </p:cNvSpPr>
          <p:nvPr/>
        </p:nvSpPr>
        <p:spPr>
          <a:xfrm>
            <a:off x="14097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1" name="text-170"/>
          <p:cNvSpPr>
            <a:spLocks noGrp="1"/>
          </p:cNvSpPr>
          <p:nvPr/>
        </p:nvSpPr>
        <p:spPr>
          <a:xfrm>
            <a:off x="14668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12" name="block-171"/>
          <p:cNvSpPr>
            <a:spLocks noGrp="1"/>
          </p:cNvSpPr>
          <p:nvPr/>
        </p:nvSpPr>
        <p:spPr>
          <a:xfrm>
            <a:off x="20955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3" name="text-172"/>
          <p:cNvSpPr>
            <a:spLocks noGrp="1"/>
          </p:cNvSpPr>
          <p:nvPr/>
        </p:nvSpPr>
        <p:spPr>
          <a:xfrm>
            <a:off x="21526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14" name="block-173"/>
          <p:cNvSpPr>
            <a:spLocks noGrp="1"/>
          </p:cNvSpPr>
          <p:nvPr/>
        </p:nvSpPr>
        <p:spPr>
          <a:xfrm>
            <a:off x="27813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5" name="text-174"/>
          <p:cNvSpPr>
            <a:spLocks noGrp="1"/>
          </p:cNvSpPr>
          <p:nvPr/>
        </p:nvSpPr>
        <p:spPr>
          <a:xfrm>
            <a:off x="28384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16" name="block-175"/>
          <p:cNvSpPr>
            <a:spLocks noGrp="1"/>
          </p:cNvSpPr>
          <p:nvPr/>
        </p:nvSpPr>
        <p:spPr>
          <a:xfrm>
            <a:off x="34671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7" name="text-176"/>
          <p:cNvSpPr>
            <a:spLocks noGrp="1"/>
          </p:cNvSpPr>
          <p:nvPr/>
        </p:nvSpPr>
        <p:spPr>
          <a:xfrm>
            <a:off x="35242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18" name="block-177"/>
          <p:cNvSpPr>
            <a:spLocks noGrp="1"/>
          </p:cNvSpPr>
          <p:nvPr/>
        </p:nvSpPr>
        <p:spPr>
          <a:xfrm>
            <a:off x="4152900" y="2657475"/>
            <a:ext cx="57150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19" name="text-178"/>
          <p:cNvSpPr>
            <a:spLocks noGrp="1"/>
          </p:cNvSpPr>
          <p:nvPr/>
        </p:nvSpPr>
        <p:spPr>
          <a:xfrm>
            <a:off x="4210050" y="270986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20" name="block-179"/>
          <p:cNvSpPr>
            <a:spLocks noGrp="1"/>
          </p:cNvSpPr>
          <p:nvPr/>
        </p:nvSpPr>
        <p:spPr>
          <a:xfrm>
            <a:off x="7143750" y="2657475"/>
            <a:ext cx="4095750" cy="352425"/>
          </a:xfrm>
          <a:prstGeom prst="roundRect">
            <a:avLst>
              <a:gd name="adj" fmla="val 8108"/>
            </a:avLst>
          </a:prstGeom>
          <a:solidFill>
            <a:srgbClr val="D33941"/>
          </a:solidFill>
          <a:ln w="0">
            <a:noFill/>
          </a:ln>
        </p:spPr>
      </p:sp>
      <p:sp>
        <p:nvSpPr>
          <p:cNvPr id="21" name="text-180"/>
          <p:cNvSpPr>
            <a:spLocks noGrp="1"/>
          </p:cNvSpPr>
          <p:nvPr/>
        </p:nvSpPr>
        <p:spPr>
          <a:xfrm>
            <a:off x="7200900" y="2709863"/>
            <a:ext cx="398145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/>
        </p:txBody>
      </p:sp>
      <p:sp>
        <p:nvSpPr>
          <p:cNvPr id="22" name="text-181"/>
          <p:cNvSpPr>
            <a:spLocks noGrp="1"/>
          </p:cNvSpPr>
          <p:nvPr/>
        </p:nvSpPr>
        <p:spPr>
          <a:xfrm>
            <a:off x="723900" y="3267075"/>
            <a:ext cx="4667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每轮 Prefill 少，通常更利于 ITL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text-182"/>
          <p:cNvSpPr>
            <a:spLocks noGrp="1"/>
          </p:cNvSpPr>
          <p:nvPr/>
        </p:nvSpPr>
        <p:spPr>
          <a:xfrm>
            <a:off x="7143750" y="3267075"/>
            <a:ext cx="4343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Prefill 推进快，通常更利于 TTFT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-183"/>
          <p:cNvSpPr>
            <a:spLocks noGrp="1"/>
          </p:cNvSpPr>
          <p:nvPr/>
        </p:nvSpPr>
        <p:spPr>
          <a:xfrm>
            <a:off x="723900" y="381952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轮数更多，调度和启动开销可能增加</a:t>
            </a:r>
            <a:endParaRPr sz="157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5" name="text-184"/>
          <p:cNvSpPr>
            <a:spLocks noGrp="1"/>
          </p:cNvSpPr>
          <p:nvPr/>
        </p:nvSpPr>
        <p:spPr>
          <a:xfrm>
            <a:off x="7143750" y="3952875"/>
            <a:ext cx="43434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混合迭代更长，输出间隔可能增大</a:t>
            </a:r>
            <a:endParaRPr sz="1575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text-185"/>
          <p:cNvSpPr>
            <a:spLocks noGrp="1"/>
          </p:cNvSpPr>
          <p:nvPr/>
        </p:nvSpPr>
        <p:spPr>
          <a:xfrm>
            <a:off x="5010150" y="2524125"/>
            <a:ext cx="1619250" cy="704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ctr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最优预算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def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取决于负载</a:t>
            </a:r>
            <a:endParaRPr sz="1725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7" name="line-186"/>
          <p:cNvSpPr>
            <a:spLocks noGrp="1"/>
          </p:cNvSpPr>
          <p:nvPr/>
        </p:nvSpPr>
        <p:spPr>
          <a:xfrm>
            <a:off x="723900" y="4686300"/>
            <a:ext cx="1074420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28" name="text-187"/>
          <p:cNvSpPr>
            <a:spLocks noGrp="1"/>
          </p:cNvSpPr>
          <p:nvPr/>
        </p:nvSpPr>
        <p:spPr>
          <a:xfrm>
            <a:off x="723900" y="5038725"/>
            <a:ext cx="319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固定工作负载</a:t>
            </a:r>
            <a:endParaRPr sz="195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text-188"/>
          <p:cNvSpPr>
            <a:spLocks noGrp="1"/>
          </p:cNvSpPr>
          <p:nvPr/>
        </p:nvSpPr>
        <p:spPr>
          <a:xfrm>
            <a:off x="723900" y="5514975"/>
            <a:ext cx="3190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模型、长度、缓存</a:t>
            </a:r>
            <a:endParaRPr sz="15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0" name="arrow-189"/>
          <p:cNvSpPr>
            <a:spLocks noGrp="1"/>
          </p:cNvSpPr>
          <p:nvPr/>
        </p:nvSpPr>
        <p:spPr>
          <a:xfrm>
            <a:off x="3867150" y="5238750"/>
            <a:ext cx="333375" cy="171450"/>
          </a:xfrm>
          <a:prstGeom prst="rightArrow">
            <a:avLst/>
          </a:prstGeom>
          <a:solidFill>
            <a:srgbClr val="D33941"/>
          </a:solidFill>
          <a:ln w="0">
            <a:noFill/>
          </a:ln>
        </p:spPr>
      </p:sp>
      <p:sp>
        <p:nvSpPr>
          <p:cNvPr id="31" name="text-190"/>
          <p:cNvSpPr>
            <a:spLocks noGrp="1"/>
          </p:cNvSpPr>
          <p:nvPr/>
        </p:nvSpPr>
        <p:spPr>
          <a:xfrm>
            <a:off x="4419600" y="5038725"/>
            <a:ext cx="319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扫描 token 预算</a:t>
            </a:r>
            <a:endParaRPr sz="195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text-191"/>
          <p:cNvSpPr>
            <a:spLocks noGrp="1"/>
          </p:cNvSpPr>
          <p:nvPr/>
        </p:nvSpPr>
        <p:spPr>
          <a:xfrm>
            <a:off x="4419600" y="5514975"/>
            <a:ext cx="3190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同时观察延迟与吞吐</a:t>
            </a:r>
            <a:endParaRPr sz="15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arrow-192"/>
          <p:cNvSpPr>
            <a:spLocks noGrp="1"/>
          </p:cNvSpPr>
          <p:nvPr/>
        </p:nvSpPr>
        <p:spPr>
          <a:xfrm>
            <a:off x="7562850" y="5238750"/>
            <a:ext cx="333375" cy="171450"/>
          </a:xfrm>
          <a:prstGeom prst="rightArrow">
            <a:avLst/>
          </a:prstGeom>
          <a:solidFill>
            <a:srgbClr val="D33941"/>
          </a:solidFill>
          <a:ln w="0">
            <a:noFill/>
          </a:ln>
        </p:spPr>
      </p:sp>
      <p:sp>
        <p:nvSpPr>
          <p:cNvPr id="34" name="text-193"/>
          <p:cNvSpPr>
            <a:spLocks noGrp="1"/>
          </p:cNvSpPr>
          <p:nvPr/>
        </p:nvSpPr>
        <p:spPr>
          <a:xfrm>
            <a:off x="8115300" y="5038725"/>
            <a:ext cx="3190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95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逐级增加负载</a:t>
            </a:r>
            <a:endParaRPr sz="195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text-194"/>
          <p:cNvSpPr>
            <a:spLocks noGrp="1"/>
          </p:cNvSpPr>
          <p:nvPr/>
        </p:nvSpPr>
        <p:spPr>
          <a:xfrm>
            <a:off x="8115300" y="5514975"/>
            <a:ext cx="31908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找到稳定承载边界</a:t>
            </a:r>
            <a:endParaRPr sz="15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text-195"/>
          <p:cNvSpPr>
            <a:spLocks noGrp="1"/>
          </p:cNvSpPr>
          <p:nvPr/>
        </p:nvSpPr>
        <p:spPr>
          <a:xfrm>
            <a:off x="723900" y="5972175"/>
            <a:ext cx="10744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验收：TTFT / ITL P99 达标，错误率可控，队列不持续增长</a:t>
            </a:r>
            <a:endParaRPr sz="1500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text-196"/>
          <p:cNvSpPr>
            <a:spLocks noGrp="1"/>
          </p:cNvSpPr>
          <p:nvPr/>
        </p:nvSpPr>
        <p:spPr>
          <a:xfrm>
            <a:off x="723900" y="400050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00" b="1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切的是调度工作量，完整问题仍要读完</a:t>
            </a:r>
            <a:endParaRPr sz="2800" b="1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ine-197"/>
          <p:cNvSpPr>
            <a:spLocks noGrp="1"/>
          </p:cNvSpPr>
          <p:nvPr/>
        </p:nvSpPr>
        <p:spPr>
          <a:xfrm>
            <a:off x="723900" y="1066800"/>
            <a:ext cx="10744200" cy="95"/>
          </a:xfrm>
          <a:prstGeom prst="line">
            <a:avLst/>
          </a:prstGeom>
          <a:noFill/>
          <a:ln w="28575">
            <a:solidFill>
              <a:srgbClr val="D33941"/>
            </a:solidFill>
            <a:prstDash val="solid"/>
          </a:ln>
        </p:spPr>
      </p:sp>
      <p:sp>
        <p:nvSpPr>
          <p:cNvPr id="3" name="text-198"/>
          <p:cNvSpPr>
            <a:spLocks noGrp="1"/>
          </p:cNvSpPr>
          <p:nvPr/>
        </p:nvSpPr>
        <p:spPr>
          <a:xfrm>
            <a:off x="723900" y="1247775"/>
            <a:ext cx="10744200" cy="495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Chunked Prefill 可以和其他推理优化配合使用，但各自解决的问题不同。</a:t>
            </a:r>
            <a:endParaRPr sz="1575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text-199"/>
          <p:cNvSpPr>
            <a:spLocks noGrp="1"/>
          </p:cNvSpPr>
          <p:nvPr/>
        </p:nvSpPr>
        <p:spPr>
          <a:xfrm>
            <a:off x="723900" y="6353175"/>
            <a:ext cx="10477500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00" b="0">
                <a:solidFill>
                  <a:srgbClr val="89898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来源：SARATHI、Sarathi-Serve、vLLM 文档。机制边界为本说明的归纳。</a:t>
            </a:r>
            <a:endParaRPr sz="900" b="0">
              <a:solidFill>
                <a:srgbClr val="89898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-200"/>
          <p:cNvSpPr>
            <a:spLocks noGrp="1"/>
          </p:cNvSpPr>
          <p:nvPr/>
        </p:nvSpPr>
        <p:spPr>
          <a:xfrm>
            <a:off x="10953750" y="6353175"/>
            <a:ext cx="51435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def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b="0">
                <a:solidFill>
                  <a:srgbClr val="898989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 / 6</a:t>
            </a:r>
            <a:endParaRPr sz="900" b="0">
              <a:solidFill>
                <a:srgbClr val="898989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aphicFrame>
        <p:nvGraphicFramePr>
          <p:cNvPr id="18" name="表格 17"/>
          <p:cNvGraphicFramePr/>
          <p:nvPr/>
        </p:nvGraphicFramePr>
        <p:xfrm>
          <a:off x="723900" y="1828800"/>
          <a:ext cx="10744200" cy="3162300"/>
        </p:xfrm>
        <a:graphic>
          <a:graphicData uri="http://schemas.openxmlformats.org/drawingml/2006/table">
            <a:tbl>
              <a:tblPr/>
              <a:tblGrid>
                <a:gridCol w="3524250"/>
                <a:gridCol w="3429000"/>
                <a:gridCol w="3790950"/>
              </a:tblGrid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D33941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Chunked Prefill</a:t>
                      </a:r>
                      <a:endParaRPr sz="1800" b="1">
                        <a:solidFill>
                          <a:srgbClr val="D33941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114300" marR="114300" marT="133350" marB="95250" anchor="ctr">
                    <a:lnL w="9525">
                      <a:solidFill>
                        <a:srgbClr val="DDDDDD"/>
                      </a:solidFill>
                    </a:lnL>
                    <a:lnR w="9525">
                      <a:solidFill>
                        <a:srgbClr val="DDDDDD"/>
                      </a:solidFill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一次读多少输入？</a:t>
                      </a:r>
                      <a:endParaRPr sz="1575" b="1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限制每轮 Prefill 的工作量</a:t>
                      </a:r>
                      <a:endParaRPr sz="1425" b="0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T w="9525">
                      <a:solidFill>
                        <a:srgbClr val="DDDDDD"/>
                      </a:solidFill>
                    </a:lnT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5575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Continuous Batching</a:t>
                      </a:r>
                      <a:endParaRPr sz="1800" b="1">
                        <a:solidFill>
                          <a:srgbClr val="555757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114300" marR="114300" marT="133350" marB="95250" anchor="ctr">
                    <a:lnL w="9525">
                      <a:solidFill>
                        <a:srgbClr val="DDDDDD"/>
                      </a:solidFill>
                    </a:lnL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这一轮服务哪些请求？</a:t>
                      </a:r>
                      <a:endParaRPr sz="1575" b="1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在迭代边界动态进出批次</a:t>
                      </a:r>
                      <a:endParaRPr sz="1425" b="0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55757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PagedAttention</a:t>
                      </a:r>
                      <a:endParaRPr sz="1800" b="1">
                        <a:solidFill>
                          <a:srgbClr val="555757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114300" marR="114300" marT="133350" marB="95250" anchor="ctr">
                    <a:lnL w="9525">
                      <a:solidFill>
                        <a:srgbClr val="DDDDDD"/>
                      </a:solidFill>
                    </a:lnL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KV 放在哪里、怎么访问？</a:t>
                      </a:r>
                      <a:endParaRPr sz="1575" b="1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管理 KV 的物理块与逻辑映射</a:t>
                      </a:r>
                      <a:endParaRPr sz="1425" b="0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05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PD 分离</a:t>
                      </a:r>
                      <a:endParaRPr sz="1800" b="1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L w="9525">
                      <a:solidFill>
                        <a:srgbClr val="DDDDDD"/>
                      </a:solidFill>
                    </a:lnL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Prefill / Decode 在哪执行？</a:t>
                      </a:r>
                      <a:endParaRPr sz="1575" b="1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0">
                          <a:solidFill>
                            <a:srgbClr val="555757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分配不同执行资源并移交 KV</a:t>
                      </a:r>
                      <a:endParaRPr sz="1425" b="0">
                        <a:solidFill>
                          <a:srgbClr val="555757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14300" marR="114300" marT="133350" marB="95250" anchor="ctr">
                    <a:lnR w="9525">
                      <a:solidFill>
                        <a:srgbClr val="DDDDDD"/>
                      </a:solidFill>
                    </a:lnR>
                    <a:lnB w="952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line-201"/>
          <p:cNvSpPr>
            <a:spLocks noGrp="1"/>
          </p:cNvSpPr>
          <p:nvPr/>
        </p:nvSpPr>
        <p:spPr>
          <a:xfrm>
            <a:off x="723900" y="2619375"/>
            <a:ext cx="1074420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8" name="line-202"/>
          <p:cNvSpPr>
            <a:spLocks noGrp="1"/>
          </p:cNvSpPr>
          <p:nvPr/>
        </p:nvSpPr>
        <p:spPr>
          <a:xfrm>
            <a:off x="723900" y="3409950"/>
            <a:ext cx="1074420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9" name="line-203"/>
          <p:cNvSpPr>
            <a:spLocks noGrp="1"/>
          </p:cNvSpPr>
          <p:nvPr/>
        </p:nvSpPr>
        <p:spPr>
          <a:xfrm>
            <a:off x="723900" y="4200525"/>
            <a:ext cx="1074420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0" name="line-204"/>
          <p:cNvSpPr>
            <a:spLocks noGrp="1"/>
          </p:cNvSpPr>
          <p:nvPr/>
        </p:nvSpPr>
        <p:spPr>
          <a:xfrm>
            <a:off x="723900" y="4991100"/>
            <a:ext cx="10744200" cy="95"/>
          </a:xfrm>
          <a:prstGeom prst="line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sp>
        <p:nvSpPr>
          <p:cNvPr id="11" name="text-205"/>
          <p:cNvSpPr>
            <a:spLocks noGrp="1"/>
          </p:cNvSpPr>
          <p:nvPr/>
        </p:nvSpPr>
        <p:spPr>
          <a:xfrm>
            <a:off x="723900" y="5467350"/>
            <a:ext cx="107442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20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025" b="1">
                <a:solidFill>
                  <a:srgbClr val="D3394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分块不会提前读懂后面的输入，也不会清空前块的 KV</a:t>
            </a:r>
            <a:endParaRPr sz="2025" b="1">
              <a:solidFill>
                <a:srgbClr val="D3394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-206"/>
          <p:cNvSpPr>
            <a:spLocks noGrp="1"/>
          </p:cNvSpPr>
          <p:nvPr/>
        </p:nvSpPr>
        <p:spPr>
          <a:xfrm>
            <a:off x="723900" y="5943600"/>
            <a:ext cx="107442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l">
              <a:defRPr sz="150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00" b="0">
                <a:solidFill>
                  <a:srgbClr val="5557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期待的是更可控的调度和承载能力，收益由真实压测确认。</a:t>
            </a:r>
            <a:endParaRPr sz="1500" b="0">
              <a:solidFill>
                <a:srgbClr val="5557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2053</Words>
  <Application>WPS 演示</Application>
  <PresentationFormat>Converted Presentation</PresentationFormat>
  <Paragraphs>249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微软雅黑</vt:lpstr>
      <vt:lpstr>Arial</vt:lpstr>
      <vt:lpstr>Arial Unicode MS</vt:lpstr>
      <vt:lpstr>Calibri</vt:lpstr>
      <vt:lpstr>Wingdings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WPS_1782356148</cp:lastModifiedBy>
  <cp:revision>1</cp:revision>
  <dcterms:created xsi:type="dcterms:W3CDTF">2026-09-14T10:50:00Z</dcterms:created>
  <dcterms:modified xsi:type="dcterms:W3CDTF">2026-09-14T10:50:00Z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CCDC3279810D4531A77D8AC1866968F4_12</vt:lpwstr>
  </property>
</Properties>
</file>