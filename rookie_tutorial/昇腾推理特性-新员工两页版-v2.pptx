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f73beecdec4c55" /><Relationship Type="http://schemas.openxmlformats.org/officeDocument/2006/relationships/extended-properties" Target="/docProps/app.xml" Id="Rf9db514a5e9a4c89" /><Relationship Type="http://schemas.openxmlformats.org/officeDocument/2006/relationships/officeDocument" Target="/ppt/presentation.xml" Id="Re11d9396d995424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c657a59fce4880"/>
  </p:sldMasterIdLst>
  <p:notesMasterIdLst>
    <p:notesMasterId xmlns:r="http://schemas.openxmlformats.org/officeDocument/2006/relationships" r:id="R0f7de3ac58e34fa3"/>
  </p:notesMasterIdLst>
  <p:sldIdLst>
    <p:sldId xmlns:r="http://schemas.openxmlformats.org/officeDocument/2006/relationships" id="256" r:id="R21552312785241ff"/>
    <p:sldId xmlns:r="http://schemas.openxmlformats.org/officeDocument/2006/relationships" id="257" r:id="R8ec96f1e2420405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bb2dcfdc904ace" /><Relationship Type="http://schemas.openxmlformats.org/officeDocument/2006/relationships/slideMaster" Target="/ppt/slideMasters/slideMaster1.xml" Id="Re7c657a59fce4880" /><Relationship Type="http://schemas.openxmlformats.org/officeDocument/2006/relationships/notesMaster" Target="/ppt/notesMasters/notesMaster1.xml" Id="R0f7de3ac58e34fa3" /><Relationship Type="http://schemas.openxmlformats.org/officeDocument/2006/relationships/presProps" Target="/ppt/presProps.xml" Id="Rfe35f07a6cdb4d87" /><Relationship Type="http://schemas.openxmlformats.org/officeDocument/2006/relationships/tableStyles" Target="/ppt/tableStyles.xml" Id="Ra856af233b5941da" /><Relationship Type="http://schemas.openxmlformats.org/officeDocument/2006/relationships/slide" Target="/ppt/slides/slide1.xml" Id="R21552312785241ff" /><Relationship Type="http://schemas.openxmlformats.org/officeDocument/2006/relationships/slide" Target="/ppt/slides/slide2.xml" Id="R8ec96f1e2420405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b15d24a51694b2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8e73bf390dc4f2e" /><Relationship Type="http://schemas.openxmlformats.org/officeDocument/2006/relationships/notesMaster" Target="/ppt/notesMasters/notesMaster1.xml" Id="Re2cdc3b213d14f1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065c53689f42e4" /><Relationship Type="http://schemas.openxmlformats.org/officeDocument/2006/relationships/notesMaster" Target="/ppt/notesMasters/notesMaster1.xml" Id="R04efbb9959484b4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来源：rookie_tutorial/1.xlsx 的 B、C、D 列与课程.md。分类调整：并行策略单列；KV 与专家权重卸载合并；低精度通信归入量化。标签是典型方向，具体条件在收益列。未认定所有硬件、模型和版本都已支持。</a:t>
            </a:r>
          </a:p>
          <a:p xmlns:a="http://schemas.openxmlformats.org/drawingml/2006/main">
            <a:r>
              <a:t>https://docs.vllm.ai/en/stable/configuration/optimization/</a:t>
            </a:r>
          </a:p>
          <a:p xmlns:a="http://schemas.openxmlformats.org/drawingml/2006/main">
            <a:r>
              <a:t>https://docs.vllm.ai/en/stable/features/automatic_prefix_caching/</a:t>
            </a:r>
          </a:p>
          <a:p xmlns:a="http://schemas.openxmlformats.org/drawingml/2006/main">
            <a:r>
              <a:t>https://docs.vllm.ai/en/stable/features/quantization/quantized_kvcache/</a:t>
            </a:r>
          </a:p>
          <a:p xmlns:a="http://schemas.openxmlformats.org/drawingml/2006/main">
            <a:r>
              <a:t>https://docs.vllm.ai/en/stable/features/disagg_prefill/</a:t>
            </a:r>
          </a:p>
          <a:p xmlns:a="http://schemas.openxmlformats.org/drawingml/2006/main">
            <a:r>
              <a:t>https://docs.vllm.ai/en/stable/configuration/conserving_memory/</a:t>
            </a:r>
          </a:p>
          <a:p xmlns:a="http://schemas.openxmlformats.org/drawingml/2006/main">
            <a:r>
              <a:t>https://docs.vllm.ai/projects/ascend/en/latest/user_guide/feature_guide/dynamic_chunk_pipeline_parallel.html</a:t>
            </a:r>
          </a:p>
          <a:p xmlns:a="http://schemas.openxmlformats.org/drawingml/2006/main">
            <a:r>
              <a:t>https://docs.vllm.ai/projects/vllm-ascend-cn/zh-cn/latest/user_guide/feature_guide/context_parallel.html</a:t>
            </a:r>
          </a:p>
          <a:p xmlns:a="http://schemas.openxmlformats.org/drawingml/2006/main">
            <a:r>
              <a:t>https://docs.vllm.ai/projects/vllm-ascend-cn/zh-cn/latest/user_guide/feature_guide/speculative_decoding.html</a:t>
            </a:r>
          </a:p>
          <a:p xmlns:a="http://schemas.openxmlformats.org/drawingml/2006/main">
            <a:r>
              <a:t>https://docs.vllm.ai/projects/vllm-ascend-cn/zh-cn/latest/user_guide/feature_guide/expert_parallelism_load_balancer.html</a:t>
            </a:r>
          </a:p>
          <a:p xmlns:a="http://schemas.openxmlformats.org/drawingml/2006/main">
            <a:r>
              <a:t>CPP 用于 P 节点的长输入 Prefill 流水优化，当前文档建议不要在 PP 的 P 节点开启异步调度。EPLB 增加显存针对冗余专家方案。APC 降低指共享前缀的重复物理KV，不保证缓存池总占用下降。PD 无直接内存压缩，部署额外实例与传输缓冲可能增加总内存。DSpark 与 DFlash 是不同投机方法，需分别确认训练与接入支持。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来源：rookie_tutorial/1.xlsx 的 B、C、D 列与课程.md。分类调整：并行策略单列；KV 与专家权重卸载合并；低精度通信归入量化。标签是典型方向，具体条件在收益列。未认定所有硬件、模型和版本都已支持。</a:t>
            </a:r>
          </a:p>
          <a:p xmlns:a="http://schemas.openxmlformats.org/drawingml/2006/main">
            <a:r>
              <a:t>https://docs.vllm.ai/en/stable/configuration/optimization/</a:t>
            </a:r>
          </a:p>
          <a:p xmlns:a="http://schemas.openxmlformats.org/drawingml/2006/main">
            <a:r>
              <a:t>https://docs.vllm.ai/en/stable/features/automatic_prefix_caching/</a:t>
            </a:r>
          </a:p>
          <a:p xmlns:a="http://schemas.openxmlformats.org/drawingml/2006/main">
            <a:r>
              <a:t>https://docs.vllm.ai/en/stable/features/quantization/quantized_kvcache/</a:t>
            </a:r>
          </a:p>
          <a:p xmlns:a="http://schemas.openxmlformats.org/drawingml/2006/main">
            <a:r>
              <a:t>https://docs.vllm.ai/en/stable/features/disagg_prefill/</a:t>
            </a:r>
          </a:p>
          <a:p xmlns:a="http://schemas.openxmlformats.org/drawingml/2006/main">
            <a:r>
              <a:t>https://docs.vllm.ai/en/stable/configuration/conserving_memory/</a:t>
            </a:r>
          </a:p>
          <a:p xmlns:a="http://schemas.openxmlformats.org/drawingml/2006/main">
            <a:r>
              <a:t>https://docs.vllm.ai/projects/ascend/en/latest/user_guide/feature_guide/dynamic_chunk_pipeline_parallel.html</a:t>
            </a:r>
          </a:p>
          <a:p xmlns:a="http://schemas.openxmlformats.org/drawingml/2006/main">
            <a:r>
              <a:t>https://docs.vllm.ai/projects/vllm-ascend-cn/zh-cn/latest/user_guide/feature_guide/context_parallel.html</a:t>
            </a:r>
          </a:p>
          <a:p xmlns:a="http://schemas.openxmlformats.org/drawingml/2006/main">
            <a:r>
              <a:t>https://docs.vllm.ai/projects/vllm-ascend-cn/zh-cn/latest/user_guide/feature_guide/speculative_decoding.html</a:t>
            </a:r>
          </a:p>
          <a:p xmlns:a="http://schemas.openxmlformats.org/drawingml/2006/main">
            <a:r>
              <a:t>https://docs.vllm.ai/projects/vllm-ascend-cn/zh-cn/latest/user_guide/feature_guide/expert_parallelism_load_balancer.html</a:t>
            </a:r>
          </a:p>
          <a:p xmlns:a="http://schemas.openxmlformats.org/drawingml/2006/main">
            <a:r>
              <a:t>CPP 用于 P 节点的长输入 Prefill 流水优化，当前文档建议不要在 PP 的 P 节点开启异步调度。EPLB 增加显存针对冗余专家方案。APC 降低指共享前缀的重复物理KV，不保证缓存池总占用下降。PD 无直接内存压缩，部署额外实例与传输缓冲可能增加总内存。DSpark 与 DFlash 是不同投机方法，需分别确认训练与接入支持。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88203bf4f2414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9f98b89a48f45ef" /><Relationship Type="http://schemas.openxmlformats.org/officeDocument/2006/relationships/slideLayout" Target="/ppt/slideLayouts/slideLayout1.xml" Id="Rb1c30c16ae85472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c30c16ae85472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ef9b99b194dbd" /><Relationship Type="http://schemas.openxmlformats.org/officeDocument/2006/relationships/notesSlide" Target="/ppt/notesSlides/notesSlide1.xml" Id="R3349b820525344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464d9a4a6f4f3a" /><Relationship Type="http://schemas.openxmlformats.org/officeDocument/2006/relationships/notesSlide" Target="/ppt/notesSlides/notesSlide2.xml" Id="R006cdcf4460b4dc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text-1">
            <a:extLst xmlns:a="http://schemas.openxmlformats.org/drawingml/2006/main">
              <a:ext uri="{FF2B5EF4-FFF2-40B4-BE49-F238E27FC236}">
                <a16:creationId xmlns:a16="http://schemas.microsoft.com/office/drawing/2014/main" id="{E364F982-513E-4961-93DA-029C30447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调度、缓存与并行：请求怎样跑起来？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6AD4C3-C01B-4842-98A4-5661A6FD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1074420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33941"/>
            </a:solidFill>
          </a:ln>
        </p:spPr>
      </p:sp>
      <p:sp>
        <p:nvSpPr>
          <p:cNvPr id="3" name="text-2">
            <a:extLst xmlns:a="http://schemas.openxmlformats.org/drawingml/2006/main">
              <a:ext uri="{FF2B5EF4-FFF2-40B4-BE49-F238E27FC236}">
                <a16:creationId xmlns:a16="http://schemas.microsoft.com/office/drawing/2014/main" id="{C0014DA6-0603-4810-91E5-44F269D20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90625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98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8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标签表示典型方向，收益条件见最右列。“—”表示容量或适配能力，不代表直接加速。</a:t>
            </a:r>
          </a:p>
        </p:txBody>
      </p:sp>
      <p:sp>
        <p:nvSpPr>
          <p:cNvPr id="4" name="text-3">
            <a:extLst xmlns:a="http://schemas.openxmlformats.org/drawingml/2006/main">
              <a:ext uri="{FF2B5EF4-FFF2-40B4-BE49-F238E27FC236}">
                <a16:creationId xmlns:a16="http://schemas.microsoft.com/office/drawing/2014/main" id="{B12C55BD-932B-4F03-BA3A-38F03911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53352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大类</a:t>
            </a:r>
          </a:p>
        </p:txBody>
      </p:sp>
      <p:sp>
        <p:nvSpPr>
          <p:cNvPr id="5" name="text-4">
            <a:extLst xmlns:a="http://schemas.openxmlformats.org/drawingml/2006/main">
              <a:ext uri="{FF2B5EF4-FFF2-40B4-BE49-F238E27FC236}">
                <a16:creationId xmlns:a16="http://schemas.microsoft.com/office/drawing/2014/main" id="{DF36EA03-9320-4349-BB63-F4A24D376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5335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小类 / 特性</a:t>
            </a:r>
          </a:p>
        </p:txBody>
      </p:sp>
      <p:sp>
        <p:nvSpPr>
          <p:cNvPr id="6" name="text-5">
            <a:extLst xmlns:a="http://schemas.openxmlformats.org/drawingml/2006/main">
              <a:ext uri="{FF2B5EF4-FFF2-40B4-BE49-F238E27FC236}">
                <a16:creationId xmlns:a16="http://schemas.microsoft.com/office/drawing/2014/main" id="{3674E5F1-57E2-4FD6-95F6-C87EF587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533525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介绍：它具体做什么？</a:t>
            </a:r>
          </a:p>
        </p:txBody>
      </p:sp>
      <p:sp>
        <p:nvSpPr>
          <p:cNvPr id="7" name="text-6">
            <a:extLst xmlns:a="http://schemas.openxmlformats.org/drawingml/2006/main">
              <a:ext uri="{FF2B5EF4-FFF2-40B4-BE49-F238E27FC236}">
                <a16:creationId xmlns:a16="http://schemas.microsoft.com/office/drawing/2014/main" id="{2FDDC3E6-7EB5-4601-856B-C927B75A1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33525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text-7">
            <a:extLst xmlns:a="http://schemas.openxmlformats.org/drawingml/2006/main">
              <a:ext uri="{FF2B5EF4-FFF2-40B4-BE49-F238E27FC236}">
                <a16:creationId xmlns:a16="http://schemas.microsoft.com/office/drawing/2014/main" id="{3A66A3C8-9F25-401A-8255-D5449119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33525"/>
            <a:ext cx="695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显存</a:t>
            </a:r>
          </a:p>
        </p:txBody>
      </p:sp>
      <p:sp>
        <p:nvSpPr>
          <p:cNvPr id="9" name="text-8">
            <a:extLst xmlns:a="http://schemas.openxmlformats.org/drawingml/2006/main">
              <a:ext uri="{FF2B5EF4-FFF2-40B4-BE49-F238E27FC236}">
                <a16:creationId xmlns:a16="http://schemas.microsoft.com/office/drawing/2014/main" id="{951889B2-2E1F-433D-AAFA-01F7B8E3A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533525"/>
            <a:ext cx="339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收益说明与适用条件</a:t>
            </a:r>
          </a:p>
        </p:txBody>
      </p:sp>
      <p:graphicFrame>
        <p:nvGraphicFramePr>
          <p:cNvPr id="85" name=""/>
          <p:cNvGraphicFramePr/>
          <p:nvPr/>
        </p:nvGraphicFramePr>
        <p:xfrm>
          <a:off xmlns:a="http://schemas.openxmlformats.org/drawingml/2006/main" x="723900" y="1838325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调度</a:t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异步调度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设备计算当前批次时，CPU 同时准备下一批请求，让计算与准备工作衔接。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减少设备等待调度的空闲时间；并行准备可能增加缓冲，需确认组合兼容性。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ag-9">
            <a:extLst xmlns:a="http://schemas.openxmlformats.org/drawingml/2006/main">
              <a:ext uri="{FF2B5EF4-FFF2-40B4-BE49-F238E27FC236}">
                <a16:creationId xmlns:a16="http://schemas.microsoft.com/office/drawing/2014/main" id="{38D1ABA0-D5C2-4924-A658-CB3FD3EA7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30B5C5"/>
          </a:solidFill>
          <a:ln xmlns:a="http://schemas.openxmlformats.org/drawingml/2006/main" w="0">
            <a:noFill/>
          </a:ln>
        </p:spPr>
      </p:sp>
      <p:sp>
        <p:nvSpPr>
          <p:cNvPr id="12" name="text-10">
            <a:extLst xmlns:a="http://schemas.openxmlformats.org/drawingml/2006/main">
              <a:ext uri="{FF2B5EF4-FFF2-40B4-BE49-F238E27FC236}">
                <a16:creationId xmlns:a16="http://schemas.microsoft.com/office/drawing/2014/main" id="{90E29D0B-D960-4108-92A8-08E30F7A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33575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</a:t>
            </a:r>
          </a:p>
        </p:txBody>
      </p:sp>
      <p:sp>
        <p:nvSpPr>
          <p:cNvPr id="13" name="tag-11">
            <a:extLst xmlns:a="http://schemas.openxmlformats.org/drawingml/2006/main">
              <a:ext uri="{FF2B5EF4-FFF2-40B4-BE49-F238E27FC236}">
                <a16:creationId xmlns:a16="http://schemas.microsoft.com/office/drawing/2014/main" id="{43541287-2306-4ACE-BE26-A07E0D639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85950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D6D00"/>
          </a:solidFill>
          <a:ln xmlns:a="http://schemas.openxmlformats.org/drawingml/2006/main" w="0">
            <a:noFill/>
          </a:ln>
        </p:spPr>
      </p:sp>
      <p:sp>
        <p:nvSpPr>
          <p:cNvPr id="14" name="text-12">
            <a:extLst xmlns:a="http://schemas.openxmlformats.org/drawingml/2006/main">
              <a:ext uri="{FF2B5EF4-FFF2-40B4-BE49-F238E27FC236}">
                <a16:creationId xmlns:a16="http://schemas.microsoft.com/office/drawing/2014/main" id="{B0F5C67C-B80A-4071-9504-407F45A72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33575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增加</a:t>
            </a:r>
          </a:p>
        </p:txBody>
      </p:sp>
      <p:graphicFrame>
        <p:nvGraphicFramePr>
          <p:cNvPr id="90" name=""/>
          <p:cNvGraphicFramePr/>
          <p:nvPr/>
        </p:nvGraphicFramePr>
        <p:xfrm>
          <a:off xmlns:a="http://schemas.openxmlformats.org/drawingml/2006/main" x="723900" y="2205038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动态分块流水线</a:t>
                      </a:r>
                    </a:p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CPP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在多卡流水线上，把长输入切成计算耗时较均衡的块，减少各阶段互相等待。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缩短长输入首 token 等待，并控制激活峰值；主要用于 PD 的 P 节点。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ag-13">
            <a:extLst xmlns:a="http://schemas.openxmlformats.org/drawingml/2006/main">
              <a:ext uri="{FF2B5EF4-FFF2-40B4-BE49-F238E27FC236}">
                <a16:creationId xmlns:a16="http://schemas.microsoft.com/office/drawing/2014/main" id="{60DA8A6E-9B8C-4C58-9740-E1334796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52663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33941"/>
          </a:solidFill>
          <a:ln xmlns:a="http://schemas.openxmlformats.org/drawingml/2006/main" w="0">
            <a:noFill/>
          </a:ln>
        </p:spPr>
      </p:sp>
      <p:sp>
        <p:nvSpPr>
          <p:cNvPr id="17" name="text-14">
            <a:extLst xmlns:a="http://schemas.openxmlformats.org/drawingml/2006/main">
              <a:ext uri="{FF2B5EF4-FFF2-40B4-BE49-F238E27FC236}">
                <a16:creationId xmlns:a16="http://schemas.microsoft.com/office/drawing/2014/main" id="{52355DEB-58E3-4B7B-A1A2-C70D6B151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0028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低时延</a:t>
            </a:r>
          </a:p>
        </p:txBody>
      </p:sp>
      <p:sp>
        <p:nvSpPr>
          <p:cNvPr id="18" name="tag-15">
            <a:extLst xmlns:a="http://schemas.openxmlformats.org/drawingml/2006/main">
              <a:ext uri="{FF2B5EF4-FFF2-40B4-BE49-F238E27FC236}">
                <a16:creationId xmlns:a16="http://schemas.microsoft.com/office/drawing/2014/main" id="{11737659-601C-47E6-B24E-AE51ADA32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52663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62B230"/>
          </a:solidFill>
          <a:ln xmlns:a="http://schemas.openxmlformats.org/drawingml/2006/main" w="0">
            <a:noFill/>
          </a:ln>
        </p:spPr>
      </p:sp>
      <p:sp>
        <p:nvSpPr>
          <p:cNvPr id="19" name="text-16">
            <a:extLst xmlns:a="http://schemas.openxmlformats.org/drawingml/2006/main">
              <a:ext uri="{FF2B5EF4-FFF2-40B4-BE49-F238E27FC236}">
                <a16:creationId xmlns:a16="http://schemas.microsoft.com/office/drawing/2014/main" id="{54EC957B-CE39-4DD4-B06A-82BA2F63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00288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降低</a:t>
            </a:r>
          </a:p>
        </p:txBody>
      </p:sp>
      <p:graphicFrame>
        <p:nvGraphicFramePr>
          <p:cNvPr id="95" name=""/>
          <p:cNvGraphicFramePr/>
          <p:nvPr/>
        </p:nvGraphicFramePr>
        <p:xfrm>
          <a:off xmlns:a="http://schemas.openxmlformats.org/drawingml/2006/main" x="723900" y="2571750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Cache</a:t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前缀缓存</a:t>
                      </a:r>
                    </a:p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APC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多次请求有相同的开头时，复用这部分已算好的 KV，后续只处理新的输入。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命中时减少重复 Prefill 和重复 KV 存储；保留缓存也占空间，不加速新词生成。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ag-17">
            <a:extLst xmlns:a="http://schemas.openxmlformats.org/drawingml/2006/main">
              <a:ext uri="{FF2B5EF4-FFF2-40B4-BE49-F238E27FC236}">
                <a16:creationId xmlns:a16="http://schemas.microsoft.com/office/drawing/2014/main" id="{125850C8-0982-4006-8657-B5C4F3BB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19375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33941"/>
          </a:solidFill>
          <a:ln xmlns:a="http://schemas.openxmlformats.org/drawingml/2006/main" w="0">
            <a:noFill/>
          </a:ln>
        </p:spPr>
      </p:sp>
      <p:sp>
        <p:nvSpPr>
          <p:cNvPr id="22" name="text-18">
            <a:extLst xmlns:a="http://schemas.openxmlformats.org/drawingml/2006/main">
              <a:ext uri="{FF2B5EF4-FFF2-40B4-BE49-F238E27FC236}">
                <a16:creationId xmlns:a16="http://schemas.microsoft.com/office/drawing/2014/main" id="{09811D34-439B-474F-9134-57A2E7F9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19375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低时延</a:t>
            </a:r>
          </a:p>
        </p:txBody>
      </p:sp>
      <p:sp>
        <p:nvSpPr>
          <p:cNvPr id="23" name="text-19">
            <a:extLst xmlns:a="http://schemas.openxmlformats.org/drawingml/2006/main">
              <a:ext uri="{FF2B5EF4-FFF2-40B4-BE49-F238E27FC236}">
                <a16:creationId xmlns:a16="http://schemas.microsoft.com/office/drawing/2014/main" id="{D04B5290-788C-446E-906C-932D3484F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52725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</a:t>
            </a:r>
          </a:p>
        </p:txBody>
      </p:sp>
      <p:sp>
        <p:nvSpPr>
          <p:cNvPr id="24" name="tag-20">
            <a:extLst xmlns:a="http://schemas.openxmlformats.org/drawingml/2006/main">
              <a:ext uri="{FF2B5EF4-FFF2-40B4-BE49-F238E27FC236}">
                <a16:creationId xmlns:a16="http://schemas.microsoft.com/office/drawing/2014/main" id="{8309CDF5-C632-420C-8D12-CD21DE69E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19375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62B230"/>
          </a:solidFill>
          <a:ln xmlns:a="http://schemas.openxmlformats.org/drawingml/2006/main" w="0">
            <a:noFill/>
          </a:ln>
        </p:spPr>
      </p:sp>
      <p:sp>
        <p:nvSpPr>
          <p:cNvPr id="25" name="text-21">
            <a:extLst xmlns:a="http://schemas.openxmlformats.org/drawingml/2006/main">
              <a:ext uri="{FF2B5EF4-FFF2-40B4-BE49-F238E27FC236}">
                <a16:creationId xmlns:a16="http://schemas.microsoft.com/office/drawing/2014/main" id="{50F98514-4376-4786-9D03-02D0C87A7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降低</a:t>
            </a:r>
          </a:p>
        </p:txBody>
      </p:sp>
      <p:graphicFrame>
        <p:nvGraphicFramePr>
          <p:cNvPr id="101" name=""/>
          <p:cNvGraphicFramePr/>
          <p:nvPr/>
        </p:nvGraphicFramePr>
        <p:xfrm>
          <a:off xmlns:a="http://schemas.openxmlformats.org/drawingml/2006/main" x="723900" y="2938463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池化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把不同实例的 KV 纳入共享缓存服务，新请求可查找并取回已有的计算结果。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命中可减少重复计算，但需搬运 KV；池化本身不压缩设备上的单份 KV。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7" name="tag-22">
            <a:extLst xmlns:a="http://schemas.openxmlformats.org/drawingml/2006/main">
              <a:ext uri="{FF2B5EF4-FFF2-40B4-BE49-F238E27FC236}">
                <a16:creationId xmlns:a16="http://schemas.microsoft.com/office/drawing/2014/main" id="{A6FE8CB3-FBBA-49B0-B907-09D66DCD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86088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33941"/>
          </a:solidFill>
          <a:ln xmlns:a="http://schemas.openxmlformats.org/drawingml/2006/main" w="0">
            <a:noFill/>
          </a:ln>
        </p:spPr>
      </p:sp>
      <p:sp>
        <p:nvSpPr>
          <p:cNvPr id="28" name="text-23">
            <a:extLst xmlns:a="http://schemas.openxmlformats.org/drawingml/2006/main">
              <a:ext uri="{FF2B5EF4-FFF2-40B4-BE49-F238E27FC236}">
                <a16:creationId xmlns:a16="http://schemas.microsoft.com/office/drawing/2014/main" id="{D5E88790-0C44-4A98-BDBF-7D19F88F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33713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低时延</a:t>
            </a:r>
          </a:p>
        </p:txBody>
      </p:sp>
      <p:sp>
        <p:nvSpPr>
          <p:cNvPr id="29" name="tag-24">
            <a:extLst xmlns:a="http://schemas.openxmlformats.org/drawingml/2006/main">
              <a:ext uri="{FF2B5EF4-FFF2-40B4-BE49-F238E27FC236}">
                <a16:creationId xmlns:a16="http://schemas.microsoft.com/office/drawing/2014/main" id="{128231C9-3A09-45F2-B510-61631802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86088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</a:ln>
        </p:spPr>
      </p:sp>
      <p:sp>
        <p:nvSpPr>
          <p:cNvPr id="30" name="text-25">
            <a:extLst xmlns:a="http://schemas.openxmlformats.org/drawingml/2006/main">
              <a:ext uri="{FF2B5EF4-FFF2-40B4-BE49-F238E27FC236}">
                <a16:creationId xmlns:a16="http://schemas.microsoft.com/office/drawing/2014/main" id="{6BA6634B-0549-412B-ABB1-BA4DD718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33713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不影响</a:t>
            </a:r>
          </a:p>
        </p:txBody>
      </p:sp>
      <p:graphicFrame>
        <p:nvGraphicFramePr>
          <p:cNvPr id="106" name=""/>
          <p:cNvGraphicFramePr/>
          <p:nvPr/>
        </p:nvGraphicFramePr>
        <p:xfrm>
          <a:off xmlns:a="http://schemas.openxmlformats.org/drawingml/2006/main" x="723900" y="3305175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异构缓存管理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不同模型层可能保存 KV、卷积状态或递归状态，引擎分别管理这些数据。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支持混合结构模型正确运行；管理能力本身不保证加速或压缩缓存。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tag-26">
            <a:extLst xmlns:a="http://schemas.openxmlformats.org/drawingml/2006/main">
              <a:ext uri="{FF2B5EF4-FFF2-40B4-BE49-F238E27FC236}">
                <a16:creationId xmlns:a16="http://schemas.microsoft.com/office/drawing/2014/main" id="{DE55C5DC-AAB4-4311-B491-B19D26D0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</a:ln>
        </p:spPr>
      </p:sp>
      <p:sp>
        <p:nvSpPr>
          <p:cNvPr id="33" name="text-27">
            <a:extLst xmlns:a="http://schemas.openxmlformats.org/drawingml/2006/main">
              <a:ext uri="{FF2B5EF4-FFF2-40B4-BE49-F238E27FC236}">
                <a16:creationId xmlns:a16="http://schemas.microsoft.com/office/drawing/2014/main" id="{EC86C08D-1AC9-4492-9D3E-BE00E6AEF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0425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34" name="tag-28">
            <a:extLst xmlns:a="http://schemas.openxmlformats.org/drawingml/2006/main">
              <a:ext uri="{FF2B5EF4-FFF2-40B4-BE49-F238E27FC236}">
                <a16:creationId xmlns:a16="http://schemas.microsoft.com/office/drawing/2014/main" id="{BD3FC028-8C82-4A18-BCF3-EEA7E69BE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</a:ln>
        </p:spPr>
      </p:sp>
      <p:sp>
        <p:nvSpPr>
          <p:cNvPr id="35" name="text-29">
            <a:extLst xmlns:a="http://schemas.openxmlformats.org/drawingml/2006/main">
              <a:ext uri="{FF2B5EF4-FFF2-40B4-BE49-F238E27FC236}">
                <a16:creationId xmlns:a16="http://schemas.microsoft.com/office/drawing/2014/main" id="{EE797077-D1F9-4957-BA8E-47321AE02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00425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不影响</a:t>
            </a:r>
          </a:p>
        </p:txBody>
      </p:sp>
      <p:graphicFrame>
        <p:nvGraphicFramePr>
          <p:cNvPr id="111" name=""/>
          <p:cNvGraphicFramePr/>
          <p:nvPr/>
        </p:nvGraphicFramePr>
        <p:xfrm>
          <a:off xmlns:a="http://schemas.openxmlformats.org/drawingml/2006/main" x="723900" y="3671888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并行策略</a:t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张量并行</a:t>
                      </a:r>
                    </a:p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TP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把同一层的大矩阵拆给多张卡一起计算，再通信汇总结果，完成这一层推理。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分摊单卡权重，可支持更大模型；计算变快的收益可能被卡间通信抵消。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" name="tag-30">
            <a:extLst xmlns:a="http://schemas.openxmlformats.org/drawingml/2006/main">
              <a:ext uri="{FF2B5EF4-FFF2-40B4-BE49-F238E27FC236}">
                <a16:creationId xmlns:a16="http://schemas.microsoft.com/office/drawing/2014/main" id="{5F033CD8-49EA-4DAB-875D-58A0C5708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9513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33941"/>
          </a:solidFill>
          <a:ln xmlns:a="http://schemas.openxmlformats.org/drawingml/2006/main" w="0">
            <a:noFill/>
          </a:ln>
        </p:spPr>
      </p:sp>
      <p:sp>
        <p:nvSpPr>
          <p:cNvPr id="38" name="text-31">
            <a:extLst xmlns:a="http://schemas.openxmlformats.org/drawingml/2006/main">
              <a:ext uri="{FF2B5EF4-FFF2-40B4-BE49-F238E27FC236}">
                <a16:creationId xmlns:a16="http://schemas.microsoft.com/office/drawing/2014/main" id="{48F8B29D-D9BB-4664-AFC3-6C6523AB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9513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低时延</a:t>
            </a:r>
          </a:p>
        </p:txBody>
      </p:sp>
      <p:sp>
        <p:nvSpPr>
          <p:cNvPr id="39" name="text-32">
            <a:extLst xmlns:a="http://schemas.openxmlformats.org/drawingml/2006/main">
              <a:ext uri="{FF2B5EF4-FFF2-40B4-BE49-F238E27FC236}">
                <a16:creationId xmlns:a16="http://schemas.microsoft.com/office/drawing/2014/main" id="{F31F326D-3CC8-4088-A405-B8FEA1D9F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52863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</a:t>
            </a:r>
          </a:p>
        </p:txBody>
      </p:sp>
      <p:sp>
        <p:nvSpPr>
          <p:cNvPr id="40" name="tag-33">
            <a:extLst xmlns:a="http://schemas.openxmlformats.org/drawingml/2006/main">
              <a:ext uri="{FF2B5EF4-FFF2-40B4-BE49-F238E27FC236}">
                <a16:creationId xmlns:a16="http://schemas.microsoft.com/office/drawing/2014/main" id="{CBA1339A-0B0C-40FB-85C9-D29FB04CB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9513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62B230"/>
          </a:solidFill>
          <a:ln xmlns:a="http://schemas.openxmlformats.org/drawingml/2006/main" w="0">
            <a:noFill/>
          </a:ln>
        </p:spPr>
      </p:sp>
      <p:sp>
        <p:nvSpPr>
          <p:cNvPr id="41" name="text-34">
            <a:extLst xmlns:a="http://schemas.openxmlformats.org/drawingml/2006/main">
              <a:ext uri="{FF2B5EF4-FFF2-40B4-BE49-F238E27FC236}">
                <a16:creationId xmlns:a16="http://schemas.microsoft.com/office/drawing/2014/main" id="{F285315F-BB2C-49EA-9976-3AD00EF2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67138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降低</a:t>
            </a:r>
          </a:p>
        </p:txBody>
      </p:sp>
      <p:graphicFrame>
        <p:nvGraphicFramePr>
          <p:cNvPr id="117" name=""/>
          <p:cNvGraphicFramePr/>
          <p:nvPr/>
        </p:nvGraphicFramePr>
        <p:xfrm>
          <a:off xmlns:a="http://schemas.openxmlformats.org/drawingml/2006/main" x="723900" y="4038600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流水线并行</a:t>
                      </a:r>
                    </a:p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PP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把模型按层分成几段放到不同卡，请求依次经过各段，不同批次流水执行。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分摊单卡权重和对应层 KV；流水线有空闲间隙，单请求时延可能增加。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3" name="tag-35">
            <a:extLst xmlns:a="http://schemas.openxmlformats.org/drawingml/2006/main">
              <a:ext uri="{FF2B5EF4-FFF2-40B4-BE49-F238E27FC236}">
                <a16:creationId xmlns:a16="http://schemas.microsoft.com/office/drawing/2014/main" id="{EB10D4C6-3445-4324-9223-88328C76D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86225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30B5C5"/>
          </a:solidFill>
          <a:ln xmlns:a="http://schemas.openxmlformats.org/drawingml/2006/main" w="0">
            <a:noFill/>
          </a:ln>
        </p:spPr>
      </p:sp>
      <p:sp>
        <p:nvSpPr>
          <p:cNvPr id="44" name="text-36">
            <a:extLst xmlns:a="http://schemas.openxmlformats.org/drawingml/2006/main">
              <a:ext uri="{FF2B5EF4-FFF2-40B4-BE49-F238E27FC236}">
                <a16:creationId xmlns:a16="http://schemas.microsoft.com/office/drawing/2014/main" id="{A17485F2-19A7-4C4B-8F31-7CFF3DD4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33850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</a:t>
            </a:r>
          </a:p>
        </p:txBody>
      </p:sp>
      <p:sp>
        <p:nvSpPr>
          <p:cNvPr id="45" name="tag-37">
            <a:extLst xmlns:a="http://schemas.openxmlformats.org/drawingml/2006/main">
              <a:ext uri="{FF2B5EF4-FFF2-40B4-BE49-F238E27FC236}">
                <a16:creationId xmlns:a16="http://schemas.microsoft.com/office/drawing/2014/main" id="{58D4181B-2779-4F0D-84BA-8549472E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86225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62B230"/>
          </a:solidFill>
          <a:ln xmlns:a="http://schemas.openxmlformats.org/drawingml/2006/main" w="0">
            <a:noFill/>
          </a:ln>
        </p:spPr>
      </p:sp>
      <p:sp>
        <p:nvSpPr>
          <p:cNvPr id="46" name="text-38">
            <a:extLst xmlns:a="http://schemas.openxmlformats.org/drawingml/2006/main">
              <a:ext uri="{FF2B5EF4-FFF2-40B4-BE49-F238E27FC236}">
                <a16:creationId xmlns:a16="http://schemas.microsoft.com/office/drawing/2014/main" id="{59358536-66AB-4971-BB6E-2A43B844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33850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降低</a:t>
            </a:r>
          </a:p>
        </p:txBody>
      </p:sp>
      <p:graphicFrame>
        <p:nvGraphicFramePr>
          <p:cNvPr id="122" name=""/>
          <p:cNvGraphicFramePr/>
          <p:nvPr/>
        </p:nvGraphicFramePr>
        <p:xfrm>
          <a:off xmlns:a="http://schemas.openxmlformats.org/drawingml/2006/main" x="723900" y="4405313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数据并行</a:t>
                      </a:r>
                    </a:p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DP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部署多个模型副本，把不同用户请求分给不同副本，相当于增加服务窗口。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提高整体并发服务能力；普通多副本会增加集群总显存，不加速单请求计算。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" name="tag-39">
            <a:extLst xmlns:a="http://schemas.openxmlformats.org/drawingml/2006/main">
              <a:ext uri="{FF2B5EF4-FFF2-40B4-BE49-F238E27FC236}">
                <a16:creationId xmlns:a16="http://schemas.microsoft.com/office/drawing/2014/main" id="{1A37552D-ECD3-4DB4-B74C-230B78C6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2938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30B5C5"/>
          </a:solidFill>
          <a:ln xmlns:a="http://schemas.openxmlformats.org/drawingml/2006/main" w="0">
            <a:noFill/>
          </a:ln>
        </p:spPr>
      </p:sp>
      <p:sp>
        <p:nvSpPr>
          <p:cNvPr id="49" name="text-40">
            <a:extLst xmlns:a="http://schemas.openxmlformats.org/drawingml/2006/main">
              <a:ext uri="{FF2B5EF4-FFF2-40B4-BE49-F238E27FC236}">
                <a16:creationId xmlns:a16="http://schemas.microsoft.com/office/drawing/2014/main" id="{B892C7C9-2B87-4CDC-9731-CD44A4E5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00563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</a:t>
            </a:r>
          </a:p>
        </p:txBody>
      </p:sp>
      <p:sp>
        <p:nvSpPr>
          <p:cNvPr id="50" name="tag-41">
            <a:extLst xmlns:a="http://schemas.openxmlformats.org/drawingml/2006/main">
              <a:ext uri="{FF2B5EF4-FFF2-40B4-BE49-F238E27FC236}">
                <a16:creationId xmlns:a16="http://schemas.microsoft.com/office/drawing/2014/main" id="{0430936A-3278-412B-9B79-B3B485BC3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52938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D6D00"/>
          </a:solidFill>
          <a:ln xmlns:a="http://schemas.openxmlformats.org/drawingml/2006/main" w="0">
            <a:noFill/>
          </a:ln>
        </p:spPr>
      </p:sp>
      <p:sp>
        <p:nvSpPr>
          <p:cNvPr id="51" name="text-42">
            <a:extLst xmlns:a="http://schemas.openxmlformats.org/drawingml/2006/main">
              <a:ext uri="{FF2B5EF4-FFF2-40B4-BE49-F238E27FC236}">
                <a16:creationId xmlns:a16="http://schemas.microsoft.com/office/drawing/2014/main" id="{FA181DB2-58EB-4E30-9D99-265D7E1FE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0563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增加</a:t>
            </a:r>
          </a:p>
        </p:txBody>
      </p:sp>
      <p:graphicFrame>
        <p:nvGraphicFramePr>
          <p:cNvPr id="127" name=""/>
          <p:cNvGraphicFramePr/>
          <p:nvPr/>
        </p:nvGraphicFramePr>
        <p:xfrm>
          <a:off xmlns:a="http://schemas.openxmlformats.org/drawingml/2006/main" x="723900" y="4772025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专家并行</a:t>
                      </a:r>
                    </a:p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EP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 MoE 模型，把不同专家放到不同卡，每个 token 按路由送给选中的专家。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分摊单卡专家权重；收益受专家热度不均和跨卡数据传输影响。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3" name="tag-43">
            <a:extLst xmlns:a="http://schemas.openxmlformats.org/drawingml/2006/main">
              <a:ext uri="{FF2B5EF4-FFF2-40B4-BE49-F238E27FC236}">
                <a16:creationId xmlns:a16="http://schemas.microsoft.com/office/drawing/2014/main" id="{FACD19D2-966C-4901-95F0-B7C72F0B0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9650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30B5C5"/>
          </a:solidFill>
          <a:ln xmlns:a="http://schemas.openxmlformats.org/drawingml/2006/main" w="0">
            <a:noFill/>
          </a:ln>
        </p:spPr>
      </p:sp>
      <p:sp>
        <p:nvSpPr>
          <p:cNvPr id="54" name="text-44">
            <a:extLst xmlns:a="http://schemas.openxmlformats.org/drawingml/2006/main">
              <a:ext uri="{FF2B5EF4-FFF2-40B4-BE49-F238E27FC236}">
                <a16:creationId xmlns:a16="http://schemas.microsoft.com/office/drawing/2014/main" id="{5BEAA2D2-84BD-4E55-AB46-57A33F910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67275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</a:t>
            </a:r>
          </a:p>
        </p:txBody>
      </p:sp>
      <p:sp>
        <p:nvSpPr>
          <p:cNvPr id="55" name="tag-45">
            <a:extLst xmlns:a="http://schemas.openxmlformats.org/drawingml/2006/main">
              <a:ext uri="{FF2B5EF4-FFF2-40B4-BE49-F238E27FC236}">
                <a16:creationId xmlns:a16="http://schemas.microsoft.com/office/drawing/2014/main" id="{E2B5F94F-C1FD-427B-AF76-BEB6E9703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62B230"/>
          </a:solidFill>
          <a:ln xmlns:a="http://schemas.openxmlformats.org/drawingml/2006/main" w="0">
            <a:noFill/>
          </a:ln>
        </p:spPr>
      </p:sp>
      <p:sp>
        <p:nvSpPr>
          <p:cNvPr id="56" name="text-46">
            <a:extLst xmlns:a="http://schemas.openxmlformats.org/drawingml/2006/main">
              <a:ext uri="{FF2B5EF4-FFF2-40B4-BE49-F238E27FC236}">
                <a16:creationId xmlns:a16="http://schemas.microsoft.com/office/drawing/2014/main" id="{B3B6CA71-8C31-4E4D-AA33-C0845ADC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67275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降低</a:t>
            </a:r>
          </a:p>
        </p:txBody>
      </p:sp>
      <p:graphicFrame>
        <p:nvGraphicFramePr>
          <p:cNvPr id="132" name=""/>
          <p:cNvGraphicFramePr/>
          <p:nvPr/>
        </p:nvGraphicFramePr>
        <p:xfrm>
          <a:off xmlns:a="http://schemas.openxmlformats.org/drawingml/2006/main" x="723900" y="5138738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Prefill 上下文并行</a:t>
                      </a:r>
                    </a:p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PCP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长输入按序列拆给多张卡协同处理，缩短完整输入读完前的计算等待。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长输入更易缩短 TTFT，部分工作内存可分摊；KV 布局需结合具体实现。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8" name="tag-47">
            <a:extLst xmlns:a="http://schemas.openxmlformats.org/drawingml/2006/main">
              <a:ext uri="{FF2B5EF4-FFF2-40B4-BE49-F238E27FC236}">
                <a16:creationId xmlns:a16="http://schemas.microsoft.com/office/drawing/2014/main" id="{47A78373-43C2-4FD1-BDD9-80C89C77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86363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33941"/>
          </a:solidFill>
          <a:ln xmlns:a="http://schemas.openxmlformats.org/drawingml/2006/main" w="0">
            <a:noFill/>
          </a:ln>
        </p:spPr>
      </p:sp>
      <p:sp>
        <p:nvSpPr>
          <p:cNvPr id="59" name="text-48">
            <a:extLst xmlns:a="http://schemas.openxmlformats.org/drawingml/2006/main">
              <a:ext uri="{FF2B5EF4-FFF2-40B4-BE49-F238E27FC236}">
                <a16:creationId xmlns:a16="http://schemas.microsoft.com/office/drawing/2014/main" id="{0A94EC16-280E-442E-8807-84224BB5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3398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低时延</a:t>
            </a:r>
          </a:p>
        </p:txBody>
      </p:sp>
      <p:sp>
        <p:nvSpPr>
          <p:cNvPr id="60" name="tag-49">
            <a:extLst xmlns:a="http://schemas.openxmlformats.org/drawingml/2006/main">
              <a:ext uri="{FF2B5EF4-FFF2-40B4-BE49-F238E27FC236}">
                <a16:creationId xmlns:a16="http://schemas.microsoft.com/office/drawing/2014/main" id="{8AEA5534-EE24-440C-BD95-6BE8CA838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86363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62B230"/>
          </a:solidFill>
          <a:ln xmlns:a="http://schemas.openxmlformats.org/drawingml/2006/main" w="0">
            <a:noFill/>
          </a:ln>
        </p:spPr>
      </p:sp>
      <p:sp>
        <p:nvSpPr>
          <p:cNvPr id="61" name="text-50">
            <a:extLst xmlns:a="http://schemas.openxmlformats.org/drawingml/2006/main">
              <a:ext uri="{FF2B5EF4-FFF2-40B4-BE49-F238E27FC236}">
                <a16:creationId xmlns:a16="http://schemas.microsoft.com/office/drawing/2014/main" id="{5DF4CD4D-D555-4326-A7D4-098E3018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33988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降低</a:t>
            </a:r>
          </a:p>
        </p:txBody>
      </p:sp>
      <p:graphicFrame>
        <p:nvGraphicFramePr>
          <p:cNvPr id="137" name=""/>
          <p:cNvGraphicFramePr/>
          <p:nvPr/>
        </p:nvGraphicFramePr>
        <p:xfrm>
          <a:off xmlns:a="http://schemas.openxmlformats.org/drawingml/2006/main" x="723900" y="5505450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Decode 上下文并行</a:t>
                      </a:r>
                    </a:p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DCP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把很长的历史 KV 分到不同卡存放，生成新 token 时协同读取并完成注意力。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减少单卡 KV 和部分重复存储，支持更长上下文；需计入通信开销。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3" name="tag-51">
            <a:extLst xmlns:a="http://schemas.openxmlformats.org/drawingml/2006/main">
              <a:ext uri="{FF2B5EF4-FFF2-40B4-BE49-F238E27FC236}">
                <a16:creationId xmlns:a16="http://schemas.microsoft.com/office/drawing/2014/main" id="{535B3ECB-4536-4712-A4E4-CD1884044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53075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30B5C5"/>
          </a:solidFill>
          <a:ln xmlns:a="http://schemas.openxmlformats.org/drawingml/2006/main" w="0">
            <a:noFill/>
          </a:ln>
        </p:spPr>
      </p:sp>
      <p:sp>
        <p:nvSpPr>
          <p:cNvPr id="64" name="text-52">
            <a:extLst xmlns:a="http://schemas.openxmlformats.org/drawingml/2006/main">
              <a:ext uri="{FF2B5EF4-FFF2-40B4-BE49-F238E27FC236}">
                <a16:creationId xmlns:a16="http://schemas.microsoft.com/office/drawing/2014/main" id="{98A420A2-A54C-4F64-9D05-6ED74495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00700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</a:t>
            </a:r>
          </a:p>
        </p:txBody>
      </p:sp>
      <p:sp>
        <p:nvSpPr>
          <p:cNvPr id="65" name="tag-53">
            <a:extLst xmlns:a="http://schemas.openxmlformats.org/drawingml/2006/main">
              <a:ext uri="{FF2B5EF4-FFF2-40B4-BE49-F238E27FC236}">
                <a16:creationId xmlns:a16="http://schemas.microsoft.com/office/drawing/2014/main" id="{7EAD9B3E-4805-44A8-A902-0DC453087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53075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62B230"/>
          </a:solidFill>
          <a:ln xmlns:a="http://schemas.openxmlformats.org/drawingml/2006/main" w="0">
            <a:noFill/>
          </a:ln>
        </p:spPr>
      </p:sp>
      <p:sp>
        <p:nvSpPr>
          <p:cNvPr id="66" name="text-54">
            <a:extLst xmlns:a="http://schemas.openxmlformats.org/drawingml/2006/main">
              <a:ext uri="{FF2B5EF4-FFF2-40B4-BE49-F238E27FC236}">
                <a16:creationId xmlns:a16="http://schemas.microsoft.com/office/drawing/2014/main" id="{D6CA5BB6-AA88-4937-A004-09912F11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600700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降低</a:t>
            </a:r>
          </a:p>
        </p:txBody>
      </p:sp>
      <p:graphicFrame>
        <p:nvGraphicFramePr>
          <p:cNvPr id="142" name=""/>
          <p:cNvGraphicFramePr/>
          <p:nvPr/>
        </p:nvGraphicFramePr>
        <p:xfrm>
          <a:off xmlns:a="http://schemas.openxmlformats.org/drawingml/2006/main" x="723900" y="5872163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序列并行与融合</a:t>
                      </a:r>
                    </a:p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SP / FlashComm1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把部分中间激活按序列分摊，结合量化和通信计算融合，减少搬运与等待。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减少部分重复激活，改善通信效率；只有相应融合实现才有性能收益。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8" name="tag-55">
            <a:extLst xmlns:a="http://schemas.openxmlformats.org/drawingml/2006/main">
              <a:ext uri="{FF2B5EF4-FFF2-40B4-BE49-F238E27FC236}">
                <a16:creationId xmlns:a16="http://schemas.microsoft.com/office/drawing/2014/main" id="{4645F3C7-21A6-429B-8D48-8F4520A4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919788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33941"/>
          </a:solidFill>
          <a:ln xmlns:a="http://schemas.openxmlformats.org/drawingml/2006/main" w="0">
            <a:noFill/>
          </a:ln>
        </p:spPr>
      </p:sp>
      <p:sp>
        <p:nvSpPr>
          <p:cNvPr id="69" name="text-56">
            <a:extLst xmlns:a="http://schemas.openxmlformats.org/drawingml/2006/main">
              <a:ext uri="{FF2B5EF4-FFF2-40B4-BE49-F238E27FC236}">
                <a16:creationId xmlns:a16="http://schemas.microsoft.com/office/drawing/2014/main" id="{D6180504-6C12-492C-8264-925F3B71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91978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低时延</a:t>
            </a:r>
          </a:p>
        </p:txBody>
      </p:sp>
      <p:sp>
        <p:nvSpPr>
          <p:cNvPr id="70" name="text-57">
            <a:extLst xmlns:a="http://schemas.openxmlformats.org/drawingml/2006/main">
              <a:ext uri="{FF2B5EF4-FFF2-40B4-BE49-F238E27FC236}">
                <a16:creationId xmlns:a16="http://schemas.microsoft.com/office/drawing/2014/main" id="{C11EB23C-2BD6-45A3-8AAD-B7FE9D93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0531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</a:t>
            </a:r>
          </a:p>
        </p:txBody>
      </p:sp>
      <p:sp>
        <p:nvSpPr>
          <p:cNvPr id="71" name="tag-58">
            <a:extLst xmlns:a="http://schemas.openxmlformats.org/drawingml/2006/main">
              <a:ext uri="{FF2B5EF4-FFF2-40B4-BE49-F238E27FC236}">
                <a16:creationId xmlns:a16="http://schemas.microsoft.com/office/drawing/2014/main" id="{106F254B-8756-459C-9EF0-40677D976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919788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62B230"/>
          </a:solidFill>
          <a:ln xmlns:a="http://schemas.openxmlformats.org/drawingml/2006/main" w="0">
            <a:noFill/>
          </a:ln>
        </p:spPr>
      </p:sp>
      <p:sp>
        <p:nvSpPr>
          <p:cNvPr id="72" name="text-59">
            <a:extLst xmlns:a="http://schemas.openxmlformats.org/drawingml/2006/main">
              <a:ext uri="{FF2B5EF4-FFF2-40B4-BE49-F238E27FC236}">
                <a16:creationId xmlns:a16="http://schemas.microsoft.com/office/drawing/2014/main" id="{6CA20961-E4E3-4F16-B198-FBA936240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967413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降低</a:t>
            </a:r>
          </a:p>
        </p:txBody>
      </p:sp>
      <p:sp>
        <p:nvSpPr>
          <p:cNvPr id="73" name="text-60">
            <a:extLst xmlns:a="http://schemas.openxmlformats.org/drawingml/2006/main">
              <a:ext uri="{FF2B5EF4-FFF2-40B4-BE49-F238E27FC236}">
                <a16:creationId xmlns:a16="http://schemas.microsoft.com/office/drawing/2014/main" id="{470EEE61-4323-4462-B0AA-C2353D4D9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10744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显存口径：TP / PP / EP / PCP / DCP 看单卡，DP 看集群总量；其余看所述对象。“不影响”指无直接压缩收益。</a:t>
            </a:r>
          </a:p>
        </p:txBody>
      </p:sp>
      <p:sp>
        <p:nvSpPr>
          <p:cNvPr id="74" name="text-61">
            <a:extLst xmlns:a="http://schemas.openxmlformats.org/drawingml/2006/main">
              <a:ext uri="{FF2B5EF4-FFF2-40B4-BE49-F238E27FC236}">
                <a16:creationId xmlns:a16="http://schemas.microsoft.com/office/drawing/2014/main" id="{71AFA0A0-91D2-4C4D-B269-9B19492F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19875"/>
            <a:ext cx="10001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8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来源：rookie_tutorial/1.xlsx、课程.md、vLLM / vLLM Ascend 官方文档（详见备注）</a:t>
            </a:r>
          </a:p>
        </p:txBody>
      </p:sp>
      <p:sp>
        <p:nvSpPr>
          <p:cNvPr id="75" name="text-62">
            <a:extLst xmlns:a="http://schemas.openxmlformats.org/drawingml/2006/main">
              <a:ext uri="{FF2B5EF4-FFF2-40B4-BE49-F238E27FC236}">
                <a16:creationId xmlns:a16="http://schemas.microsoft.com/office/drawing/2014/main" id="{6A91D4BE-A08D-4AAA-B0D7-AC2D7284D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9898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98989"/>
                </a:solidFill>
                <a:latin typeface="Arial"/>
                <a:ea typeface="Arial"/>
                <a:cs typeface="Arial"/>
              </a:rPr>
              <a:t>1 / 2</a:t>
            </a:r>
          </a:p>
        </p:txBody>
      </p:sp>
    </p:spTree>
    <p:extLst>
      <p:ext uri="{BB962C8B-B14F-4D97-AF65-F5344CB8AC3E}">
        <p14:creationId xmlns:p14="http://schemas.microsoft.com/office/powerpoint/2010/main" val="1122069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3" name="text-63">
            <a:extLst xmlns:a="http://schemas.openxmlformats.org/drawingml/2006/main">
              <a:ext uri="{FF2B5EF4-FFF2-40B4-BE49-F238E27FC236}">
                <a16:creationId xmlns:a16="http://schemas.microsoft.com/office/drawing/2014/main" id="{F93E5472-F1D4-4290-87B7-702C19E6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"/>
            <a:ext cx="107442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28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执行、卸载与量化：怎样更快、装得更多？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B0D1C5-6241-40ED-8C6C-70C1B299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28700"/>
            <a:ext cx="10744200" cy="953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33941"/>
            </a:solidFill>
          </a:ln>
        </p:spPr>
      </p:sp>
      <p:sp>
        <p:nvSpPr>
          <p:cNvPr id="3" name="text-64">
            <a:extLst xmlns:a="http://schemas.openxmlformats.org/drawingml/2006/main">
              <a:ext uri="{FF2B5EF4-FFF2-40B4-BE49-F238E27FC236}">
                <a16:creationId xmlns:a16="http://schemas.microsoft.com/office/drawing/2014/main" id="{DAAB386C-D82E-4D11-9E13-CFB3090B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190625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298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98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标签表示典型方向，收益条件见最右列。“—”表示容量或适配能力，不代表直接加速。</a:t>
            </a:r>
          </a:p>
        </p:txBody>
      </p:sp>
      <p:sp>
        <p:nvSpPr>
          <p:cNvPr id="4" name="text-65">
            <a:extLst xmlns:a="http://schemas.openxmlformats.org/drawingml/2006/main">
              <a:ext uri="{FF2B5EF4-FFF2-40B4-BE49-F238E27FC236}">
                <a16:creationId xmlns:a16="http://schemas.microsoft.com/office/drawing/2014/main" id="{1FAC1A89-0803-4757-8DCE-99AF7A3B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533525"/>
            <a:ext cx="762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大类</a:t>
            </a:r>
          </a:p>
        </p:txBody>
      </p:sp>
      <p:sp>
        <p:nvSpPr>
          <p:cNvPr id="5" name="text-66">
            <a:extLst xmlns:a="http://schemas.openxmlformats.org/drawingml/2006/main">
              <a:ext uri="{FF2B5EF4-FFF2-40B4-BE49-F238E27FC236}">
                <a16:creationId xmlns:a16="http://schemas.microsoft.com/office/drawing/2014/main" id="{B7F24733-4DE7-44D9-BABA-62723C4E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1533525"/>
            <a:ext cx="1619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小类 / 特性</a:t>
            </a:r>
          </a:p>
        </p:txBody>
      </p:sp>
      <p:sp>
        <p:nvSpPr>
          <p:cNvPr id="6" name="text-67">
            <a:extLst xmlns:a="http://schemas.openxmlformats.org/drawingml/2006/main">
              <a:ext uri="{FF2B5EF4-FFF2-40B4-BE49-F238E27FC236}">
                <a16:creationId xmlns:a16="http://schemas.microsoft.com/office/drawing/2014/main" id="{F924374F-E333-4CFC-AABD-D30836F5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533525"/>
            <a:ext cx="3000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介绍：它具体做什么？</a:t>
            </a:r>
          </a:p>
        </p:txBody>
      </p:sp>
      <p:sp>
        <p:nvSpPr>
          <p:cNvPr id="7" name="text-68">
            <a:extLst xmlns:a="http://schemas.openxmlformats.org/drawingml/2006/main">
              <a:ext uri="{FF2B5EF4-FFF2-40B4-BE49-F238E27FC236}">
                <a16:creationId xmlns:a16="http://schemas.microsoft.com/office/drawing/2014/main" id="{7E47CC80-BF76-4B3B-9FA9-037B9EAE4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533525"/>
            <a:ext cx="7048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性能</a:t>
            </a:r>
          </a:p>
        </p:txBody>
      </p:sp>
      <p:sp>
        <p:nvSpPr>
          <p:cNvPr id="8" name="text-69">
            <a:extLst xmlns:a="http://schemas.openxmlformats.org/drawingml/2006/main">
              <a:ext uri="{FF2B5EF4-FFF2-40B4-BE49-F238E27FC236}">
                <a16:creationId xmlns:a16="http://schemas.microsoft.com/office/drawing/2014/main" id="{272A34EB-B158-48D4-A365-5EE69C01D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33525"/>
            <a:ext cx="69532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显存</a:t>
            </a:r>
          </a:p>
        </p:txBody>
      </p:sp>
      <p:sp>
        <p:nvSpPr>
          <p:cNvPr id="9" name="text-70">
            <a:extLst xmlns:a="http://schemas.openxmlformats.org/drawingml/2006/main">
              <a:ext uri="{FF2B5EF4-FFF2-40B4-BE49-F238E27FC236}">
                <a16:creationId xmlns:a16="http://schemas.microsoft.com/office/drawing/2014/main" id="{68EBCC39-A712-4A43-9158-2BE964D4F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1533525"/>
            <a:ext cx="33909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收益说明与适用条件</a:t>
            </a:r>
          </a:p>
        </p:txBody>
      </p:sp>
      <p:graphicFrame>
        <p:nvGraphicFramePr>
          <p:cNvPr id="82" name=""/>
          <p:cNvGraphicFramePr/>
          <p:nvPr/>
        </p:nvGraphicFramePr>
        <p:xfrm>
          <a:off xmlns:a="http://schemas.openxmlformats.org/drawingml/2006/main" x="723900" y="1838325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组图优化</a:t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图模式执行</a:t>
                      </a:r>
                    </a:p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CUDA / ACL Graph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把一串算子的执行流程提前记录，推理时直接重放，减少 CPU 逐个下发操作。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 Decode 调度开销，改善 TPOT；图执行需要额外缓冲和预热。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ag-71">
            <a:extLst xmlns:a="http://schemas.openxmlformats.org/drawingml/2006/main">
              <a:ext uri="{FF2B5EF4-FFF2-40B4-BE49-F238E27FC236}">
                <a16:creationId xmlns:a16="http://schemas.microsoft.com/office/drawing/2014/main" id="{DC80AAF3-5F6D-4E2C-87A9-CCAE9D15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85950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33941"/>
          </a:solidFill>
          <a:ln xmlns:a="http://schemas.openxmlformats.org/drawingml/2006/main" w="0">
            <a:noFill/>
          </a:ln>
        </p:spPr>
      </p:sp>
      <p:sp>
        <p:nvSpPr>
          <p:cNvPr id="12" name="text-72">
            <a:extLst xmlns:a="http://schemas.openxmlformats.org/drawingml/2006/main">
              <a:ext uri="{FF2B5EF4-FFF2-40B4-BE49-F238E27FC236}">
                <a16:creationId xmlns:a16="http://schemas.microsoft.com/office/drawing/2014/main" id="{3AFA2E20-C69B-41E4-BAF8-2A3FB34F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33575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低时延</a:t>
            </a:r>
          </a:p>
        </p:txBody>
      </p:sp>
      <p:sp>
        <p:nvSpPr>
          <p:cNvPr id="13" name="tag-73">
            <a:extLst xmlns:a="http://schemas.openxmlformats.org/drawingml/2006/main">
              <a:ext uri="{FF2B5EF4-FFF2-40B4-BE49-F238E27FC236}">
                <a16:creationId xmlns:a16="http://schemas.microsoft.com/office/drawing/2014/main" id="{3A699DC1-F583-497F-8EE8-3E440262B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85950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D6D00"/>
          </a:solidFill>
          <a:ln xmlns:a="http://schemas.openxmlformats.org/drawingml/2006/main" w="0">
            <a:noFill/>
          </a:ln>
        </p:spPr>
      </p:sp>
      <p:sp>
        <p:nvSpPr>
          <p:cNvPr id="14" name="text-74">
            <a:extLst xmlns:a="http://schemas.openxmlformats.org/drawingml/2006/main">
              <a:ext uri="{FF2B5EF4-FFF2-40B4-BE49-F238E27FC236}">
                <a16:creationId xmlns:a16="http://schemas.microsoft.com/office/drawing/2014/main" id="{D673BE8A-5A33-49EF-87A0-4A4320F6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33575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增加</a:t>
            </a:r>
          </a:p>
        </p:txBody>
      </p:sp>
      <p:graphicFrame>
        <p:nvGraphicFramePr>
          <p:cNvPr id="87" name=""/>
          <p:cNvGraphicFramePr/>
          <p:nvPr/>
        </p:nvGraphicFramePr>
        <p:xfrm>
          <a:off xmlns:a="http://schemas.openxmlformats.org/drawingml/2006/main" x="723900" y="2205038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多流计算重叠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把没有相互依赖的计算放到不同执行流，让共享专家、向量和矩阵运算重叠。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减少计算等待；同时执行可能增加中间结果峰值，也受硬件资源余量限制。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tag-75">
            <a:extLst xmlns:a="http://schemas.openxmlformats.org/drawingml/2006/main">
              <a:ext uri="{FF2B5EF4-FFF2-40B4-BE49-F238E27FC236}">
                <a16:creationId xmlns:a16="http://schemas.microsoft.com/office/drawing/2014/main" id="{964A019A-5411-41D8-9F8A-FED59F6A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52663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33941"/>
          </a:solidFill>
          <a:ln xmlns:a="http://schemas.openxmlformats.org/drawingml/2006/main" w="0">
            <a:noFill/>
          </a:ln>
        </p:spPr>
      </p:sp>
      <p:sp>
        <p:nvSpPr>
          <p:cNvPr id="17" name="text-76">
            <a:extLst xmlns:a="http://schemas.openxmlformats.org/drawingml/2006/main">
              <a:ext uri="{FF2B5EF4-FFF2-40B4-BE49-F238E27FC236}">
                <a16:creationId xmlns:a16="http://schemas.microsoft.com/office/drawing/2014/main" id="{2FB2E7BC-469B-4D12-A46E-5BA060F15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52663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低时延</a:t>
            </a:r>
          </a:p>
        </p:txBody>
      </p:sp>
      <p:sp>
        <p:nvSpPr>
          <p:cNvPr id="18" name="text-77">
            <a:extLst xmlns:a="http://schemas.openxmlformats.org/drawingml/2006/main">
              <a:ext uri="{FF2B5EF4-FFF2-40B4-BE49-F238E27FC236}">
                <a16:creationId xmlns:a16="http://schemas.microsoft.com/office/drawing/2014/main" id="{2A687AA5-9162-4821-BB91-5FF09AC8E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86013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</a:t>
            </a:r>
          </a:p>
        </p:txBody>
      </p:sp>
      <p:sp>
        <p:nvSpPr>
          <p:cNvPr id="19" name="tag-78">
            <a:extLst xmlns:a="http://schemas.openxmlformats.org/drawingml/2006/main">
              <a:ext uri="{FF2B5EF4-FFF2-40B4-BE49-F238E27FC236}">
                <a16:creationId xmlns:a16="http://schemas.microsoft.com/office/drawing/2014/main" id="{89C6F64E-706A-4B55-ABB4-6E6AB5D1D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252663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D6D00"/>
          </a:solidFill>
          <a:ln xmlns:a="http://schemas.openxmlformats.org/drawingml/2006/main" w="0">
            <a:noFill/>
          </a:ln>
        </p:spPr>
      </p:sp>
      <p:sp>
        <p:nvSpPr>
          <p:cNvPr id="20" name="text-79">
            <a:extLst xmlns:a="http://schemas.openxmlformats.org/drawingml/2006/main">
              <a:ext uri="{FF2B5EF4-FFF2-40B4-BE49-F238E27FC236}">
                <a16:creationId xmlns:a16="http://schemas.microsoft.com/office/drawing/2014/main" id="{225F828A-F646-40DE-88CD-89185FAD8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00288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增加</a:t>
            </a:r>
          </a:p>
        </p:txBody>
      </p:sp>
      <p:graphicFrame>
        <p:nvGraphicFramePr>
          <p:cNvPr id="93" name=""/>
          <p:cNvGraphicFramePr/>
          <p:nvPr/>
        </p:nvGraphicFramePr>
        <p:xfrm>
          <a:off xmlns:a="http://schemas.openxmlformats.org/drawingml/2006/main" x="723900" y="2571750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专家负载均衡</a:t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 / 动态 EPLB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静态按预先统计布置专家；动态持续观察专家热度，并周期性调整专家分布。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缓解所有卡等待热点专家的问题；采用冗余专家时增加权重，迁移也有开销。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ag-80">
            <a:extLst xmlns:a="http://schemas.openxmlformats.org/drawingml/2006/main">
              <a:ext uri="{FF2B5EF4-FFF2-40B4-BE49-F238E27FC236}">
                <a16:creationId xmlns:a16="http://schemas.microsoft.com/office/drawing/2014/main" id="{12CE22DF-63C4-481E-9D47-0A036E2E8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19375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33941"/>
          </a:solidFill>
          <a:ln xmlns:a="http://schemas.openxmlformats.org/drawingml/2006/main" w="0">
            <a:noFill/>
          </a:ln>
        </p:spPr>
      </p:sp>
      <p:sp>
        <p:nvSpPr>
          <p:cNvPr id="23" name="text-81">
            <a:extLst xmlns:a="http://schemas.openxmlformats.org/drawingml/2006/main">
              <a:ext uri="{FF2B5EF4-FFF2-40B4-BE49-F238E27FC236}">
                <a16:creationId xmlns:a16="http://schemas.microsoft.com/office/drawing/2014/main" id="{8878D37C-E40E-4661-9B58-E0825CAB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19375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低时延</a:t>
            </a:r>
          </a:p>
        </p:txBody>
      </p:sp>
      <p:sp>
        <p:nvSpPr>
          <p:cNvPr id="24" name="text-82">
            <a:extLst xmlns:a="http://schemas.openxmlformats.org/drawingml/2006/main">
              <a:ext uri="{FF2B5EF4-FFF2-40B4-BE49-F238E27FC236}">
                <a16:creationId xmlns:a16="http://schemas.microsoft.com/office/drawing/2014/main" id="{EA6FC2EE-FB81-4455-AA5F-46090BC6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52725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</a:t>
            </a:r>
          </a:p>
        </p:txBody>
      </p:sp>
      <p:sp>
        <p:nvSpPr>
          <p:cNvPr id="25" name="tag-83">
            <a:extLst xmlns:a="http://schemas.openxmlformats.org/drawingml/2006/main">
              <a:ext uri="{FF2B5EF4-FFF2-40B4-BE49-F238E27FC236}">
                <a16:creationId xmlns:a16="http://schemas.microsoft.com/office/drawing/2014/main" id="{926A485A-F79A-45B9-AAE2-E761AC13E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19375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D6D00"/>
          </a:solidFill>
          <a:ln xmlns:a="http://schemas.openxmlformats.org/drawingml/2006/main" w="0">
            <a:noFill/>
          </a:ln>
        </p:spPr>
      </p:sp>
      <p:sp>
        <p:nvSpPr>
          <p:cNvPr id="26" name="text-84">
            <a:extLst xmlns:a="http://schemas.openxmlformats.org/drawingml/2006/main">
              <a:ext uri="{FF2B5EF4-FFF2-40B4-BE49-F238E27FC236}">
                <a16:creationId xmlns:a16="http://schemas.microsoft.com/office/drawing/2014/main" id="{2F24501B-F3F4-4166-A23D-DE471171B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667000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增加</a:t>
            </a:r>
          </a:p>
        </p:txBody>
      </p:sp>
      <p:graphicFrame>
        <p:nvGraphicFramePr>
          <p:cNvPr id="99" name=""/>
          <p:cNvGraphicFramePr/>
          <p:nvPr/>
        </p:nvGraphicFramePr>
        <p:xfrm>
          <a:off xmlns:a="http://schemas.openxmlformats.org/drawingml/2006/main" x="723900" y="2938463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卸载优化</a:t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Offloading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暂时不用的 KV 搬到主机等缓存层，需要时取回，给正在运行的请求腾空间。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扩展可容纳的上下文与请求；命中比重算可能更快，但比设备驻留多搬运。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" name="tag-85">
            <a:extLst xmlns:a="http://schemas.openxmlformats.org/drawingml/2006/main">
              <a:ext uri="{FF2B5EF4-FFF2-40B4-BE49-F238E27FC236}">
                <a16:creationId xmlns:a16="http://schemas.microsoft.com/office/drawing/2014/main" id="{EFFC0698-A320-4E1E-994D-D147BF5AF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86088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</a:ln>
        </p:spPr>
      </p:sp>
      <p:sp>
        <p:nvSpPr>
          <p:cNvPr id="29" name="text-86">
            <a:extLst xmlns:a="http://schemas.openxmlformats.org/drawingml/2006/main">
              <a:ext uri="{FF2B5EF4-FFF2-40B4-BE49-F238E27FC236}">
                <a16:creationId xmlns:a16="http://schemas.microsoft.com/office/drawing/2014/main" id="{50AEAE7B-1A37-41C0-A99D-BD464DD7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33713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30" name="tag-87">
            <a:extLst xmlns:a="http://schemas.openxmlformats.org/drawingml/2006/main">
              <a:ext uri="{FF2B5EF4-FFF2-40B4-BE49-F238E27FC236}">
                <a16:creationId xmlns:a16="http://schemas.microsoft.com/office/drawing/2014/main" id="{5EEB84AD-3E87-4094-9B5A-8CCD9A89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86088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62B230"/>
          </a:solidFill>
          <a:ln xmlns:a="http://schemas.openxmlformats.org/drawingml/2006/main" w="0">
            <a:noFill/>
          </a:ln>
        </p:spPr>
      </p:sp>
      <p:sp>
        <p:nvSpPr>
          <p:cNvPr id="31" name="text-88">
            <a:extLst xmlns:a="http://schemas.openxmlformats.org/drawingml/2006/main">
              <a:ext uri="{FF2B5EF4-FFF2-40B4-BE49-F238E27FC236}">
                <a16:creationId xmlns:a16="http://schemas.microsoft.com/office/drawing/2014/main" id="{5F4F938C-982B-409C-8C8B-B2B6E921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033713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降低</a:t>
            </a:r>
          </a:p>
        </p:txBody>
      </p:sp>
      <p:graphicFrame>
        <p:nvGraphicFramePr>
          <p:cNvPr id="104" name=""/>
          <p:cNvGraphicFramePr/>
          <p:nvPr/>
        </p:nvGraphicFramePr>
        <p:xfrm>
          <a:off xmlns:a="http://schemas.openxmlformats.org/drawingml/2006/main" x="723900" y="3305175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Weight Offloading</a:t>
                      </a:r>
                    </a:p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专家权重卸载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将专家权重保存在主机内存，推理时根据需要加载到设备，再执行专家计算。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让设备能承载更大模型；主机内存需求增加，频繁加载可能降低吞吐。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3" name="tag-89">
            <a:extLst xmlns:a="http://schemas.openxmlformats.org/drawingml/2006/main">
              <a:ext uri="{FF2B5EF4-FFF2-40B4-BE49-F238E27FC236}">
                <a16:creationId xmlns:a16="http://schemas.microsoft.com/office/drawing/2014/main" id="{1C7940B2-7969-4823-BB1D-77369A78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</a:ln>
        </p:spPr>
      </p:sp>
      <p:sp>
        <p:nvSpPr>
          <p:cNvPr id="34" name="text-90">
            <a:extLst xmlns:a="http://schemas.openxmlformats.org/drawingml/2006/main">
              <a:ext uri="{FF2B5EF4-FFF2-40B4-BE49-F238E27FC236}">
                <a16:creationId xmlns:a16="http://schemas.microsoft.com/office/drawing/2014/main" id="{B9466AF8-20E7-49EF-A1B2-F397BC97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00425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35" name="tag-91">
            <a:extLst xmlns:a="http://schemas.openxmlformats.org/drawingml/2006/main">
              <a:ext uri="{FF2B5EF4-FFF2-40B4-BE49-F238E27FC236}">
                <a16:creationId xmlns:a16="http://schemas.microsoft.com/office/drawing/2014/main" id="{71F52691-054E-4B6C-AF2A-A821A6A25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62B230"/>
          </a:solidFill>
          <a:ln xmlns:a="http://schemas.openxmlformats.org/drawingml/2006/main" w="0">
            <a:noFill/>
          </a:ln>
        </p:spPr>
      </p:sp>
      <p:sp>
        <p:nvSpPr>
          <p:cNvPr id="36" name="text-92">
            <a:extLst xmlns:a="http://schemas.openxmlformats.org/drawingml/2006/main">
              <a:ext uri="{FF2B5EF4-FFF2-40B4-BE49-F238E27FC236}">
                <a16:creationId xmlns:a16="http://schemas.microsoft.com/office/drawing/2014/main" id="{02DAB826-4672-4704-8848-71D23726A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00425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降低</a:t>
            </a:r>
          </a:p>
        </p:txBody>
      </p:sp>
      <p:graphicFrame>
        <p:nvGraphicFramePr>
          <p:cNvPr id="109" name=""/>
          <p:cNvGraphicFramePr/>
          <p:nvPr/>
        </p:nvGraphicFramePr>
        <p:xfrm>
          <a:off xmlns:a="http://schemas.openxmlformats.org/drawingml/2006/main" x="723900" y="3671888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量化</a:t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权重 / 激活量化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用较少的比特保存权重，部分方案也降低激活精度，再用匹配的低精度算子计算。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减少权重内存与数据搬运；加速依赖硬件和算子，需要验证回答质量。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8" name="tag-93">
            <a:extLst xmlns:a="http://schemas.openxmlformats.org/drawingml/2006/main">
              <a:ext uri="{FF2B5EF4-FFF2-40B4-BE49-F238E27FC236}">
                <a16:creationId xmlns:a16="http://schemas.microsoft.com/office/drawing/2014/main" id="{98E78153-BBD8-4CCC-AD03-4BC0BD7FE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719513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33941"/>
          </a:solidFill>
          <a:ln xmlns:a="http://schemas.openxmlformats.org/drawingml/2006/main" w="0">
            <a:noFill/>
          </a:ln>
        </p:spPr>
      </p:sp>
      <p:sp>
        <p:nvSpPr>
          <p:cNvPr id="39" name="text-94">
            <a:extLst xmlns:a="http://schemas.openxmlformats.org/drawingml/2006/main">
              <a:ext uri="{FF2B5EF4-FFF2-40B4-BE49-F238E27FC236}">
                <a16:creationId xmlns:a16="http://schemas.microsoft.com/office/drawing/2014/main" id="{197F690A-9B19-46CA-9B5A-DDB5D5ADA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19513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低时延</a:t>
            </a:r>
          </a:p>
        </p:txBody>
      </p:sp>
      <p:sp>
        <p:nvSpPr>
          <p:cNvPr id="40" name="text-95">
            <a:extLst xmlns:a="http://schemas.openxmlformats.org/drawingml/2006/main">
              <a:ext uri="{FF2B5EF4-FFF2-40B4-BE49-F238E27FC236}">
                <a16:creationId xmlns:a16="http://schemas.microsoft.com/office/drawing/2014/main" id="{D7CD4F26-6DC3-43CE-916E-2CED47CE9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52863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</a:t>
            </a:r>
          </a:p>
        </p:txBody>
      </p:sp>
      <p:sp>
        <p:nvSpPr>
          <p:cNvPr id="41" name="tag-96">
            <a:extLst xmlns:a="http://schemas.openxmlformats.org/drawingml/2006/main">
              <a:ext uri="{FF2B5EF4-FFF2-40B4-BE49-F238E27FC236}">
                <a16:creationId xmlns:a16="http://schemas.microsoft.com/office/drawing/2014/main" id="{638AC5D2-451D-4E02-BD46-7182939E3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719513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62B230"/>
          </a:solidFill>
          <a:ln xmlns:a="http://schemas.openxmlformats.org/drawingml/2006/main" w="0">
            <a:noFill/>
          </a:ln>
        </p:spPr>
      </p:sp>
      <p:sp>
        <p:nvSpPr>
          <p:cNvPr id="42" name="text-97">
            <a:extLst xmlns:a="http://schemas.openxmlformats.org/drawingml/2006/main">
              <a:ext uri="{FF2B5EF4-FFF2-40B4-BE49-F238E27FC236}">
                <a16:creationId xmlns:a16="http://schemas.microsoft.com/office/drawing/2014/main" id="{1EDCB719-7258-4ABD-8F2A-B54B0DD73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767138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降低</a:t>
            </a:r>
          </a:p>
        </p:txBody>
      </p:sp>
      <p:graphicFrame>
        <p:nvGraphicFramePr>
          <p:cNvPr id="115" name=""/>
          <p:cNvGraphicFramePr/>
          <p:nvPr/>
        </p:nvGraphicFramePr>
        <p:xfrm>
          <a:off xmlns:a="http://schemas.openxmlformats.org/drawingml/2006/main" x="723900" y="4038600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KV Cache 量化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把历史 token 的 Key 和 Value 用更低精度保存，让相同显存能容纳更多历史。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直接减少 KV 占用，支持更多并发或更长上下文；需验证精度及转换开销。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tag-98">
            <a:extLst xmlns:a="http://schemas.openxmlformats.org/drawingml/2006/main">
              <a:ext uri="{FF2B5EF4-FFF2-40B4-BE49-F238E27FC236}">
                <a16:creationId xmlns:a16="http://schemas.microsoft.com/office/drawing/2014/main" id="{87532810-ADC2-44D8-9FF7-E27421CB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86225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30B5C5"/>
          </a:solidFill>
          <a:ln xmlns:a="http://schemas.openxmlformats.org/drawingml/2006/main" w="0">
            <a:noFill/>
          </a:ln>
        </p:spPr>
      </p:sp>
      <p:sp>
        <p:nvSpPr>
          <p:cNvPr id="45" name="text-99">
            <a:extLst xmlns:a="http://schemas.openxmlformats.org/drawingml/2006/main">
              <a:ext uri="{FF2B5EF4-FFF2-40B4-BE49-F238E27FC236}">
                <a16:creationId xmlns:a16="http://schemas.microsoft.com/office/drawing/2014/main" id="{D8F593EF-49F9-4629-94D3-CB548598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133850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</a:t>
            </a:r>
          </a:p>
        </p:txBody>
      </p:sp>
      <p:sp>
        <p:nvSpPr>
          <p:cNvPr id="46" name="tag-100">
            <a:extLst xmlns:a="http://schemas.openxmlformats.org/drawingml/2006/main">
              <a:ext uri="{FF2B5EF4-FFF2-40B4-BE49-F238E27FC236}">
                <a16:creationId xmlns:a16="http://schemas.microsoft.com/office/drawing/2014/main" id="{3A6B2664-5AC2-46A6-A8A8-FDC61144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86225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62B230"/>
          </a:solidFill>
          <a:ln xmlns:a="http://schemas.openxmlformats.org/drawingml/2006/main" w="0">
            <a:noFill/>
          </a:ln>
        </p:spPr>
      </p:sp>
      <p:sp>
        <p:nvSpPr>
          <p:cNvPr id="47" name="text-101">
            <a:extLst xmlns:a="http://schemas.openxmlformats.org/drawingml/2006/main">
              <a:ext uri="{FF2B5EF4-FFF2-40B4-BE49-F238E27FC236}">
                <a16:creationId xmlns:a16="http://schemas.microsoft.com/office/drawing/2014/main" id="{39FA2B96-B531-46CF-BE6F-2E0535D3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33850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降低</a:t>
            </a:r>
          </a:p>
        </p:txBody>
      </p:sp>
      <p:graphicFrame>
        <p:nvGraphicFramePr>
          <p:cNvPr id="120" name=""/>
          <p:cNvGraphicFramePr/>
          <p:nvPr/>
        </p:nvGraphicFramePr>
        <p:xfrm>
          <a:off xmlns:a="http://schemas.openxmlformats.org/drawingml/2006/main" x="723900" y="4405313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低精度通信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卡间传递 Attention 或 MoE 数据时降低传输精度，接收端按需要恢复或继续计算。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减少通信字节数和耗时；不直接压缩权重或 KV，缓冲大小依实现而定。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tag-102">
            <a:extLst xmlns:a="http://schemas.openxmlformats.org/drawingml/2006/main">
              <a:ext uri="{FF2B5EF4-FFF2-40B4-BE49-F238E27FC236}">
                <a16:creationId xmlns:a16="http://schemas.microsoft.com/office/drawing/2014/main" id="{3B1AD721-7BF6-49DB-AA2D-348D588AB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52938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33941"/>
          </a:solidFill>
          <a:ln xmlns:a="http://schemas.openxmlformats.org/drawingml/2006/main" w="0">
            <a:noFill/>
          </a:ln>
        </p:spPr>
      </p:sp>
      <p:sp>
        <p:nvSpPr>
          <p:cNvPr id="50" name="text-103">
            <a:extLst xmlns:a="http://schemas.openxmlformats.org/drawingml/2006/main">
              <a:ext uri="{FF2B5EF4-FFF2-40B4-BE49-F238E27FC236}">
                <a16:creationId xmlns:a16="http://schemas.microsoft.com/office/drawing/2014/main" id="{32234A24-306A-49A8-BBB7-09B404C5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5293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低时延</a:t>
            </a:r>
          </a:p>
        </p:txBody>
      </p:sp>
      <p:sp>
        <p:nvSpPr>
          <p:cNvPr id="51" name="text-104">
            <a:extLst xmlns:a="http://schemas.openxmlformats.org/drawingml/2006/main">
              <a:ext uri="{FF2B5EF4-FFF2-40B4-BE49-F238E27FC236}">
                <a16:creationId xmlns:a16="http://schemas.microsoft.com/office/drawing/2014/main" id="{9B8B57CA-329F-46CF-828B-EF2A9D6EB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8628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</a:t>
            </a:r>
          </a:p>
        </p:txBody>
      </p:sp>
      <p:sp>
        <p:nvSpPr>
          <p:cNvPr id="52" name="tag-105">
            <a:extLst xmlns:a="http://schemas.openxmlformats.org/drawingml/2006/main">
              <a:ext uri="{FF2B5EF4-FFF2-40B4-BE49-F238E27FC236}">
                <a16:creationId xmlns:a16="http://schemas.microsoft.com/office/drawing/2014/main" id="{2ED525E4-EC3B-4BF2-B306-F0F0A5FB0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52938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</a:ln>
        </p:spPr>
      </p:sp>
      <p:sp>
        <p:nvSpPr>
          <p:cNvPr id="53" name="text-106">
            <a:extLst xmlns:a="http://schemas.openxmlformats.org/drawingml/2006/main">
              <a:ext uri="{FF2B5EF4-FFF2-40B4-BE49-F238E27FC236}">
                <a16:creationId xmlns:a16="http://schemas.microsoft.com/office/drawing/2014/main" id="{33372A98-0644-4548-99C3-C8EEA683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0563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不影响</a:t>
            </a:r>
          </a:p>
        </p:txBody>
      </p:sp>
      <p:graphicFrame>
        <p:nvGraphicFramePr>
          <p:cNvPr id="126" name=""/>
          <p:cNvGraphicFramePr/>
          <p:nvPr/>
        </p:nvGraphicFramePr>
        <p:xfrm>
          <a:off xmlns:a="http://schemas.openxmlformats.org/drawingml/2006/main" x="723900" y="4772025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投机解码</a:t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MTP / EAGLE3</a:t>
                      </a:r>
                    </a:p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DSpark / DFlash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先用草稿方法提出多个候选 token，再由目标模型验证，一轮可接受多个 token。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接受率高时降低 TPOT；草稿与验证有额外成本，高负载下不保证吞吐更高。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tag-107">
            <a:extLst xmlns:a="http://schemas.openxmlformats.org/drawingml/2006/main">
              <a:ext uri="{FF2B5EF4-FFF2-40B4-BE49-F238E27FC236}">
                <a16:creationId xmlns:a16="http://schemas.microsoft.com/office/drawing/2014/main" id="{754C9C2C-102E-4690-BACC-EA7989E4B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9650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33941"/>
          </a:solidFill>
          <a:ln xmlns:a="http://schemas.openxmlformats.org/drawingml/2006/main" w="0">
            <a:noFill/>
          </a:ln>
        </p:spPr>
      </p:sp>
      <p:sp>
        <p:nvSpPr>
          <p:cNvPr id="56" name="text-108">
            <a:extLst xmlns:a="http://schemas.openxmlformats.org/drawingml/2006/main">
              <a:ext uri="{FF2B5EF4-FFF2-40B4-BE49-F238E27FC236}">
                <a16:creationId xmlns:a16="http://schemas.microsoft.com/office/drawing/2014/main" id="{F6157197-FA36-486D-A290-E3E296A4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67275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低时延</a:t>
            </a:r>
          </a:p>
        </p:txBody>
      </p:sp>
      <p:sp>
        <p:nvSpPr>
          <p:cNvPr id="57" name="tag-109">
            <a:extLst xmlns:a="http://schemas.openxmlformats.org/drawingml/2006/main">
              <a:ext uri="{FF2B5EF4-FFF2-40B4-BE49-F238E27FC236}">
                <a16:creationId xmlns:a16="http://schemas.microsoft.com/office/drawing/2014/main" id="{EBD655B2-DF9C-48EE-91A5-922CA4379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ED6D00"/>
          </a:solidFill>
          <a:ln xmlns:a="http://schemas.openxmlformats.org/drawingml/2006/main" w="0">
            <a:noFill/>
          </a:ln>
        </p:spPr>
      </p:sp>
      <p:sp>
        <p:nvSpPr>
          <p:cNvPr id="58" name="text-110">
            <a:extLst xmlns:a="http://schemas.openxmlformats.org/drawingml/2006/main">
              <a:ext uri="{FF2B5EF4-FFF2-40B4-BE49-F238E27FC236}">
                <a16:creationId xmlns:a16="http://schemas.microsoft.com/office/drawing/2014/main" id="{9AC1B2A3-F214-46FB-90E9-E54F75EB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67275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增加</a:t>
            </a:r>
          </a:p>
        </p:txBody>
      </p:sp>
      <p:graphicFrame>
        <p:nvGraphicFramePr>
          <p:cNvPr id="131" name=""/>
          <p:cNvGraphicFramePr/>
          <p:nvPr/>
        </p:nvGraphicFramePr>
        <p:xfrm>
          <a:off xmlns:a="http://schemas.openxmlformats.org/drawingml/2006/main" x="723900" y="5138738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服务化 / PD</a:t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Prefill / Decode 分离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一组实例负责读输入，另一组负责生成 token，中间传递 KV，两阶段独立配资源。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便于分别优化 TTFT 与尾 ITL；本身不压缩内存，也不保证吞吐提升。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" name="tag-111">
            <a:extLst xmlns:a="http://schemas.openxmlformats.org/drawingml/2006/main">
              <a:ext uri="{FF2B5EF4-FFF2-40B4-BE49-F238E27FC236}">
                <a16:creationId xmlns:a16="http://schemas.microsoft.com/office/drawing/2014/main" id="{3F879DE4-0D39-4396-A51D-B9AA9F32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86363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33941"/>
          </a:solidFill>
          <a:ln xmlns:a="http://schemas.openxmlformats.org/drawingml/2006/main" w="0">
            <a:noFill/>
          </a:ln>
        </p:spPr>
      </p:sp>
      <p:sp>
        <p:nvSpPr>
          <p:cNvPr id="61" name="text-112">
            <a:extLst xmlns:a="http://schemas.openxmlformats.org/drawingml/2006/main">
              <a:ext uri="{FF2B5EF4-FFF2-40B4-BE49-F238E27FC236}">
                <a16:creationId xmlns:a16="http://schemas.microsoft.com/office/drawing/2014/main" id="{7A513C15-0DD7-4640-BB83-444F90BF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233988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低时延</a:t>
            </a:r>
          </a:p>
        </p:txBody>
      </p:sp>
      <p:sp>
        <p:nvSpPr>
          <p:cNvPr id="62" name="tag-113">
            <a:extLst xmlns:a="http://schemas.openxmlformats.org/drawingml/2006/main">
              <a:ext uri="{FF2B5EF4-FFF2-40B4-BE49-F238E27FC236}">
                <a16:creationId xmlns:a16="http://schemas.microsoft.com/office/drawing/2014/main" id="{E041B481-2022-4C68-8F66-3B72D3AAD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186363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</a:ln>
        </p:spPr>
      </p:sp>
      <p:sp>
        <p:nvSpPr>
          <p:cNvPr id="63" name="text-114">
            <a:extLst xmlns:a="http://schemas.openxmlformats.org/drawingml/2006/main">
              <a:ext uri="{FF2B5EF4-FFF2-40B4-BE49-F238E27FC236}">
                <a16:creationId xmlns:a16="http://schemas.microsoft.com/office/drawing/2014/main" id="{2D38683B-6174-49D4-B1D8-5193ABD0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233988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不影响</a:t>
            </a:r>
          </a:p>
        </p:txBody>
      </p:sp>
      <p:graphicFrame>
        <p:nvGraphicFramePr>
          <p:cNvPr id="136" name=""/>
          <p:cNvGraphicFramePr/>
          <p:nvPr/>
        </p:nvGraphicFramePr>
        <p:xfrm>
          <a:off xmlns:a="http://schemas.openxmlformats.org/drawingml/2006/main" x="723900" y="5505450"/>
          <a:ext xmlns:a="http://schemas.openxmlformats.org/drawingml/2006/main" cx="10744200" cy="366713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857250"/>
                <a:gridCol w="1714500"/>
                <a:gridCol w="3095625"/>
                <a:gridCol w="800100"/>
                <a:gridCol w="790575"/>
                <a:gridCol w="3486150"/>
              </a:tblGrid>
              <a:tr h="366713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D33941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L w="5715">
                      <a:solidFill>
                        <a:srgbClr val="DDDDDD"/>
                      </a:solidFill>
                    </a:lnL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请求级负载均衡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入口根据排队长度、请求长度及 KV 余量，把请求分到较合适的 P / D 实例。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/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55575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减少部分实例过载造成的排队，提升整体利用率；不减少单请求所需 KV。</a:t>
                      </a:r>
                    </a:p>
                  </a:txBody>
                  <a:tcPr marL="47625" marR="47625" marT="38100" marB="9525">
                    <a:lnR w="5715">
                      <a:solidFill>
                        <a:srgbClr val="DDDDDD"/>
                      </a:solidFill>
                    </a:lnR>
                    <a:lnT w="5715">
                      <a:solidFill>
                        <a:srgbClr val="DDDDDD"/>
                      </a:solidFill>
                    </a:lnT>
                    <a:lnB w="5715">
                      <a:solidFill>
                        <a:srgbClr val="DDDD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5" name="tag-115">
            <a:extLst xmlns:a="http://schemas.openxmlformats.org/drawingml/2006/main">
              <a:ext uri="{FF2B5EF4-FFF2-40B4-BE49-F238E27FC236}">
                <a16:creationId xmlns:a16="http://schemas.microsoft.com/office/drawing/2014/main" id="{612B971A-5E2F-4E6F-B362-183286597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553075"/>
            <a:ext cx="704850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33941"/>
          </a:solidFill>
          <a:ln xmlns:a="http://schemas.openxmlformats.org/drawingml/2006/main" w="0">
            <a:noFill/>
          </a:ln>
        </p:spPr>
      </p:sp>
      <p:sp>
        <p:nvSpPr>
          <p:cNvPr id="66" name="text-116">
            <a:extLst xmlns:a="http://schemas.openxmlformats.org/drawingml/2006/main">
              <a:ext uri="{FF2B5EF4-FFF2-40B4-BE49-F238E27FC236}">
                <a16:creationId xmlns:a16="http://schemas.microsoft.com/office/drawing/2014/main" id="{86F6B5F6-672B-4052-837F-3A494EB6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553075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低时延</a:t>
            </a:r>
          </a:p>
        </p:txBody>
      </p:sp>
      <p:sp>
        <p:nvSpPr>
          <p:cNvPr id="67" name="text-117">
            <a:extLst xmlns:a="http://schemas.openxmlformats.org/drawingml/2006/main">
              <a:ext uri="{FF2B5EF4-FFF2-40B4-BE49-F238E27FC236}">
                <a16:creationId xmlns:a16="http://schemas.microsoft.com/office/drawing/2014/main" id="{40FDB702-0DE0-44DD-B9E8-1F00C23A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686425"/>
            <a:ext cx="6667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高吞吐</a:t>
            </a:r>
          </a:p>
        </p:txBody>
      </p:sp>
      <p:sp>
        <p:nvSpPr>
          <p:cNvPr id="68" name="tag-118">
            <a:extLst xmlns:a="http://schemas.openxmlformats.org/drawingml/2006/main">
              <a:ext uri="{FF2B5EF4-FFF2-40B4-BE49-F238E27FC236}">
                <a16:creationId xmlns:a16="http://schemas.microsoft.com/office/drawing/2014/main" id="{287E0A8F-512A-4DF3-9CF8-D777E8B9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553075"/>
            <a:ext cx="695325" cy="2667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898989"/>
          </a:solidFill>
          <a:ln xmlns:a="http://schemas.openxmlformats.org/drawingml/2006/main" w="0">
            <a:noFill/>
          </a:ln>
        </p:spPr>
      </p:sp>
      <p:sp>
        <p:nvSpPr>
          <p:cNvPr id="69" name="text-119">
            <a:extLst xmlns:a="http://schemas.openxmlformats.org/drawingml/2006/main">
              <a:ext uri="{FF2B5EF4-FFF2-40B4-BE49-F238E27FC236}">
                <a16:creationId xmlns:a16="http://schemas.microsoft.com/office/drawing/2014/main" id="{EA92DA4F-8AFC-4AA7-B802-0FB04FA40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600700"/>
            <a:ext cx="6572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不影响</a:t>
            </a:r>
          </a:p>
        </p:txBody>
      </p:sp>
      <p:sp>
        <p:nvSpPr>
          <p:cNvPr id="70" name="text-120">
            <a:extLst xmlns:a="http://schemas.openxmlformats.org/drawingml/2006/main">
              <a:ext uri="{FF2B5EF4-FFF2-40B4-BE49-F238E27FC236}">
                <a16:creationId xmlns:a16="http://schemas.microsoft.com/office/drawing/2014/main" id="{400D251D-9770-4CF5-B91E-6A908543E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324600"/>
            <a:ext cx="107442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“增加 / 降低”表示常见配置下的变化，非所有实现的保证。投机方法、量化精度及特性组合需按版本与模型确认。</a:t>
            </a:r>
          </a:p>
        </p:txBody>
      </p:sp>
      <p:sp>
        <p:nvSpPr>
          <p:cNvPr id="71" name="text-121">
            <a:extLst xmlns:a="http://schemas.openxmlformats.org/drawingml/2006/main">
              <a:ext uri="{FF2B5EF4-FFF2-40B4-BE49-F238E27FC236}">
                <a16:creationId xmlns:a16="http://schemas.microsoft.com/office/drawing/2014/main" id="{19B32E6C-4837-42F4-B120-4692B257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619875"/>
            <a:ext cx="100012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8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来源：rookie_tutorial/1.xlsx、课程.md、vLLM / vLLM Ascend 官方文档（详见备注）</a:t>
            </a:r>
          </a:p>
        </p:txBody>
      </p:sp>
      <p:sp>
        <p:nvSpPr>
          <p:cNvPr id="72" name="text-122">
            <a:extLst xmlns:a="http://schemas.openxmlformats.org/drawingml/2006/main">
              <a:ext uri="{FF2B5EF4-FFF2-40B4-BE49-F238E27FC236}">
                <a16:creationId xmlns:a16="http://schemas.microsoft.com/office/drawing/2014/main" id="{2AD22944-01E3-4099-90B5-B9313562B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91300"/>
            <a:ext cx="523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898989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898989"/>
                </a:solidFill>
                <a:latin typeface="Arial"/>
                <a:ea typeface="Arial"/>
                <a:cs typeface="Arial"/>
              </a:rPr>
              <a:t>2 / 2</a:t>
            </a:r>
          </a:p>
        </p:txBody>
      </p:sp>
    </p:spTree>
    <p:extLst>
      <p:ext uri="{BB962C8B-B14F-4D97-AF65-F5344CB8AC3E}">
        <p14:creationId xmlns:p14="http://schemas.microsoft.com/office/powerpoint/2010/main" val="5745808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2026-09-15T14:45:19.1350000Z</dcterms:created>
  <dcterms:modified xsi:type="dcterms:W3CDTF">2026-09-15T14:45:19.1350000Z</dcterms:modified>
</coreProperties>
</file>